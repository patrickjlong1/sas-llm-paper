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31"/>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52FF76-1B56-413B-AFC1-32423891A3E1}" v="1" dt="2026-10-20T13:35:34.842"/>
  </p1510:revLst>
</p1510:revInfo>
</file>

<file path=ppt/tableStyles.xml><?xml version="1.0" encoding="utf-8"?>
<a:tblStyleLst xmlns:a="http://schemas.openxmlformats.org/drawingml/2006/main" def="{E3FAFB85-15B4-4D02-8765-A39C6FE7A2AA}">
  <a:tblStyle styleId="{E3FAFB85-15B4-4D02-8765-A39C6FE7A2A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2402" autoAdjust="0"/>
  </p:normalViewPr>
  <p:slideViewPr>
    <p:cSldViewPr snapToGrid="0">
      <p:cViewPr varScale="1">
        <p:scale>
          <a:sx n="80" d="100"/>
          <a:sy n="80" d="100"/>
        </p:scale>
        <p:origin x="251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 name="Google Shape;2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0:00–1:00] Good afternoon, everyone. I'm Patrick Long, and my co-author is Brandon Harris. We're both in the Office of Employment and Unemployment Statistics at the Bureau of Labor Statistics, and today we're talking about a problem I suspect a lot of you have in your own shops: production SAS code that still runs perfectly, but that nobody fully understands anymore.</a:t>
            </a:r>
          </a:p>
          <a:p>
            <a:endParaRPr/>
          </a:p>
          <a:p>
            <a:r>
              <a:t>The title is "Reviving Institutional Knowledge," and the subtitle says what we actually did. We used large language models to generate documentation for legacy SAS production code. Not to rewrite it, not to migrate it, just to explain it, in a form that a human can check.</a:t>
            </a:r>
          </a:p>
          <a:p>
            <a:endParaRPr/>
          </a:p>
          <a:p>
            <a:r>
              <a:t>Over the next forty minutes I'll show you three ways to do that, from a small model running on a CPU to a frontier model with tools. I'll show you how they did on a test set we built, and I'll be honest about where each one falls short.</a:t>
            </a:r>
          </a:p>
        </p:txBody>
      </p:sp>
      <p:sp>
        <p:nvSpPr>
          <p:cNvPr id="29" name="Google Shape;2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 name="Google Shape;3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1:00–2:30] Let me start with the problem. Show of hands: how many of you maintain a SAS program that's older than your tenure on the team? [Pause.] Yeah. That's most of the room.</a:t>
            </a:r>
          </a:p>
          <a:p>
            <a:endParaRPr/>
          </a:p>
          <a:p>
            <a:r>
              <a:t>Here's what that looks like in practice. First, macro variables. You find a %LET at the top of a program, and the only way to figure out what it does is to trace where it ends up and work backwards. The purpose is inferable only from its downstream effect.</a:t>
            </a:r>
          </a:p>
          <a:p>
            <a:endParaRPr/>
          </a:p>
          <a:p>
            <a:r>
              <a:t>Second, names and lineage. You have a data set called EMPL, a variable called EM, and an intermediate table called underscore-t2. Somebody knew exactly what those meant in 2006. Today, that knowledge lives as folklore. You ask the person two desks over, and they say, "I think Linda set that up."</a:t>
            </a:r>
          </a:p>
          <a:p>
            <a:endParaRPr/>
          </a:p>
          <a:p>
            <a:r>
              <a:t>Third, and this is the one that keeps managers up at night: the last expert retires. At that point, the code becomes something we operate, not something we understand.</a:t>
            </a:r>
          </a:p>
          <a:p>
            <a:endParaRPr/>
          </a:p>
          <a:p>
            <a:r>
              <a:t>And the irony is on the right side of the slide. Twenty years of monthly production runs. The macros still work. The output still validates. Nothing is broken, which is exactly why nobody ever had a reason to document it.</a:t>
            </a:r>
          </a:p>
        </p:txBody>
      </p:sp>
      <p:sp>
        <p:nvSpPr>
          <p:cNvPr id="39" name="Google Shape;3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4:00–5:00] Here's where we're going. First, what we mean by "documentation," because we had to pin that down before we could measure anything. Second, the architecture, and how we kept SAS as the system of record. Third, the three model configurations we tested, with a deep dive on QLoRA fine-tuning. That's highlighted because it's where we'll spend the most time. Fourth, how we evaluated them and what we found. And fifth, a quick look at where the fine-tuning research is heading and what's worth trying next.</a:t>
            </a:r>
          </a:p>
        </p:txBody>
      </p:sp>
      <p:sp>
        <p:nvSpPr>
          <p:cNvPr id="82" name="Google Shape;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2:30–4:00] So the obvious idea is: point an LLM at the code and ask it to explain. And it will. It'll give you something like the box on the left.</a:t>
            </a:r>
          </a:p>
          <a:p>
            <a:endParaRPr/>
          </a:p>
          <a:p>
            <a:r>
              <a:t>"EMPL: Total employment level, seasonally adjusted, used as the denominator for rates." That reads beautifully. It sounds like something a senior analyst wrote. And there is no way to check it. No line number, no derivation, no source. It might be right. It might be a confident guess dressed up in the vocabulary of our field.</a:t>
            </a:r>
          </a:p>
          <a:p>
            <a:endParaRPr/>
          </a:p>
          <a:p>
            <a:r>
              <a:t>Now look at the box on the right. "EMPL: Num 8. Derivation: the sum of e1, e2, e3, divided by three. Source: est.sas, line 142. Label: UNKNOWN." That's less pleasant to read. But every claim points somewhere you can go look, and where the model didn't know something, it said so.</a:t>
            </a:r>
          </a:p>
          <a:p>
            <a:endParaRPr/>
          </a:p>
          <a:p>
            <a:r>
              <a:t>That contrast is the whole paper in one slide. For production use in a statistical agency, the metric that matters is not how good the documentation sounds. It's the rate of confident, unsupported assertions. A fluent wrong answer is worse than no answer, because someone will believe it.</a:t>
            </a:r>
          </a:p>
        </p:txBody>
      </p:sp>
      <p:sp>
        <p:nvSpPr>
          <p:cNvPr id="61" name="Google Shape;6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5:00–7:00] "Document the code" is too vague to evaluate. So we broke it into three concrete artifacts, and each one has a fixed JSON schema.</a:t>
            </a:r>
          </a:p>
          <a:p>
            <a:endParaRPr/>
          </a:p>
          <a:p>
            <a:r>
              <a:t>The first is a variable dictionary. For every variable: name, type, length, format, label, how it's derived, what values are valid, and where in the source we found it. If you've ever filled out a data dictionary template for a data release, this is that, generated from the code.</a:t>
            </a:r>
          </a:p>
          <a:p>
            <a:endParaRPr/>
          </a:p>
          <a:p>
            <a:r>
              <a:t>The second is a macro parameter reference. For every macro: its positional and keyword parameters, their defaults, and which programs call it. This is the one people ask for most often, because macros are where the undocumented logic tends to hide.</a:t>
            </a:r>
          </a:p>
          <a:p>
            <a:endParaRPr/>
          </a:p>
          <a:p>
            <a:r>
              <a:t>The third is a program summary. What does this program do, what does it read, and what does it write.</a:t>
            </a:r>
          </a:p>
          <a:p>
            <a:endParaRPr/>
          </a:p>
          <a:p>
            <a:r>
              <a:t>The note at the bottom matters for the evaluation later. All three configurations we tested produce exactly the same schema. So when we compare them, the differences come from the model and how it's grounded, not from one of them being asked an easier question.</a:t>
            </a:r>
          </a:p>
          <a:p>
            <a:endParaRPr/>
          </a:p>
          <a:p>
            <a:r>
              <a:t>And a practical point: because the output is JSON with a fixed shape, it's machine-checkable. You can validate it, load it into a data set, diff it month over month. A paragraph of prose can't do any of that.</a:t>
            </a:r>
          </a:p>
        </p:txBody>
      </p:sp>
      <p:sp>
        <p:nvSpPr>
          <p:cNvPr id="105" name="Google Shape;1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[2 min · 7:00–9:00] If you remember one thing from this talk, make it this slide. Every field carries a required source. If the model has no defensible source for a field, it must write UNKNOWN.</a:t>
            </a:r>
          </a:p>
          <a:p>
            <a:endParaRPr dirty="0"/>
          </a:p>
          <a:p>
            <a:r>
              <a:rPr dirty="0"/>
              <a:t>Look at the example on the left. Variable EM, numeric, length 8. Derivation: EM equals the sum of e1 through e3. Source: </a:t>
            </a:r>
            <a:r>
              <a:rPr dirty="0" err="1"/>
              <a:t>est.sas</a:t>
            </a:r>
            <a:r>
              <a:rPr dirty="0"/>
              <a:t>, line 142. And then label: UNKNOWN. Valid values: UNKNOWN. The code never assigns a label, and nothing in the program constrains the values, so the honest answer is that we don't know.</a:t>
            </a:r>
          </a:p>
          <a:p>
            <a:endParaRPr dirty="0"/>
          </a:p>
          <a:p>
            <a:r>
              <a:rPr dirty="0"/>
              <a:t>That one rule buys you three things.</a:t>
            </a:r>
          </a:p>
          <a:p>
            <a:endParaRPr dirty="0"/>
          </a:p>
          <a:p>
            <a:r>
              <a:rPr dirty="0"/>
              <a:t>First, it's detectable. Guessing becomes visible. If a field has content but no source, or a source that doesn't contain what's claimed, a script can flag it.</a:t>
            </a:r>
          </a:p>
          <a:p>
            <a:endParaRPr dirty="0"/>
          </a:p>
          <a:p>
            <a:r>
              <a:rPr dirty="0"/>
              <a:t>Second, it's reviewable. A reviewer doesn't have to read the whole dictionary with suspicion. They get a short list of UNKNOWNs, which is exactly where a human with institutional memory should spend their time.</a:t>
            </a:r>
          </a:p>
          <a:p>
            <a:endParaRPr dirty="0"/>
          </a:p>
          <a:p>
            <a:r>
              <a:rPr dirty="0"/>
              <a:t>Third, it's honest. In our scoring, UNKNOWN is a correct answer. A confident guess is an error. That flips the incentive that makes language models dangerous for this kind of work: by default, they're rewarded for always having something to say.</a:t>
            </a:r>
          </a:p>
        </p:txBody>
      </p:sp>
      <p:sp>
        <p:nvSpPr>
          <p:cNvPr id="128" name="Google Shape;12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9:00–11:00] Once you know what you want out, the next question is plumbing. How does a model, which lives in the Python world, talk to SAS? There are two main options.</a:t>
            </a:r>
          </a:p>
          <a:p>
            <a:endParaRPr/>
          </a:p>
          <a:p>
            <a:r>
              <a:t>On the left is PROC PYTHON. SAS is in control. Your SAS program submits Python code, that Python calls the model, and the response comes back into your DATA step. It's elegant if you want this to look like any other step in a SAS job. The catch is that on SAS 9.4 it requires maintenance release 9 or later, and many of us are not on M9 yet, or can't count on every environment being on it.</a:t>
            </a:r>
          </a:p>
          <a:p>
            <a:endParaRPr/>
          </a:p>
          <a:p>
            <a:r>
              <a:t>On the right is SASPy, which is what we chose. Here Python is in control. A Python orchestrator opens a SAS session, submits code, pulls results back, and writes SAS data sets directly. It works with whatever SAS engine you already have. No M9 requirement, which for us meant the pipeline is more reproducible: anyone in the room can run it, including on SAS OnDemand for Academics.</a:t>
            </a:r>
          </a:p>
          <a:p>
            <a:endParaRPr/>
          </a:p>
          <a:p>
            <a:r>
              <a:t>I want to be clear that this is a deployment choice, not a judgment. If your shop is on M9 and you want everything inside a SAS job, PROC PYTHON is a perfectly good route, and the rest of the design carries over.</a:t>
            </a:r>
          </a:p>
        </p:txBody>
      </p:sp>
      <p:sp>
        <p:nvSpPr>
          <p:cNvPr id="147" name="Google Shape;14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[2 min · 11:00–13:00] Here's the full pipeline. On the roadmap I called this "SAS stays in charge." More precisely: Python orchestrates, but SAS stays the system of record.</a:t>
            </a:r>
          </a:p>
          <a:p>
            <a:endParaRPr dirty="0"/>
          </a:p>
          <a:p>
            <a:r>
              <a:rPr dirty="0"/>
              <a:t>We start with the legacy .</a:t>
            </a:r>
            <a:r>
              <a:rPr dirty="0" err="1"/>
              <a:t>sas</a:t>
            </a:r>
            <a:r>
              <a:rPr dirty="0"/>
              <a:t> source plus whatever metadata SAS can tell us. The </a:t>
            </a:r>
            <a:r>
              <a:rPr dirty="0" err="1"/>
              <a:t>SASPy</a:t>
            </a:r>
            <a:r>
              <a:rPr dirty="0"/>
              <a:t> orchestrator gathers that up and hands it to the model. The model, the orange box, has exactly one job: fill in the JSON schema. That JSON then goes back into SAS data sets, either through </a:t>
            </a:r>
            <a:r>
              <a:rPr dirty="0" err="1"/>
              <a:t>SASPy</a:t>
            </a:r>
            <a:r>
              <a:rPr dirty="0"/>
              <a:t> or through PROC JSON if you'd rather read it in SAS. And the last box is human review, which is never optional.</a:t>
            </a:r>
          </a:p>
          <a:p>
            <a:endParaRPr dirty="0"/>
          </a:p>
          <a:p>
            <a:r>
              <a:rPr dirty="0"/>
              <a:t>The reason for that shape is governance. The model never writes to production. It never changes your code. It produces a draft artifact that lands in SAS, where your existing controls, your lineage tools, and your reviewers already live.</a:t>
            </a:r>
          </a:p>
          <a:p>
            <a:endParaRPr dirty="0"/>
          </a:p>
          <a:p>
            <a:r>
              <a:rPr dirty="0"/>
              <a:t>One note at the bottom: everything you see today runs in Google Colab against SAS OnDemand for Academics. That was deliberate. We wanted anybody to be able to reproduce this without a site license or a GPU cluster, and the full source is on GitHub; I'll give you the link at the end.</a:t>
            </a:r>
            <a:r>
              <a:rPr lang="en-US" dirty="0"/>
              <a:t> (</a:t>
            </a:r>
            <a:r>
              <a:rPr lang="en-US" b="1" dirty="0"/>
              <a:t>WRITE NEXT SLIDE HERE</a:t>
            </a:r>
            <a:r>
              <a:rPr lang="en-US" dirty="0"/>
              <a:t>)</a:t>
            </a:r>
            <a:endParaRPr dirty="0"/>
          </a:p>
        </p:txBody>
      </p:sp>
      <p:sp>
        <p:nvSpPr>
          <p:cNvPr id="166" name="Google Shape;16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13:00–14:30] We tested three configurations, chosen to span the realistic options for an agency like ours.</a:t>
            </a:r>
          </a:p>
          <a:p>
            <a:endParaRPr/>
          </a:p>
          <a:p>
            <a:r>
              <a:t>Config 1 is the zero-shot baseline. Gemma 4 E2B, the instruction-tuned variant, quantized so it runs on a CPU. No GPU at all. Its only grounding is a guardrail that runs after the fact, which I'll show you in a second.</a:t>
            </a:r>
          </a:p>
          <a:p>
            <a:endParaRPr/>
          </a:p>
          <a:p>
            <a:r>
              <a:t>Config 2 is the same Gemma model, plus a small set of fine-tuned adapters trained with QLoRA. You need one GPU to train it, but once trained it runs locally. Its grounding is learned: we taught it the format, and the habit of saying UNKNOWN, from about 580 examples.</a:t>
            </a:r>
          </a:p>
          <a:p>
            <a:endParaRPr/>
          </a:p>
          <a:p>
            <a:r>
              <a:t>Config 3 is a frontier model, Claude Opus 5, through a hosted subscription. Its grounding comes from two read-only tools that query real SAS metadata.</a:t>
            </a:r>
          </a:p>
          <a:p>
            <a:endParaRPr/>
          </a:p>
          <a:p>
            <a:r>
              <a:t>The footnote is the policy reality. Configs 1 and 2 are designed to run air-gapped. Nothing leaves the building. Config 3 needs a frontier-model subscription, which means your code goes to an outside provider. For some programs that's fine; for programs touching confidential microdata, it may not be, and that's a decision for your security and disclosure people, not for us.</a:t>
            </a:r>
          </a:p>
        </p:txBody>
      </p:sp>
      <p:sp>
        <p:nvSpPr>
          <p:cNvPr id="198" name="Google Shape;19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14:30–15:30] Config 1 is as simple as it gets. We give the model the program text and the target schema, it runs on CPU, and it produces a draft JSON. No tools, no examples, no retrieval.</a:t>
            </a:r>
          </a:p>
          <a:p>
            <a:endParaRPr/>
          </a:p>
          <a:p>
            <a:r>
              <a:t>The one thing we added is guardrail.py, a static scan. It takes every variable name, data set name, and macro parameter name the model emitted, and checks whether it actually appears in the source. Anything it can't find gets flagged.</a:t>
            </a:r>
          </a:p>
          <a:p>
            <a:endParaRPr/>
          </a:p>
          <a:p>
            <a:r>
              <a:t>That's cheap and useful, but notice what it can't do. It can catch an invented name. It can't catch a real variable described wrongly. Hold that thought; it comes back in the limitations.</a:t>
            </a:r>
          </a:p>
          <a:p>
            <a:endParaRPr/>
          </a:p>
          <a:p>
            <a:r>
              <a:t>You could keep adding rules to the guardrail, but you hit diminishing returns fast. If you have access to a GPU, you get more for less effort by fine-tuning.</a:t>
            </a:r>
          </a:p>
        </p:txBody>
      </p:sp>
      <p:sp>
        <p:nvSpPr>
          <p:cNvPr id="224" name="Google Shape;22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[0.5 min · 15:30–16:00] [Section divider. Pause, take a sip of water.]</a:t>
            </a:r>
          </a:p>
          <a:p>
            <a:endParaRPr/>
          </a:p>
          <a:p>
            <a:r>
              <a:t>Now the part we spent the most time on: fine-tuning a small open model on a single GPU. I'm going to go a bit deeper here than a typical SAS talk, because if you want to try this yourself, these are the details that matter.</a:t>
            </a:r>
          </a:p>
        </p:txBody>
      </p:sp>
      <p:sp>
        <p:nvSpPr>
          <p:cNvPr id="253" name="Google Shape;25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16:00–18:00] Start with plain LoRA, low-rank adaptation, from Hu and colleagues in 2021.</a:t>
            </a:r>
          </a:p>
          <a:p>
            <a:endParaRPr/>
          </a:p>
          <a:p>
            <a:r>
              <a:t>A model is mostly big weight matrices. Call one of them W, with dimensions d by k. Full fine-tuning updates every number in W. LoRA says: freeze W entirely, and instead learn a correction that's the product of two thin matrices, B, which is d by r, and A, which is r by k. The rank r is much smaller than d or k.</a:t>
            </a:r>
          </a:p>
          <a:p>
            <a:endParaRPr/>
          </a:p>
          <a:p>
            <a:r>
              <a:t>The forward pass becomes h equals Wx plus alpha over r times BAx. Only A and B are trained. Alpha over r is a scaling factor that controls how strongly the update pulls on the output.</a:t>
            </a:r>
          </a:p>
          <a:p>
            <a:endParaRPr/>
          </a:p>
          <a:p>
            <a:r>
              <a:t>One detail I like: B starts at zero. So at step zero, BA is zero, and the model is exactly the base model. Training starts from a known-good place and moves away only as far as the data justifies.</a:t>
            </a:r>
          </a:p>
          <a:p>
            <a:endParaRPr/>
          </a:p>
          <a:p>
            <a:r>
              <a:t>The numbers on the right make it concrete. Take one 2048 by 2048 layer. A full update is about 4.2 million parameters. LoRA at rank 32 is about 131 thousand, around 3 percent. Across the whole model, that's the difference between needing a cluster and needing one card.</a:t>
            </a:r>
          </a:p>
        </p:txBody>
      </p:sp>
      <p:sp>
        <p:nvSpPr>
          <p:cNvPr id="263" name="Google Shape;26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18:00–19:00] QLoRA, from Dettmers and colleagues in 2023, adds quantization on top. Three ideas.</a:t>
            </a:r>
          </a:p>
          <a:p>
            <a:endParaRPr/>
          </a:p>
          <a:p>
            <a:r>
              <a:t>NF4, 4-bit NormalFloat. Trained weights are roughly normally distributed, so instead of spacing the sixteen 4-bit levels evenly, NF4 puts them where the weights actually fall. You lose less information per bit.</a:t>
            </a:r>
          </a:p>
          <a:p>
            <a:endParaRPr/>
          </a:p>
          <a:p>
            <a:r>
              <a:t>Double quantization. Quantizing in blocks means storing a scaling constant for every block, and those constants add up. So they quantize the constants too, saving roughly a third of a bit per parameter. That sounds small until you multiply by billions.</a:t>
            </a:r>
          </a:p>
          <a:p>
            <a:endParaRPr/>
          </a:p>
          <a:p>
            <a:r>
              <a:t>Paged optimizers. Training memory spikes, especially on long sequences. Paged optimizers use unified memory to absorb a spike, instead of crashing the run at hour two.</a:t>
            </a:r>
          </a:p>
          <a:p>
            <a:endParaRPr/>
          </a:p>
          <a:p>
            <a:r>
              <a:t>The summary is in the dark bar: store in 4-bit, compute in 16-bit. In the original paper, that was enough to fine-tune a 65-billion-parameter model on a single 48-gigabyte GPU. Our model is far smaller, so for us it means training comfortably on one card.</a:t>
            </a:r>
          </a:p>
        </p:txBody>
      </p:sp>
      <p:sp>
        <p:nvSpPr>
          <p:cNvPr id="289" name="Google Shape;28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19:00–20:30] Fine-tuning needs examples, and this is where most of the human effort went.</a:t>
            </a:r>
          </a:p>
          <a:p>
            <a:endParaRPr/>
          </a:p>
          <a:p>
            <a:r>
              <a:t>We wrote 20 deliberately poorly written, production-style SAS programs. Cryptic names, no headers, hardcoded paths, the full catalog of sins. For each one, we hand-wrote the data dictionary that should come out of it.</a:t>
            </a:r>
          </a:p>
          <a:p>
            <a:endParaRPr/>
          </a:p>
          <a:p>
            <a:r>
              <a:t>Then we chunked them into about 580 input-output pairs. Each pair is a slice of SAS code and the schema-valid JSON it should become, complete with sources and UNKNOWNs. That's important: the UNKNOWNs are in the training data. We're teaching the model that "I don't know" is an acceptable answer.</a:t>
            </a:r>
          </a:p>
          <a:p>
            <a:endParaRPr/>
          </a:p>
          <a:p>
            <a:r>
              <a:t>And on the right: the 20 programs we evaluate on are held out. The model never saw them in training. Any score you see later is on unseen code.</a:t>
            </a:r>
          </a:p>
        </p:txBody>
      </p:sp>
      <p:sp>
        <p:nvSpPr>
          <p:cNvPr id="314" name="Google Shape;31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20:30–22:00] This is Table 1 in the paper. Where you see an arrow, that's where we started and where we ended up. I'll hit the highlights rather than read the table.</a:t>
            </a:r>
          </a:p>
          <a:p>
            <a:endParaRPr/>
          </a:p>
          <a:p>
            <a:r>
              <a:t>The base is Gemma 4 E2B, in 4-bit NF4. We started with rank 16 and alpha 32, and ended at rank 32 and alpha 64. Notice the ratio alpha over r stayed at 2 the whole time; more on why in a minute. Adapters go on both the attention and the MLP projections.</a:t>
            </a:r>
          </a:p>
          <a:p>
            <a:endParaRPr/>
          </a:p>
          <a:p>
            <a:r>
              <a:t>Learning rate 2e-4 with cosine decay. We went from 3 epochs down to 2. Batch size dropped from 4 to 1, with gradient accumulation of 8, so the effective batch is still 8 while the memory footprint stays small.</a:t>
            </a:r>
          </a:p>
          <a:p>
            <a:endParaRPr/>
          </a:p>
          <a:p>
            <a:r>
              <a:t>Training time was about an hour and a half on one A100. Yours will vary with your GPU, but this is an afternoon, not a project.</a:t>
            </a:r>
          </a:p>
        </p:txBody>
      </p:sp>
      <p:sp>
        <p:nvSpPr>
          <p:cNvPr id="338" name="Google Shape;338;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22:00–23:30] Here's the core of qlora_finetune.py, and it's genuinely about a dozen lines, using Hugging Face's peft library. Follow the numbered callouts.</a:t>
            </a:r>
          </a:p>
          <a:p>
            <a:endParaRPr/>
          </a:p>
          <a:p>
            <a:r>
              <a:t>One: we load the model with a bitsandbytes config, which is what sets NF4 4-bit storage.</a:t>
            </a:r>
          </a:p>
          <a:p>
            <a:endParaRPr/>
          </a:p>
          <a:p>
            <a:r>
              <a:t>Two: we turn the key-value cache off. It speeds up generation, but it isn't used in training and it conflicts with gradient checkpointing. Then prepare_model_for_kbit_training gets the quantized model ready to take gradients.</a:t>
            </a:r>
          </a:p>
          <a:p>
            <a:endParaRPr/>
          </a:p>
          <a:p>
            <a:r>
              <a:t>Three: the LoRA config. Rank 32, alpha 64, a little dropout, and the target modules: q, k, v, and o for attention, and gate, up, and down for the MLP. That's every linear layer.</a:t>
            </a:r>
          </a:p>
          <a:p>
            <a:endParaRPr/>
          </a:p>
          <a:p>
            <a:r>
              <a:t>Four: get_peft_model wraps the model. The base is frozen, only the adapters train, and the saved adapter is tens of megabytes. You can version it in Git next to your SAS code.</a:t>
            </a:r>
          </a:p>
          <a:p>
            <a:endParaRPr/>
          </a:p>
          <a:p>
            <a:r>
              <a:t>Keep this LoraConfig in mind; at the end I'll show how one-line changes here let you try newer variants.</a:t>
            </a:r>
          </a:p>
        </p:txBody>
      </p:sp>
      <p:sp>
        <p:nvSpPr>
          <p:cNvPr id="347" name="Google Shape;34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7" name="Google Shape;36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23:30–25:00] This slide is the one I most want people to take back to their managers, because it's where expectations go wrong.</a:t>
            </a:r>
          </a:p>
          <a:p>
            <a:endParaRPr/>
          </a:p>
          <a:p>
            <a:r>
              <a:t>What adapters change: output format and field ordering, style and terminology, and, crucially, the habit of writing UNKNOWN instead of guessing.</a:t>
            </a:r>
          </a:p>
          <a:p>
            <a:endParaRPr/>
          </a:p>
          <a:p>
            <a:r>
              <a:t>What they do not change: knowledge of your code base. The model hasn't learned what your agency's EMPL means. They don't raise the base model's reasoning ceiling. And they don't make it better at inferring what an unfamiliar, convoluted macro does.</a:t>
            </a:r>
          </a:p>
          <a:p>
            <a:endParaRPr/>
          </a:p>
          <a:p>
            <a:r>
              <a:t>Which leads to the line at the bottom: a small model with adapters is still a small model. Fine-tuning made it disciplined. It didn't make it smart. As we'll see, on this task, discipline turns out to be most of the battle.</a:t>
            </a:r>
          </a:p>
        </p:txBody>
      </p:sp>
      <p:sp>
        <p:nvSpPr>
          <p:cNvPr id="368" name="Google Shape;36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25:00–26:00] Four practical lessons if you try this yourself.</a:t>
            </a:r>
          </a:p>
          <a:p>
            <a:endParaRPr/>
          </a:p>
          <a:p>
            <a:r>
              <a:t>Target all linear layers. Early LoRA work often adapted attention only; adding the MLP projections is now the common recommendation.</a:t>
            </a:r>
          </a:p>
          <a:p>
            <a:endParaRPr/>
          </a:p>
          <a:p>
            <a:r>
              <a:t>Start with alpha around 2r, and scale them together. If you double the rank, double alpha, so you're changing capacity without also changing the strength of the update.</a:t>
            </a:r>
          </a:p>
          <a:p>
            <a:endParaRPr/>
          </a:p>
          <a:p>
            <a:r>
              <a:t>Tune learning rate first. It's the most sensitive knob in LoRA training, by a wide margin. Get it right before you touch anything clever.</a:t>
            </a:r>
          </a:p>
          <a:p>
            <a:endParaRPr/>
          </a:p>
          <a:p>
            <a:r>
              <a:t>Clean pairs, held-out eval. If your training pairs aren't schema-valid, you're teaching the model to produce invalid output. And if your test programs leak into training, your scores mean nothing.</a:t>
            </a:r>
          </a:p>
        </p:txBody>
      </p:sp>
      <p:sp>
        <p:nvSpPr>
          <p:cNvPr id="387" name="Google Shape;38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26:00–27:00] Now the other end of the spectrum. Config 3 is Claude Opus 5, and the key design choice is how it's grounded.</a:t>
            </a:r>
          </a:p>
          <a:p>
            <a:endParaRPr/>
          </a:p>
          <a:p>
            <a:r>
              <a:t>It gets two read-only tools, and the instruction is that every claim must trace to one of them. Its workflow is query, parse, and only then write.</a:t>
            </a:r>
          </a:p>
          <a:p>
            <a:endParaRPr/>
          </a:p>
          <a:p>
            <a:r>
              <a:t>Tool one is SAS's DICTIONARY tables, queried through PROC SQL. That tells the model which data sets actually exist, what keys they share, and where a name is reused with different attributes, which in legacy code happens more than anyone admits.</a:t>
            </a:r>
          </a:p>
          <a:p>
            <a:endParaRPr/>
          </a:p>
          <a:p>
            <a:r>
              <a:t>Tool two is a custom Python source parser. It extracts macro definitions, parameter lists, every %LET assignment, and the line number of each one. That's where those "est.sas line 142" citations come from.</a:t>
            </a:r>
          </a:p>
          <a:p>
            <a:endParaRPr/>
          </a:p>
          <a:p>
            <a:r>
              <a:t>Both tools are read-only. The model can look at anything; it can change nothing.</a:t>
            </a:r>
          </a:p>
        </p:txBody>
      </p:sp>
      <p:sp>
        <p:nvSpPr>
          <p:cNvPr id="414" name="Google Shape;41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5" name="Google Shape;43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27:00–28:00] A quick word on why DICTIONARY tables rather than PROC CONTENTS, since most of us reach for PROC CONTENTS by reflex.</a:t>
            </a:r>
          </a:p>
          <a:p>
            <a:endParaRPr/>
          </a:p>
          <a:p>
            <a:r>
              <a:t>PROC CONTENTS is built to be read by people. Its output is a report. DICTIONARY views are already tables. The query on the left, from the skill file, pulls member name, variable name, type, length, format, informat, label, and position from dictionary.columns, and row counts and labels from dictionary.tables. SASPy's sd2df method drops those straight into a pandas data frame, ready to hand to the model as structured facts.</a:t>
            </a:r>
          </a:p>
          <a:p>
            <a:endParaRPr/>
          </a:p>
          <a:p>
            <a:r>
              <a:t>One portability note: we packaged these tools as skills in Claude's format. If you want to use another provider's model, the SAS side carries over unchanged, but the tool wrappers will need some adaptation.</a:t>
            </a:r>
          </a:p>
        </p:txBody>
      </p:sp>
      <p:sp>
        <p:nvSpPr>
          <p:cNvPr id="436" name="Google Shape;43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28:00–29:30] So how do you score documentation? The hard part is knowing the right answer. For real legacy code, the person who knew the right answer is the one who retired.</a:t>
            </a:r>
          </a:p>
          <a:p>
            <a:endParaRPr/>
          </a:p>
          <a:p>
            <a:r>
              <a:t>Our solution was to build the test set ourselves: 20 held-out programs, each run 3 times per configuration to capture run-to-run variability. Each program and its gold documentation were generated from the same specification, so the gold answer is correct by construction. Every variable, every derivation, every macro parameter.</a:t>
            </a:r>
          </a:p>
          <a:p>
            <a:endParaRPr/>
          </a:p>
          <a:p>
            <a:r>
              <a:t>We made them bad on purpose, in the ways real legacy code is bad. Names like EMPL and EM for employment level. A macro called x with parameters p, lb, thr, and dbg. Options nomprint and nosymbolgen, so the log tells you nothing. Hardcoded paths and periods. No headers, few comments. Throwaway intermediate data sets. If you laughed at any of those, it's because you've seen them.</a:t>
            </a:r>
          </a:p>
          <a:p>
            <a:endParaRPr/>
          </a:p>
          <a:p>
            <a:r>
              <a:t>One methodological note. The test programs were generated with Mistral Large 3, a model from a different provider than the frontier model we were testing. We didn't want Claude grading code that looked like code Claude would write.</a:t>
            </a:r>
          </a:p>
        </p:txBody>
      </p:sp>
      <p:sp>
        <p:nvSpPr>
          <p:cNvPr id="454" name="Google Shape;45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29:30–31:30] Here are the structural scores, across 20 programs and 3 runs each. Gray is the zero-shot baseline, orange is QLoRA, teal is the frontier model with skills.</a:t>
            </a:r>
          </a:p>
          <a:p>
            <a:endParaRPr/>
          </a:p>
          <a:p>
            <a:r>
              <a:t>[Walk left to right:] group 1 is schema validity, group 2 is variable F1, group 3 is macro-parameter F1, group 4 is program input/output F1.</a:t>
            </a:r>
          </a:p>
          <a:p>
            <a:endParaRPr/>
          </a:p>
          <a:p>
            <a:r>
              <a:t>The gray bars tell the story of Config 1. Only 9 of its 20 programs produced schema-valid output at all; that's the 0.45. On variable F1, how well it identified the variables, it scored 0.01. Essentially zero.</a:t>
            </a:r>
          </a:p>
          <a:p>
            <a:endParaRPr/>
          </a:p>
          <a:p>
            <a:r>
              <a:t>Now look at orange. Same base model. Same tiny Gemma. After QLoRA, variable F1 goes from 0.01 to 0.92, and it hits 1.0 on the other three measures. That's what the title means: fine-tuning closes most of the gap, with about 580 training pairs.</a:t>
            </a:r>
          </a:p>
          <a:p>
            <a:endParaRPr/>
          </a:p>
          <a:p>
            <a:r>
              <a:t>Teal, the frontier model, scores 1.0 across the board. So there is a remaining gap, on variable F1, and it's eight points.</a:t>
            </a:r>
          </a:p>
        </p:txBody>
      </p:sp>
      <p:sp>
        <p:nvSpPr>
          <p:cNvPr id="484" name="Google Shape;484;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[2 min · 31:30–33:30] But remember slide 3. The metric that decides production use isn't structure. It's hallucination.</a:t>
            </a:r>
          </a:p>
          <a:p>
            <a:endParaRPr/>
          </a:p>
          <a:p>
            <a:r>
              <a:t>Our definition is strict and mechanical: any variable, data set, or macro parameter name that isn't found in the source, or for Config 3, in the metadata it retrieved through SASPy.</a:t>
            </a:r>
          </a:p>
          <a:p>
            <a:endParaRPr/>
          </a:p>
          <a:p>
            <a:r>
              <a:t>Config 1: 57 percent hallucination rate. And look at the range: 37 to 81 percent across runs. So not only is it wrong more than half the time, you can't even predict how wrong it'll be on a given program. About 88 seconds per program.</a:t>
            </a:r>
          </a:p>
          <a:p>
            <a:endParaRPr/>
          </a:p>
          <a:p>
            <a:r>
              <a:t>Config 2: zero percent. No invented names. About 210 seconds per program.</a:t>
            </a:r>
          </a:p>
          <a:p>
            <a:endParaRPr/>
          </a:p>
          <a:p>
            <a:r>
              <a:t>Config 3: zero percent. No invented names. About 61 seconds per program, the fastest of the three. Treat the times as hardware-dependent; with a frontier API you're borrowing someone else's very large GPUs.</a:t>
            </a:r>
          </a:p>
          <a:p>
            <a:endParaRPr/>
          </a:p>
          <a:p>
            <a:r>
              <a:t>That zero for Config 2 is the result I'm proudest of. A model small enough to run in a locked-down environment learned, from 580 examples, to stop making things up.</a:t>
            </a:r>
          </a:p>
        </p:txBody>
      </p:sp>
      <p:sp>
        <p:nvSpPr>
          <p:cNvPr id="494" name="Google Shape;49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9" name="Google Shape;519;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33:30–35:00] So what do we actually recommend?</a:t>
            </a:r>
          </a:p>
          <a:p>
            <a:endParaRPr/>
          </a:p>
          <a:p>
            <a:r>
              <a:t>Config 1 is not viable on its own. Invalid output for more than half the programs and highly variable hallucination. A guardrail can flag the damage, but it can't prevent it.</a:t>
            </a:r>
          </a:p>
          <a:p>
            <a:endParaRPr/>
          </a:p>
          <a:p>
            <a:r>
              <a:t>Config 2 is a practical, locally deployable option. If your code can't leave your network, this is the one to look at. More training data, or a larger Gemma-class base model, could likely narrow the remaining gap.</a:t>
            </a:r>
          </a:p>
          <a:p>
            <a:endParaRPr/>
          </a:p>
          <a:p>
            <a:r>
              <a:t>Config 3 had the strongest headline scores. But I want to call out one weakness that doesn't show on the chart: on distinguishing positional from keyword parameter usage, it averaged only 0.64. Telling whether a macro is called with x(a, b) versus x(p=a, lb=b) turns out to be harder than it looks, even for a frontier model with a parser.</a:t>
            </a:r>
          </a:p>
          <a:p>
            <a:endParaRPr/>
          </a:p>
          <a:p>
            <a:r>
              <a:t>And the line at the bottom applies to all three: human review remains essential in every configuration.</a:t>
            </a:r>
          </a:p>
        </p:txBody>
      </p:sp>
      <p:sp>
        <p:nvSpPr>
          <p:cNvPr id="520" name="Google Shape;520;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35:00–36:00] Before anyone else raises them, three limitations.</a:t>
            </a:r>
          </a:p>
          <a:p>
            <a:endParaRPr/>
          </a:p>
          <a:p>
            <a:r>
              <a:t>Synthetic by design. That's what lets us score exactly and automatically. But real code has conventions and interdependencies, call chains across dozens of programs and shared formats catalogs, that a synthetic set may miss.</a:t>
            </a:r>
          </a:p>
          <a:p>
            <a:endParaRPr/>
          </a:p>
          <a:p>
            <a:r>
              <a:t>Not like-for-like. Config 3 differs from Configs 1 and 2 in the model, the grounding, and the compute, all at once. Treat it as a practical alternative, not a controlled ablation. It tells you what you can get, not why.</a:t>
            </a:r>
          </a:p>
          <a:p>
            <a:endParaRPr/>
          </a:p>
          <a:p>
            <a:r>
              <a:t>Names, not meaning. Our hallucination metric catches invented names. It does not catch a real variable described wrongly. If the model says EMPL is seasonally adjusted and it isn't, our metric is blind to that. That's exactly the gap the required-source rule and human review are there to cover.</a:t>
            </a:r>
          </a:p>
        </p:txBody>
      </p:sp>
      <p:sp>
        <p:nvSpPr>
          <p:cNvPr id="543" name="Google Shape;54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 min · 36:00–37:00] Last section, and it's short. What we used is plain LoRA with quantization, which is now a few years old. The research hasn't stood still.</a:t>
            </a:r>
          </a:p>
          <a:p>
            <a:endParaRPr/>
          </a:p>
          <a:p>
            <a:r>
              <a:t>Variants cluster around four ideas. Rank: AdaLoRA, rsLoRA, VeRA, and VB-LoRA change how rank is chosen or shared. Optimization dynamics: LoRA+, which uses different learning rates for A and B, and DoRA, which splits each weight update into a magnitude and a direction. Initialization: PiSSA, LoftQ, EVA, and LoRA-GA start the adapters somewhere smarter than random and zero. And mixture-of-experts approaches like X-LoRA route between several adapters.</a:t>
            </a:r>
          </a:p>
          <a:p>
            <a:endParaRPr/>
          </a:p>
          <a:p>
            <a:r>
              <a:t>The right-hand column is just 2026 so far. In January, a unified study by He and colleagues organized the variants into a four-axis taxonomy and released a common codebase. In April and July, two peft releases added nine new methods each. And in June, Hugging Face published a "Beyond LoRA" comparison showing methods like OFT and Lily beating LoRA on certain tasks.</a:t>
            </a:r>
          </a:p>
          <a:p>
            <a:endParaRPr/>
          </a:p>
          <a:p>
            <a:r>
              <a:t>The point isn't to memorize these names. It's that this toolbox is moving fast, and everything we did is one point in it.</a:t>
            </a:r>
          </a:p>
        </p:txBody>
      </p:sp>
      <p:sp>
        <p:nvSpPr>
          <p:cNvPr id="565" name="Google Shape;565;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7" name="Google Shape;59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37:00–38:30] So if you're picking up where we left off, here's the order we'd try things in.</a:t>
            </a:r>
          </a:p>
          <a:p>
            <a:endParaRPr/>
          </a:p>
          <a:p>
            <a:r>
              <a:t>Step zero: sweep the learning rate first. The He study's headline finding is that a well-tuned vanilla LoRA matches or beats most of the fancy variants. Don't skip the boring step.</a:t>
            </a:r>
          </a:p>
          <a:p>
            <a:endParaRPr/>
          </a:p>
          <a:p>
            <a:r>
              <a:t>Then, in order: DoRA, which in peft is one flag, use_dora equals True. rsLoRA, which stabilizes training at higher ranks, so you can try rank 64. And smarter initialization, where LoftQ is particularly interesting for us because it's designed for quantized base models, which is exactly our setting.</a:t>
            </a:r>
          </a:p>
          <a:p>
            <a:endParaRPr/>
          </a:p>
          <a:p>
            <a:r>
              <a:t>Two more practical notes. Peft can convert many of these adapter types into standard LoRA format, so you can serve them with vLLM or similar tools. And because the evaluation harness is built, each variant costs you an afternoon: retrain, rerun the same 20 held-out programs, compare.</a:t>
            </a:r>
          </a:p>
          <a:p>
            <a:endParaRPr/>
          </a:p>
          <a:p>
            <a:r>
              <a:t>The parameter names on the slide come from the peft LoraConfig API; check them against your installed version.</a:t>
            </a:r>
          </a:p>
        </p:txBody>
      </p:sp>
      <p:sp>
        <p:nvSpPr>
          <p:cNvPr id="598" name="Google Shape;59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9" name="Google Shape;61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[1.5 min · 38:30–40:00] Let me leave you with five things.</a:t>
            </a:r>
          </a:p>
          <a:p>
            <a:endParaRPr/>
          </a:p>
          <a:p>
            <a:r>
              <a:t>One. Require a source for every field, and make UNKNOWN a correct answer. That single rule did more for trustworthiness than any model choice.</a:t>
            </a:r>
          </a:p>
          <a:p>
            <a:endParaRPr/>
          </a:p>
          <a:p>
            <a:r>
              <a:t>Two. Keep SAS as the system of record. The model writes JSON; SAS stores it, alongside everything else you already govern.</a:t>
            </a:r>
          </a:p>
          <a:p>
            <a:endParaRPr/>
          </a:p>
          <a:p>
            <a:r>
              <a:t>Three. QLoRA on a small open model is a practical, air-gapped option. Zero hallucinated names, on about 580 training pairs and an hour and a half of GPU time.</a:t>
            </a:r>
          </a:p>
          <a:p>
            <a:endParaRPr/>
          </a:p>
          <a:p>
            <a:r>
              <a:t>Four. Grounding a frontier model in DICTIONARY tables gave the strongest scores, if your data policy allows it.</a:t>
            </a:r>
          </a:p>
          <a:p>
            <a:endParaRPr/>
          </a:p>
          <a:p>
            <a:r>
              <a:t>And five. Human review stays. But your reviewers now start from a sourced draft with the gaps already marked, instead of a blank page and a retirement party.</a:t>
            </a:r>
          </a:p>
        </p:txBody>
      </p:sp>
      <p:sp>
        <p:nvSpPr>
          <p:cNvPr id="620" name="Google Shape;62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[5 min · 40:00–45:00] Thank you. The full source code, including the QLoRA training script, the guardrail, the skills, and the scoring harness, is on GitHub at github.com/patrickjlong1/sas-llm-paper. Brandon's and my email addresses are on the slide.</a:t>
            </a:r>
          </a:p>
          <a:p>
            <a:endParaRPr/>
          </a:p>
          <a:p>
            <a:r>
              <a:t>We'd be happy to take questions. [Leave about 5 minutes.]</a:t>
            </a:r>
          </a:p>
          <a:p>
            <a:endParaRPr/>
          </a:p>
          <a:p>
            <a:r>
              <a:t>LIKELY QUESTIONS</a:t>
            </a:r>
          </a:p>
          <a:p>
            <a:r>
              <a:t>- Why is QLoRA slower than zero-shot on the same model? Have the actual cause from your runs ready.</a:t>
            </a:r>
          </a:p>
          <a:p>
            <a:r>
              <a:t>- Can we use Config 3 on confidential code? A security and disclosure decision; Configs 1 and 2 exist for exactly that case.</a:t>
            </a:r>
          </a:p>
          <a:p>
            <a:r>
              <a:t>- How do you catch a real variable described wrongly? The metric doesn't. The required-source rule makes each claim checkable, and human review checks it.</a:t>
            </a:r>
          </a:p>
          <a:p>
            <a:r>
              <a:t>- How long did the training corpus take to build? Give person-hours for the 20 programs and dictionaries.</a:t>
            </a:r>
          </a:p>
          <a:p>
            <a:r>
              <a:t>- Would your adapters work on our code? They teach format and the UNKNOWN habit, which should transfer; local style may need a few local examples.</a:t>
            </a:r>
          </a:p>
          <a:p>
            <a:r>
              <a:t>- Why the smallest Gemma? CPU-only deployment; slide 24 flags a larger base as a way to close the gap.</a:t>
            </a:r>
          </a:p>
          <a:p>
            <a:r>
              <a:t>- Why not RAG? Config 3 is effectively retrieval through tools; fine-tune plus retrieval is a natural next experiment.</a:t>
            </a:r>
          </a:p>
        </p:txBody>
      </p:sp>
      <p:sp>
        <p:nvSpPr>
          <p:cNvPr id="642" name="Google Shape;642;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DARK">
  <p:cSld name="TITLE_DARK">
    <p:bg>
      <p:bgPr>
        <a:solidFill>
          <a:schemeClr val="dk1"/>
        </a:solidFill>
        <a:effectLst/>
      </p:bgPr>
    </p:bg>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548640" y="1143000"/>
            <a:ext cx="5120640" cy="13716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3800"/>
              <a:buFont typeface="Cambria"/>
              <a:buNone/>
              <a:defRPr sz="3800" b="1" i="0" u="none" strike="noStrike" cap="non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body" idx="1"/>
          </p:nvPr>
        </p:nvSpPr>
        <p:spPr>
          <a:xfrm>
            <a:off x="548640" y="2651760"/>
            <a:ext cx="5120640" cy="82296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Clr>
                <a:schemeClr val="accent1"/>
              </a:buClr>
              <a:buSzPts val="1800"/>
              <a:buFont typeface="Arial"/>
              <a:buNone/>
              <a:defRPr sz="18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bg>
      <p:bgPr>
        <a:solidFill>
          <a:schemeClr val="lt1"/>
        </a:solidFill>
        <a:effectLst/>
      </p:bgPr>
    </p:bg>
    <p:spTree>
      <p:nvGrpSpPr>
        <p:cNvPr id="1" name="Shape 14"/>
        <p:cNvGrpSpPr/>
        <p:nvPr/>
      </p:nvGrpSpPr>
      <p:grpSpPr>
        <a:xfrm>
          <a:off x="0" y="0"/>
          <a:ext cx="0" cy="0"/>
          <a:chOff x="0" y="0"/>
          <a:chExt cx="0" cy="0"/>
        </a:xfrm>
      </p:grpSpPr>
      <p:sp>
        <p:nvSpPr>
          <p:cNvPr id="15" name="Google Shape;15;p3"/>
          <p:cNvSpPr/>
          <p:nvPr/>
        </p:nvSpPr>
        <p:spPr>
          <a:xfrm>
            <a:off x="457200" y="4773168"/>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6"/>
              </a:buClr>
              <a:buSzPts val="900"/>
              <a:buFont typeface="Calibri"/>
              <a:buNone/>
            </a:pPr>
            <a:r>
              <a:rPr lang="en-US" sz="900" b="0" i="0" u="none" strike="noStrike" cap="none">
                <a:solidFill>
                  <a:schemeClr val="accent6"/>
                </a:solidFill>
                <a:latin typeface="Calibri"/>
                <a:ea typeface="Calibri"/>
                <a:cs typeface="Calibri"/>
                <a:sym typeface="Calibri"/>
              </a:rPr>
              <a:t>SEASUG 2026 · Paper 102-2026 · Long &amp; Harris</a:t>
            </a:r>
            <a:endParaRPr sz="900" b="0" i="0" u="none" strike="noStrike" cap="none">
              <a:solidFill>
                <a:schemeClr val="dk1"/>
              </a:solidFill>
              <a:latin typeface="Calibri"/>
              <a:ea typeface="Calibri"/>
              <a:cs typeface="Calibri"/>
              <a:sym typeface="Calibri"/>
            </a:endParaRPr>
          </a:p>
        </p:txBody>
      </p:sp>
      <p:sp>
        <p:nvSpPr>
          <p:cNvPr id="16" name="Google Shape;16;p3"/>
          <p:cNvSpPr txBox="1">
            <a:spLocks noGrp="1"/>
          </p:cNvSpPr>
          <p:nvPr>
            <p:ph type="title"/>
          </p:nvPr>
        </p:nvSpPr>
        <p:spPr>
          <a:xfrm>
            <a:off x="457200" y="274320"/>
            <a:ext cx="8229600" cy="68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000"/>
              <a:buFont typeface="Cambria"/>
              <a:buNone/>
              <a:defRPr sz="3000" b="1" i="0" u="none" strike="noStrike" cap="non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3"/>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900" b="0" i="0" u="none" strike="noStrike" cap="none">
                <a:solidFill>
                  <a:schemeClr val="accent6"/>
                </a:solidFill>
                <a:latin typeface="Calibri"/>
                <a:ea typeface="Calibri"/>
                <a:cs typeface="Calibri"/>
                <a:sym typeface="Calibri"/>
              </a:defRPr>
            </a:lvl1pPr>
            <a:lvl2pPr marL="0" marR="0" lvl="1" indent="0" algn="r">
              <a:spcBef>
                <a:spcPts val="0"/>
              </a:spcBef>
              <a:buNone/>
              <a:defRPr sz="900" b="0" i="0" u="none" strike="noStrike" cap="none">
                <a:solidFill>
                  <a:schemeClr val="accent6"/>
                </a:solidFill>
                <a:latin typeface="Calibri"/>
                <a:ea typeface="Calibri"/>
                <a:cs typeface="Calibri"/>
                <a:sym typeface="Calibri"/>
              </a:defRPr>
            </a:lvl2pPr>
            <a:lvl3pPr marL="0" marR="0" lvl="2" indent="0" algn="r">
              <a:spcBef>
                <a:spcPts val="0"/>
              </a:spcBef>
              <a:buNone/>
              <a:defRPr sz="900" b="0" i="0" u="none" strike="noStrike" cap="none">
                <a:solidFill>
                  <a:schemeClr val="accent6"/>
                </a:solidFill>
                <a:latin typeface="Calibri"/>
                <a:ea typeface="Calibri"/>
                <a:cs typeface="Calibri"/>
                <a:sym typeface="Calibri"/>
              </a:defRPr>
            </a:lvl3pPr>
            <a:lvl4pPr marL="0" marR="0" lvl="3" indent="0" algn="r">
              <a:spcBef>
                <a:spcPts val="0"/>
              </a:spcBef>
              <a:buNone/>
              <a:defRPr sz="900" b="0" i="0" u="none" strike="noStrike" cap="none">
                <a:solidFill>
                  <a:schemeClr val="accent6"/>
                </a:solidFill>
                <a:latin typeface="Calibri"/>
                <a:ea typeface="Calibri"/>
                <a:cs typeface="Calibri"/>
                <a:sym typeface="Calibri"/>
              </a:defRPr>
            </a:lvl4pPr>
            <a:lvl5pPr marL="0" marR="0" lvl="4" indent="0" algn="r">
              <a:spcBef>
                <a:spcPts val="0"/>
              </a:spcBef>
              <a:buNone/>
              <a:defRPr sz="900" b="0" i="0" u="none" strike="noStrike" cap="none">
                <a:solidFill>
                  <a:schemeClr val="accent6"/>
                </a:solidFill>
                <a:latin typeface="Calibri"/>
                <a:ea typeface="Calibri"/>
                <a:cs typeface="Calibri"/>
                <a:sym typeface="Calibri"/>
              </a:defRPr>
            </a:lvl5pPr>
            <a:lvl6pPr marL="0" marR="0" lvl="5" indent="0" algn="r">
              <a:spcBef>
                <a:spcPts val="0"/>
              </a:spcBef>
              <a:buNone/>
              <a:defRPr sz="900" b="0" i="0" u="none" strike="noStrike" cap="none">
                <a:solidFill>
                  <a:schemeClr val="accent6"/>
                </a:solidFill>
                <a:latin typeface="Calibri"/>
                <a:ea typeface="Calibri"/>
                <a:cs typeface="Calibri"/>
                <a:sym typeface="Calibri"/>
              </a:defRPr>
            </a:lvl6pPr>
            <a:lvl7pPr marL="0" marR="0" lvl="6" indent="0" algn="r">
              <a:spcBef>
                <a:spcPts val="0"/>
              </a:spcBef>
              <a:buNone/>
              <a:defRPr sz="900" b="0" i="0" u="none" strike="noStrike" cap="none">
                <a:solidFill>
                  <a:schemeClr val="accent6"/>
                </a:solidFill>
                <a:latin typeface="Calibri"/>
                <a:ea typeface="Calibri"/>
                <a:cs typeface="Calibri"/>
                <a:sym typeface="Calibri"/>
              </a:defRPr>
            </a:lvl7pPr>
            <a:lvl8pPr marL="0" marR="0" lvl="7" indent="0" algn="r">
              <a:spcBef>
                <a:spcPts val="0"/>
              </a:spcBef>
              <a:buNone/>
              <a:defRPr sz="900" b="0" i="0" u="none" strike="noStrike" cap="none">
                <a:solidFill>
                  <a:schemeClr val="accent6"/>
                </a:solidFill>
                <a:latin typeface="Calibri"/>
                <a:ea typeface="Calibri"/>
                <a:cs typeface="Calibri"/>
                <a:sym typeface="Calibri"/>
              </a:defRPr>
            </a:lvl8pPr>
            <a:lvl9pPr marL="0" marR="0" lvl="8" indent="0" algn="r">
              <a:spcBef>
                <a:spcPts val="0"/>
              </a:spcBef>
              <a:buNone/>
              <a:defRPr sz="900"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DARK">
  <p:cSld name="SECTION_DARK">
    <p:bg>
      <p:bgPr>
        <a:solidFill>
          <a:schemeClr val="dk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548640" y="1645920"/>
            <a:ext cx="6858000" cy="9144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4000"/>
              <a:buFont typeface="Cambria"/>
              <a:buNone/>
              <a:defRPr sz="4000" b="1" i="0" u="none" strike="noStrike" cap="non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txBox="1">
            <a:spLocks noGrp="1"/>
          </p:cNvSpPr>
          <p:nvPr>
            <p:ph type="body" idx="1"/>
          </p:nvPr>
        </p:nvSpPr>
        <p:spPr>
          <a:xfrm>
            <a:off x="548640" y="2697480"/>
            <a:ext cx="6858000" cy="54864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chemeClr val="accent1"/>
              </a:buClr>
              <a:buSzPts val="2000"/>
              <a:buFont typeface="Arial"/>
              <a:buNone/>
              <a:defRPr sz="2000" b="0" i="0" u="none" strike="noStrike" cap="none">
                <a:solidFill>
                  <a:schemeClr val="accent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 name="Google Shape;21;p4"/>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900" b="0" i="0" u="none" strike="noStrike" cap="none">
                <a:solidFill>
                  <a:schemeClr val="accent3"/>
                </a:solidFill>
                <a:latin typeface="Calibri"/>
                <a:ea typeface="Calibri"/>
                <a:cs typeface="Calibri"/>
                <a:sym typeface="Calibri"/>
              </a:defRPr>
            </a:lvl1pPr>
            <a:lvl2pPr marL="0" marR="0" lvl="1" indent="0" algn="r">
              <a:spcBef>
                <a:spcPts val="0"/>
              </a:spcBef>
              <a:buNone/>
              <a:defRPr sz="900" b="0" i="0" u="none" strike="noStrike" cap="none">
                <a:solidFill>
                  <a:schemeClr val="accent3"/>
                </a:solidFill>
                <a:latin typeface="Calibri"/>
                <a:ea typeface="Calibri"/>
                <a:cs typeface="Calibri"/>
                <a:sym typeface="Calibri"/>
              </a:defRPr>
            </a:lvl2pPr>
            <a:lvl3pPr marL="0" marR="0" lvl="2" indent="0" algn="r">
              <a:spcBef>
                <a:spcPts val="0"/>
              </a:spcBef>
              <a:buNone/>
              <a:defRPr sz="900" b="0" i="0" u="none" strike="noStrike" cap="none">
                <a:solidFill>
                  <a:schemeClr val="accent3"/>
                </a:solidFill>
                <a:latin typeface="Calibri"/>
                <a:ea typeface="Calibri"/>
                <a:cs typeface="Calibri"/>
                <a:sym typeface="Calibri"/>
              </a:defRPr>
            </a:lvl3pPr>
            <a:lvl4pPr marL="0" marR="0" lvl="3" indent="0" algn="r">
              <a:spcBef>
                <a:spcPts val="0"/>
              </a:spcBef>
              <a:buNone/>
              <a:defRPr sz="900" b="0" i="0" u="none" strike="noStrike" cap="none">
                <a:solidFill>
                  <a:schemeClr val="accent3"/>
                </a:solidFill>
                <a:latin typeface="Calibri"/>
                <a:ea typeface="Calibri"/>
                <a:cs typeface="Calibri"/>
                <a:sym typeface="Calibri"/>
              </a:defRPr>
            </a:lvl4pPr>
            <a:lvl5pPr marL="0" marR="0" lvl="4" indent="0" algn="r">
              <a:spcBef>
                <a:spcPts val="0"/>
              </a:spcBef>
              <a:buNone/>
              <a:defRPr sz="900" b="0" i="0" u="none" strike="noStrike" cap="none">
                <a:solidFill>
                  <a:schemeClr val="accent3"/>
                </a:solidFill>
                <a:latin typeface="Calibri"/>
                <a:ea typeface="Calibri"/>
                <a:cs typeface="Calibri"/>
                <a:sym typeface="Calibri"/>
              </a:defRPr>
            </a:lvl5pPr>
            <a:lvl6pPr marL="0" marR="0" lvl="5" indent="0" algn="r">
              <a:spcBef>
                <a:spcPts val="0"/>
              </a:spcBef>
              <a:buNone/>
              <a:defRPr sz="900" b="0" i="0" u="none" strike="noStrike" cap="none">
                <a:solidFill>
                  <a:schemeClr val="accent3"/>
                </a:solidFill>
                <a:latin typeface="Calibri"/>
                <a:ea typeface="Calibri"/>
                <a:cs typeface="Calibri"/>
                <a:sym typeface="Calibri"/>
              </a:defRPr>
            </a:lvl6pPr>
            <a:lvl7pPr marL="0" marR="0" lvl="6" indent="0" algn="r">
              <a:spcBef>
                <a:spcPts val="0"/>
              </a:spcBef>
              <a:buNone/>
              <a:defRPr sz="900" b="0" i="0" u="none" strike="noStrike" cap="none">
                <a:solidFill>
                  <a:schemeClr val="accent3"/>
                </a:solidFill>
                <a:latin typeface="Calibri"/>
                <a:ea typeface="Calibri"/>
                <a:cs typeface="Calibri"/>
                <a:sym typeface="Calibri"/>
              </a:defRPr>
            </a:lvl7pPr>
            <a:lvl8pPr marL="0" marR="0" lvl="7" indent="0" algn="r">
              <a:spcBef>
                <a:spcPts val="0"/>
              </a:spcBef>
              <a:buNone/>
              <a:defRPr sz="900" b="0" i="0" u="none" strike="noStrike" cap="none">
                <a:solidFill>
                  <a:schemeClr val="accent3"/>
                </a:solidFill>
                <a:latin typeface="Calibri"/>
                <a:ea typeface="Calibri"/>
                <a:cs typeface="Calibri"/>
                <a:sym typeface="Calibri"/>
              </a:defRPr>
            </a:lvl8pPr>
            <a:lvl9pPr marL="0" marR="0" lvl="8" indent="0" algn="r">
              <a:spcBef>
                <a:spcPts val="0"/>
              </a:spcBef>
              <a:buNone/>
              <a:defRPr sz="9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LOSING_DARK">
  <p:cSld name="CLOSING_DARK">
    <p:bg>
      <p:bgPr>
        <a:solidFill>
          <a:schemeClr val="dk1"/>
        </a:solidFill>
        <a:effectLst/>
      </p:bgPr>
    </p:bg>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57200" y="274320"/>
            <a:ext cx="8229600" cy="68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3000"/>
              <a:buFont typeface="Cambria"/>
              <a:buNone/>
              <a:defRPr sz="3000" b="1" i="0" u="none" strike="noStrike" cap="non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 name="Google Shape;24;p5"/>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900" b="0" i="0" u="none" strike="noStrike" cap="none">
                <a:solidFill>
                  <a:schemeClr val="accent3"/>
                </a:solidFill>
                <a:latin typeface="Calibri"/>
                <a:ea typeface="Calibri"/>
                <a:cs typeface="Calibri"/>
                <a:sym typeface="Calibri"/>
              </a:defRPr>
            </a:lvl1pPr>
            <a:lvl2pPr marL="0" marR="0" lvl="1" indent="0" algn="r">
              <a:spcBef>
                <a:spcPts val="0"/>
              </a:spcBef>
              <a:buNone/>
              <a:defRPr sz="900" b="0" i="0" u="none" strike="noStrike" cap="none">
                <a:solidFill>
                  <a:schemeClr val="accent3"/>
                </a:solidFill>
                <a:latin typeface="Calibri"/>
                <a:ea typeface="Calibri"/>
                <a:cs typeface="Calibri"/>
                <a:sym typeface="Calibri"/>
              </a:defRPr>
            </a:lvl2pPr>
            <a:lvl3pPr marL="0" marR="0" lvl="2" indent="0" algn="r">
              <a:spcBef>
                <a:spcPts val="0"/>
              </a:spcBef>
              <a:buNone/>
              <a:defRPr sz="900" b="0" i="0" u="none" strike="noStrike" cap="none">
                <a:solidFill>
                  <a:schemeClr val="accent3"/>
                </a:solidFill>
                <a:latin typeface="Calibri"/>
                <a:ea typeface="Calibri"/>
                <a:cs typeface="Calibri"/>
                <a:sym typeface="Calibri"/>
              </a:defRPr>
            </a:lvl3pPr>
            <a:lvl4pPr marL="0" marR="0" lvl="3" indent="0" algn="r">
              <a:spcBef>
                <a:spcPts val="0"/>
              </a:spcBef>
              <a:buNone/>
              <a:defRPr sz="900" b="0" i="0" u="none" strike="noStrike" cap="none">
                <a:solidFill>
                  <a:schemeClr val="accent3"/>
                </a:solidFill>
                <a:latin typeface="Calibri"/>
                <a:ea typeface="Calibri"/>
                <a:cs typeface="Calibri"/>
                <a:sym typeface="Calibri"/>
              </a:defRPr>
            </a:lvl4pPr>
            <a:lvl5pPr marL="0" marR="0" lvl="4" indent="0" algn="r">
              <a:spcBef>
                <a:spcPts val="0"/>
              </a:spcBef>
              <a:buNone/>
              <a:defRPr sz="900" b="0" i="0" u="none" strike="noStrike" cap="none">
                <a:solidFill>
                  <a:schemeClr val="accent3"/>
                </a:solidFill>
                <a:latin typeface="Calibri"/>
                <a:ea typeface="Calibri"/>
                <a:cs typeface="Calibri"/>
                <a:sym typeface="Calibri"/>
              </a:defRPr>
            </a:lvl5pPr>
            <a:lvl6pPr marL="0" marR="0" lvl="5" indent="0" algn="r">
              <a:spcBef>
                <a:spcPts val="0"/>
              </a:spcBef>
              <a:buNone/>
              <a:defRPr sz="900" b="0" i="0" u="none" strike="noStrike" cap="none">
                <a:solidFill>
                  <a:schemeClr val="accent3"/>
                </a:solidFill>
                <a:latin typeface="Calibri"/>
                <a:ea typeface="Calibri"/>
                <a:cs typeface="Calibri"/>
                <a:sym typeface="Calibri"/>
              </a:defRPr>
            </a:lvl6pPr>
            <a:lvl7pPr marL="0" marR="0" lvl="6" indent="0" algn="r">
              <a:spcBef>
                <a:spcPts val="0"/>
              </a:spcBef>
              <a:buNone/>
              <a:defRPr sz="900" b="0" i="0" u="none" strike="noStrike" cap="none">
                <a:solidFill>
                  <a:schemeClr val="accent3"/>
                </a:solidFill>
                <a:latin typeface="Calibri"/>
                <a:ea typeface="Calibri"/>
                <a:cs typeface="Calibri"/>
                <a:sym typeface="Calibri"/>
              </a:defRPr>
            </a:lvl7pPr>
            <a:lvl8pPr marL="0" marR="0" lvl="7" indent="0" algn="r">
              <a:spcBef>
                <a:spcPts val="0"/>
              </a:spcBef>
              <a:buNone/>
              <a:defRPr sz="900" b="0" i="0" u="none" strike="noStrike" cap="none">
                <a:solidFill>
                  <a:schemeClr val="accent3"/>
                </a:solidFill>
                <a:latin typeface="Calibri"/>
                <a:ea typeface="Calibri"/>
                <a:cs typeface="Calibri"/>
                <a:sym typeface="Calibri"/>
              </a:defRPr>
            </a:lvl8pPr>
            <a:lvl9pPr marL="0" marR="0" lvl="8" indent="0" algn="r">
              <a:spcBef>
                <a:spcPts val="0"/>
              </a:spcBef>
              <a:buNone/>
              <a:defRPr sz="9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900" b="0" i="0" u="none" strike="noStrike" cap="none">
                <a:solidFill>
                  <a:schemeClr val="accent3"/>
                </a:solidFill>
                <a:latin typeface="Calibri"/>
                <a:ea typeface="Calibri"/>
                <a:cs typeface="Calibri"/>
                <a:sym typeface="Calibri"/>
              </a:defRPr>
            </a:lvl1pPr>
            <a:lvl2pPr marL="0" marR="0" lvl="1" indent="0" algn="r" rtl="0">
              <a:spcBef>
                <a:spcPts val="0"/>
              </a:spcBef>
              <a:buNone/>
              <a:defRPr sz="900" b="0" i="0" u="none" strike="noStrike" cap="none">
                <a:solidFill>
                  <a:schemeClr val="accent3"/>
                </a:solidFill>
                <a:latin typeface="Calibri"/>
                <a:ea typeface="Calibri"/>
                <a:cs typeface="Calibri"/>
                <a:sym typeface="Calibri"/>
              </a:defRPr>
            </a:lvl2pPr>
            <a:lvl3pPr marL="0" marR="0" lvl="2" indent="0" algn="r" rtl="0">
              <a:spcBef>
                <a:spcPts val="0"/>
              </a:spcBef>
              <a:buNone/>
              <a:defRPr sz="900" b="0" i="0" u="none" strike="noStrike" cap="none">
                <a:solidFill>
                  <a:schemeClr val="accent3"/>
                </a:solidFill>
                <a:latin typeface="Calibri"/>
                <a:ea typeface="Calibri"/>
                <a:cs typeface="Calibri"/>
                <a:sym typeface="Calibri"/>
              </a:defRPr>
            </a:lvl3pPr>
            <a:lvl4pPr marL="0" marR="0" lvl="3" indent="0" algn="r" rtl="0">
              <a:spcBef>
                <a:spcPts val="0"/>
              </a:spcBef>
              <a:buNone/>
              <a:defRPr sz="900" b="0" i="0" u="none" strike="noStrike" cap="none">
                <a:solidFill>
                  <a:schemeClr val="accent3"/>
                </a:solidFill>
                <a:latin typeface="Calibri"/>
                <a:ea typeface="Calibri"/>
                <a:cs typeface="Calibri"/>
                <a:sym typeface="Calibri"/>
              </a:defRPr>
            </a:lvl4pPr>
            <a:lvl5pPr marL="0" marR="0" lvl="4" indent="0" algn="r" rtl="0">
              <a:spcBef>
                <a:spcPts val="0"/>
              </a:spcBef>
              <a:buNone/>
              <a:defRPr sz="900" b="0" i="0" u="none" strike="noStrike" cap="none">
                <a:solidFill>
                  <a:schemeClr val="accent3"/>
                </a:solidFill>
                <a:latin typeface="Calibri"/>
                <a:ea typeface="Calibri"/>
                <a:cs typeface="Calibri"/>
                <a:sym typeface="Calibri"/>
              </a:defRPr>
            </a:lvl5pPr>
            <a:lvl6pPr marL="0" marR="0" lvl="5" indent="0" algn="r" rtl="0">
              <a:spcBef>
                <a:spcPts val="0"/>
              </a:spcBef>
              <a:buNone/>
              <a:defRPr sz="900" b="0" i="0" u="none" strike="noStrike" cap="none">
                <a:solidFill>
                  <a:schemeClr val="accent3"/>
                </a:solidFill>
                <a:latin typeface="Calibri"/>
                <a:ea typeface="Calibri"/>
                <a:cs typeface="Calibri"/>
                <a:sym typeface="Calibri"/>
              </a:defRPr>
            </a:lvl6pPr>
            <a:lvl7pPr marL="0" marR="0" lvl="6" indent="0" algn="r" rtl="0">
              <a:spcBef>
                <a:spcPts val="0"/>
              </a:spcBef>
              <a:buNone/>
              <a:defRPr sz="900" b="0" i="0" u="none" strike="noStrike" cap="none">
                <a:solidFill>
                  <a:schemeClr val="accent3"/>
                </a:solidFill>
                <a:latin typeface="Calibri"/>
                <a:ea typeface="Calibri"/>
                <a:cs typeface="Calibri"/>
                <a:sym typeface="Calibri"/>
              </a:defRPr>
            </a:lvl7pPr>
            <a:lvl8pPr marL="0" marR="0" lvl="7" indent="0" algn="r" rtl="0">
              <a:spcBef>
                <a:spcPts val="0"/>
              </a:spcBef>
              <a:buNone/>
              <a:defRPr sz="900" b="0" i="0" u="none" strike="noStrike" cap="none">
                <a:solidFill>
                  <a:schemeClr val="accent3"/>
                </a:solidFill>
                <a:latin typeface="Calibri"/>
                <a:ea typeface="Calibri"/>
                <a:cs typeface="Calibri"/>
                <a:sym typeface="Calibri"/>
              </a:defRPr>
            </a:lvl8pPr>
            <a:lvl9pPr marL="0" marR="0" lvl="8" indent="0" algn="r" rtl="0">
              <a:spcBef>
                <a:spcPts val="0"/>
              </a:spcBef>
              <a:buNone/>
              <a:defRPr sz="900" b="0" i="0" u="none" strike="noStrike" cap="none">
                <a:solidFill>
                  <a:schemeClr val="accent3"/>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548640" y="1143000"/>
            <a:ext cx="5120640" cy="13716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chemeClr val="lt1"/>
              </a:buClr>
              <a:buSzPts val="3800"/>
              <a:buFont typeface="Cambria"/>
              <a:buNone/>
            </a:pPr>
            <a:r>
              <a:rPr lang="en-US" sz="3800" b="1">
                <a:solidFill>
                  <a:schemeClr val="lt1"/>
                </a:solidFill>
                <a:latin typeface="Cambria"/>
                <a:ea typeface="Cambria"/>
                <a:cs typeface="Cambria"/>
                <a:sym typeface="Cambria"/>
              </a:rPr>
              <a:t>Reviving Institutional Knowledge</a:t>
            </a:r>
            <a:endParaRPr sz="3800"/>
          </a:p>
        </p:txBody>
      </p:sp>
      <p:sp>
        <p:nvSpPr>
          <p:cNvPr id="32" name="Google Shape;32;p7"/>
          <p:cNvSpPr txBox="1">
            <a:spLocks noGrp="1"/>
          </p:cNvSpPr>
          <p:nvPr>
            <p:ph type="body" idx="1"/>
          </p:nvPr>
        </p:nvSpPr>
        <p:spPr>
          <a:xfrm>
            <a:off x="548640" y="2651760"/>
            <a:ext cx="5120640" cy="82296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800"/>
              <a:buNone/>
            </a:pPr>
            <a:r>
              <a:rPr lang="en-US" sz="1800">
                <a:solidFill>
                  <a:schemeClr val="accent1"/>
                </a:solidFill>
              </a:rPr>
              <a:t>LLM-generated documentation for legacy SAS® production code</a:t>
            </a:r>
            <a:endParaRPr sz="1800"/>
          </a:p>
        </p:txBody>
      </p:sp>
      <p:sp>
        <p:nvSpPr>
          <p:cNvPr id="33" name="Google Shape;33;p7"/>
          <p:cNvSpPr txBox="1"/>
          <p:nvPr/>
        </p:nvSpPr>
        <p:spPr>
          <a:xfrm>
            <a:off x="548640" y="3611880"/>
            <a:ext cx="51206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200" b="1" i="0" u="none" strike="noStrike" cap="none">
                <a:solidFill>
                  <a:schemeClr val="accent3"/>
                </a:solidFill>
                <a:latin typeface="Calibri"/>
                <a:ea typeface="Calibri"/>
                <a:cs typeface="Calibri"/>
                <a:sym typeface="Calibri"/>
              </a:rPr>
              <a:t>Patrick Long &amp; Brandon Harris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Office of Employment and Unemployment Statistics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U.S. Bureau of Labor Statistics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SEASUG 2026 · Paper 102-2026</a:t>
            </a:r>
            <a:endParaRPr sz="1200" b="0" i="0" u="none" strike="noStrike" cap="none">
              <a:solidFill>
                <a:schemeClr val="dk1"/>
              </a:solidFill>
              <a:latin typeface="Calibri"/>
              <a:ea typeface="Calibri"/>
              <a:cs typeface="Calibri"/>
              <a:sym typeface="Calibri"/>
            </a:endParaRPr>
          </a:p>
        </p:txBody>
      </p:sp>
      <p:sp>
        <p:nvSpPr>
          <p:cNvPr id="34" name="Google Shape;34;p7"/>
          <p:cNvSpPr/>
          <p:nvPr/>
        </p:nvSpPr>
        <p:spPr>
          <a:xfrm>
            <a:off x="6126480" y="1097280"/>
            <a:ext cx="2560320" cy="256032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7" descr="open book icon"/>
          <p:cNvPicPr preferRelativeResize="0"/>
          <p:nvPr/>
        </p:nvPicPr>
        <p:blipFill rotWithShape="1">
          <a:blip r:embed="rId3">
            <a:alphaModFix/>
          </a:blip>
          <a:srcRect/>
          <a:stretch/>
        </p:blipFill>
        <p:spPr>
          <a:xfrm>
            <a:off x="6720840" y="1691640"/>
            <a:ext cx="1371600" cy="1371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Code we run but no longer understand</a:t>
            </a:r>
            <a:endParaRPr sz="3000"/>
          </a:p>
        </p:txBody>
      </p:sp>
      <p:sp>
        <p:nvSpPr>
          <p:cNvPr id="42" name="Google Shape;42;p8"/>
          <p:cNvSpPr/>
          <p:nvPr/>
        </p:nvSpPr>
        <p:spPr>
          <a:xfrm>
            <a:off x="457200" y="123444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 name="Google Shape;43;p8" descr="icon"/>
          <p:cNvPicPr preferRelativeResize="0"/>
          <p:nvPr/>
        </p:nvPicPr>
        <p:blipFill rotWithShape="1">
          <a:blip r:embed="rId3">
            <a:alphaModFix/>
          </a:blip>
          <a:srcRect/>
          <a:stretch/>
        </p:blipFill>
        <p:spPr>
          <a:xfrm>
            <a:off x="598018" y="1375258"/>
            <a:ext cx="358445" cy="358445"/>
          </a:xfrm>
          <a:prstGeom prst="rect">
            <a:avLst/>
          </a:prstGeom>
          <a:noFill/>
          <a:ln>
            <a:noFill/>
          </a:ln>
        </p:spPr>
      </p:pic>
      <p:sp>
        <p:nvSpPr>
          <p:cNvPr id="44" name="Google Shape;44;p8"/>
          <p:cNvSpPr txBox="1"/>
          <p:nvPr/>
        </p:nvSpPr>
        <p:spPr>
          <a:xfrm>
            <a:off x="1325880" y="123444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Macro variables</a:t>
            </a:r>
            <a:endParaRPr sz="1600" b="0" i="0" u="none" strike="noStrike" cap="none">
              <a:solidFill>
                <a:schemeClr val="dk1"/>
              </a:solidFill>
              <a:latin typeface="Calibri"/>
              <a:ea typeface="Calibri"/>
              <a:cs typeface="Calibri"/>
              <a:sym typeface="Calibri"/>
            </a:endParaRPr>
          </a:p>
        </p:txBody>
      </p:sp>
      <p:sp>
        <p:nvSpPr>
          <p:cNvPr id="45" name="Google Shape;45;p8"/>
          <p:cNvSpPr txBox="1"/>
          <p:nvPr/>
        </p:nvSpPr>
        <p:spPr>
          <a:xfrm>
            <a:off x="1325880" y="1563624"/>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Purpose inferable only from their downstream effect</a:t>
            </a:r>
            <a:endParaRPr sz="1400" b="0" i="0" u="none" strike="noStrike" cap="none">
              <a:solidFill>
                <a:schemeClr val="dk1"/>
              </a:solidFill>
              <a:latin typeface="Calibri"/>
              <a:ea typeface="Calibri"/>
              <a:cs typeface="Calibri"/>
              <a:sym typeface="Calibri"/>
            </a:endParaRPr>
          </a:p>
        </p:txBody>
      </p:sp>
      <p:sp>
        <p:nvSpPr>
          <p:cNvPr id="46" name="Google Shape;46;p8"/>
          <p:cNvSpPr/>
          <p:nvPr/>
        </p:nvSpPr>
        <p:spPr>
          <a:xfrm>
            <a:off x="457200" y="228600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7" name="Google Shape;47;p8" descr="icon"/>
          <p:cNvPicPr preferRelativeResize="0"/>
          <p:nvPr/>
        </p:nvPicPr>
        <p:blipFill rotWithShape="1">
          <a:blip r:embed="rId4">
            <a:alphaModFix/>
          </a:blip>
          <a:srcRect/>
          <a:stretch/>
        </p:blipFill>
        <p:spPr>
          <a:xfrm>
            <a:off x="598018" y="2426818"/>
            <a:ext cx="358445" cy="358445"/>
          </a:xfrm>
          <a:prstGeom prst="rect">
            <a:avLst/>
          </a:prstGeom>
          <a:noFill/>
          <a:ln>
            <a:noFill/>
          </a:ln>
        </p:spPr>
      </p:pic>
      <p:sp>
        <p:nvSpPr>
          <p:cNvPr id="48" name="Google Shape;48;p8"/>
          <p:cNvSpPr txBox="1"/>
          <p:nvPr/>
        </p:nvSpPr>
        <p:spPr>
          <a:xfrm>
            <a:off x="1325880" y="228600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Names and lineage</a:t>
            </a:r>
            <a:endParaRPr sz="1600" b="0" i="0" u="none" strike="noStrike" cap="none">
              <a:solidFill>
                <a:schemeClr val="dk1"/>
              </a:solidFill>
              <a:latin typeface="Calibri"/>
              <a:ea typeface="Calibri"/>
              <a:cs typeface="Calibri"/>
              <a:sym typeface="Calibri"/>
            </a:endParaRPr>
          </a:p>
        </p:txBody>
      </p:sp>
      <p:sp>
        <p:nvSpPr>
          <p:cNvPr id="49" name="Google Shape;49;p8"/>
          <p:cNvSpPr txBox="1"/>
          <p:nvPr/>
        </p:nvSpPr>
        <p:spPr>
          <a:xfrm>
            <a:off x="1325880" y="2615184"/>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EMPL, EM, _t2: data set and column history lives as folklore</a:t>
            </a:r>
            <a:endParaRPr sz="1400" b="0" i="0" u="none" strike="noStrike" cap="none">
              <a:solidFill>
                <a:schemeClr val="dk1"/>
              </a:solidFill>
              <a:latin typeface="Calibri"/>
              <a:ea typeface="Calibri"/>
              <a:cs typeface="Calibri"/>
              <a:sym typeface="Calibri"/>
            </a:endParaRPr>
          </a:p>
        </p:txBody>
      </p:sp>
      <p:sp>
        <p:nvSpPr>
          <p:cNvPr id="50" name="Google Shape;50;p8"/>
          <p:cNvSpPr/>
          <p:nvPr/>
        </p:nvSpPr>
        <p:spPr>
          <a:xfrm>
            <a:off x="457200" y="333756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oogle Shape;51;p8" descr="icon"/>
          <p:cNvPicPr preferRelativeResize="0"/>
          <p:nvPr/>
        </p:nvPicPr>
        <p:blipFill rotWithShape="1">
          <a:blip r:embed="rId5">
            <a:alphaModFix/>
          </a:blip>
          <a:srcRect/>
          <a:stretch/>
        </p:blipFill>
        <p:spPr>
          <a:xfrm>
            <a:off x="598018" y="3478378"/>
            <a:ext cx="358445" cy="358445"/>
          </a:xfrm>
          <a:prstGeom prst="rect">
            <a:avLst/>
          </a:prstGeom>
          <a:noFill/>
          <a:ln>
            <a:noFill/>
          </a:ln>
        </p:spPr>
      </p:pic>
      <p:sp>
        <p:nvSpPr>
          <p:cNvPr id="52" name="Google Shape;52;p8"/>
          <p:cNvSpPr txBox="1"/>
          <p:nvPr/>
        </p:nvSpPr>
        <p:spPr>
          <a:xfrm>
            <a:off x="1325880" y="3337560"/>
            <a:ext cx="420624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The last expert retires</a:t>
            </a:r>
            <a:endParaRPr sz="1600" b="0" i="0" u="none" strike="noStrike" cap="none">
              <a:solidFill>
                <a:schemeClr val="dk1"/>
              </a:solidFill>
              <a:latin typeface="Calibri"/>
              <a:ea typeface="Calibri"/>
              <a:cs typeface="Calibri"/>
              <a:sym typeface="Calibri"/>
            </a:endParaRPr>
          </a:p>
        </p:txBody>
      </p:sp>
      <p:sp>
        <p:nvSpPr>
          <p:cNvPr id="53" name="Google Shape;53;p8"/>
          <p:cNvSpPr txBox="1"/>
          <p:nvPr/>
        </p:nvSpPr>
        <p:spPr>
          <a:xfrm>
            <a:off x="1325880" y="3666744"/>
            <a:ext cx="420624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The code becomes something we operate, not something we understand</a:t>
            </a:r>
            <a:endParaRPr sz="1400" b="0" i="0" u="none" strike="noStrike" cap="none">
              <a:solidFill>
                <a:schemeClr val="dk1"/>
              </a:solidFill>
              <a:latin typeface="Calibri"/>
              <a:ea typeface="Calibri"/>
              <a:cs typeface="Calibri"/>
              <a:sym typeface="Calibri"/>
            </a:endParaRPr>
          </a:p>
        </p:txBody>
      </p:sp>
      <p:sp>
        <p:nvSpPr>
          <p:cNvPr id="54" name="Google Shape;54;p8"/>
          <p:cNvSpPr/>
          <p:nvPr/>
        </p:nvSpPr>
        <p:spPr>
          <a:xfrm>
            <a:off x="5943600" y="1234440"/>
            <a:ext cx="2743200" cy="2971800"/>
          </a:xfrm>
          <a:prstGeom prst="roundRect">
            <a:avLst>
              <a:gd name="adj" fmla="val 2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8"/>
          <p:cNvSpPr txBox="1"/>
          <p:nvPr/>
        </p:nvSpPr>
        <p:spPr>
          <a:xfrm>
            <a:off x="6126480" y="1554480"/>
            <a:ext cx="237744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1"/>
              </a:buClr>
              <a:buSzPts val="5400"/>
              <a:buFont typeface="Cambria"/>
              <a:buNone/>
            </a:pPr>
            <a:r>
              <a:rPr lang="en-US" sz="5400" b="1" i="0" u="none" strike="noStrike" cap="none">
                <a:solidFill>
                  <a:schemeClr val="accent1"/>
                </a:solidFill>
                <a:latin typeface="Cambria"/>
                <a:ea typeface="Cambria"/>
                <a:cs typeface="Cambria"/>
                <a:sym typeface="Cambria"/>
              </a:rPr>
              <a:t>20 yrs</a:t>
            </a:r>
            <a:endParaRPr sz="5400" b="0" i="0" u="none" strike="noStrike" cap="none">
              <a:solidFill>
                <a:schemeClr val="dk1"/>
              </a:solidFill>
              <a:latin typeface="Calibri"/>
              <a:ea typeface="Calibri"/>
              <a:cs typeface="Calibri"/>
              <a:sym typeface="Calibri"/>
            </a:endParaRPr>
          </a:p>
        </p:txBody>
      </p:sp>
      <p:sp>
        <p:nvSpPr>
          <p:cNvPr id="56" name="Google Shape;56;p8"/>
          <p:cNvSpPr txBox="1"/>
          <p:nvPr/>
        </p:nvSpPr>
        <p:spPr>
          <a:xfrm>
            <a:off x="6172200" y="2606040"/>
            <a:ext cx="2286000" cy="12801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of monthly production runs, and the macros still work. The output still validates.</a:t>
            </a:r>
            <a:endParaRPr sz="1400" b="0" i="0" u="none" strike="noStrike" cap="none">
              <a:solidFill>
                <a:schemeClr val="dk1"/>
              </a:solidFill>
              <a:latin typeface="Calibri"/>
              <a:ea typeface="Calibri"/>
              <a:cs typeface="Calibri"/>
              <a:sym typeface="Calibri"/>
            </a:endParaRPr>
          </a:p>
        </p:txBody>
      </p:sp>
      <p:sp>
        <p:nvSpPr>
          <p:cNvPr id="57" name="Google Shape;57;p8"/>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0"/>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dirty="0">
                <a:solidFill>
                  <a:schemeClr val="dk1"/>
                </a:solidFill>
                <a:latin typeface="Cambria"/>
                <a:ea typeface="Cambria"/>
                <a:cs typeface="Cambria"/>
                <a:sym typeface="Cambria"/>
              </a:rPr>
              <a:t>Roadmap</a:t>
            </a:r>
            <a:endParaRPr sz="3000" dirty="0"/>
          </a:p>
        </p:txBody>
      </p:sp>
      <p:sp>
        <p:nvSpPr>
          <p:cNvPr id="85" name="Google Shape;85;p10"/>
          <p:cNvSpPr/>
          <p:nvPr/>
        </p:nvSpPr>
        <p:spPr>
          <a:xfrm>
            <a:off x="457200" y="1463040"/>
            <a:ext cx="1517904" cy="2286000"/>
          </a:xfrm>
          <a:prstGeom prst="roundRect">
            <a:avLst>
              <a:gd name="adj" fmla="val 481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0"/>
          <p:cNvSpPr txBox="1"/>
          <p:nvPr/>
        </p:nvSpPr>
        <p:spPr>
          <a:xfrm>
            <a:off x="640080"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4000"/>
              <a:buFont typeface="Cambria"/>
              <a:buNone/>
            </a:pPr>
            <a:r>
              <a:rPr lang="en-US" sz="4000" b="1" i="0" u="none" strike="noStrike" cap="none">
                <a:solidFill>
                  <a:schemeClr val="accent2"/>
                </a:solidFill>
                <a:latin typeface="Cambria"/>
                <a:ea typeface="Cambria"/>
                <a:cs typeface="Cambria"/>
                <a:sym typeface="Cambria"/>
              </a:rPr>
              <a:t>1</a:t>
            </a:r>
            <a:endParaRPr sz="4000" b="0" i="0" u="none" strike="noStrike" cap="none">
              <a:solidFill>
                <a:schemeClr val="dk1"/>
              </a:solidFill>
              <a:latin typeface="Calibri"/>
              <a:ea typeface="Calibri"/>
              <a:cs typeface="Calibri"/>
              <a:sym typeface="Calibri"/>
            </a:endParaRPr>
          </a:p>
        </p:txBody>
      </p:sp>
      <p:sp>
        <p:nvSpPr>
          <p:cNvPr id="87" name="Google Shape;87;p10"/>
          <p:cNvSpPr txBox="1"/>
          <p:nvPr/>
        </p:nvSpPr>
        <p:spPr>
          <a:xfrm>
            <a:off x="594360"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Defining documentation</a:t>
            </a:r>
            <a:endParaRPr sz="1400" b="0" i="0" u="none" strike="noStrike" cap="none">
              <a:solidFill>
                <a:schemeClr val="dk1"/>
              </a:solidFill>
              <a:latin typeface="Calibri"/>
              <a:ea typeface="Calibri"/>
              <a:cs typeface="Calibri"/>
              <a:sym typeface="Calibri"/>
            </a:endParaRPr>
          </a:p>
        </p:txBody>
      </p:sp>
      <p:sp>
        <p:nvSpPr>
          <p:cNvPr id="88" name="Google Shape;88;p10"/>
          <p:cNvSpPr/>
          <p:nvPr/>
        </p:nvSpPr>
        <p:spPr>
          <a:xfrm>
            <a:off x="2139696" y="1463040"/>
            <a:ext cx="1517904" cy="2286000"/>
          </a:xfrm>
          <a:prstGeom prst="roundRect">
            <a:avLst>
              <a:gd name="adj" fmla="val 481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0"/>
          <p:cNvSpPr txBox="1"/>
          <p:nvPr/>
        </p:nvSpPr>
        <p:spPr>
          <a:xfrm>
            <a:off x="2322576"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4000"/>
              <a:buFont typeface="Cambria"/>
              <a:buNone/>
            </a:pPr>
            <a:r>
              <a:rPr lang="en-US" sz="4000" b="1" i="0" u="none" strike="noStrike" cap="none">
                <a:solidFill>
                  <a:schemeClr val="accent2"/>
                </a:solidFill>
                <a:latin typeface="Cambria"/>
                <a:ea typeface="Cambria"/>
                <a:cs typeface="Cambria"/>
                <a:sym typeface="Cambria"/>
              </a:rPr>
              <a:t>2</a:t>
            </a:r>
            <a:endParaRPr sz="4000" b="0" i="0" u="none" strike="noStrike" cap="none">
              <a:solidFill>
                <a:schemeClr val="dk1"/>
              </a:solidFill>
              <a:latin typeface="Calibri"/>
              <a:ea typeface="Calibri"/>
              <a:cs typeface="Calibri"/>
              <a:sym typeface="Calibri"/>
            </a:endParaRPr>
          </a:p>
        </p:txBody>
      </p:sp>
      <p:sp>
        <p:nvSpPr>
          <p:cNvPr id="90" name="Google Shape;90;p10"/>
          <p:cNvSpPr txBox="1"/>
          <p:nvPr/>
        </p:nvSpPr>
        <p:spPr>
          <a:xfrm>
            <a:off x="2276856"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Architecture: SAS stays in charge</a:t>
            </a:r>
            <a:endParaRPr sz="1400" b="0" i="0" u="none" strike="noStrike" cap="none">
              <a:solidFill>
                <a:schemeClr val="dk1"/>
              </a:solidFill>
              <a:latin typeface="Calibri"/>
              <a:ea typeface="Calibri"/>
              <a:cs typeface="Calibri"/>
              <a:sym typeface="Calibri"/>
            </a:endParaRPr>
          </a:p>
        </p:txBody>
      </p:sp>
      <p:sp>
        <p:nvSpPr>
          <p:cNvPr id="91" name="Google Shape;91;p10"/>
          <p:cNvSpPr/>
          <p:nvPr/>
        </p:nvSpPr>
        <p:spPr>
          <a:xfrm>
            <a:off x="3822192" y="1463040"/>
            <a:ext cx="1517904" cy="2286000"/>
          </a:xfrm>
          <a:prstGeom prst="roundRect">
            <a:avLst>
              <a:gd name="adj" fmla="val 481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0"/>
          <p:cNvSpPr txBox="1"/>
          <p:nvPr/>
        </p:nvSpPr>
        <p:spPr>
          <a:xfrm>
            <a:off x="4005072"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4000"/>
              <a:buFont typeface="Cambria"/>
              <a:buNone/>
            </a:pPr>
            <a:r>
              <a:rPr lang="en-US" sz="4000" b="1" i="0" u="none" strike="noStrike" cap="none">
                <a:solidFill>
                  <a:schemeClr val="lt1"/>
                </a:solidFill>
                <a:latin typeface="Cambria"/>
                <a:ea typeface="Cambria"/>
                <a:cs typeface="Cambria"/>
                <a:sym typeface="Cambria"/>
              </a:rPr>
              <a:t>3</a:t>
            </a:r>
            <a:endParaRPr sz="4000" b="0" i="0" u="none" strike="noStrike" cap="none">
              <a:solidFill>
                <a:schemeClr val="dk1"/>
              </a:solidFill>
              <a:latin typeface="Calibri"/>
              <a:ea typeface="Calibri"/>
              <a:cs typeface="Calibri"/>
              <a:sym typeface="Calibri"/>
            </a:endParaRPr>
          </a:p>
        </p:txBody>
      </p:sp>
      <p:sp>
        <p:nvSpPr>
          <p:cNvPr id="93" name="Google Shape;93;p10"/>
          <p:cNvSpPr txBox="1"/>
          <p:nvPr/>
        </p:nvSpPr>
        <p:spPr>
          <a:xfrm>
            <a:off x="3959352"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Three configurations + QLoRA deep dive</a:t>
            </a:r>
            <a:endParaRPr sz="1400" b="0" i="0" u="none" strike="noStrike" cap="none">
              <a:solidFill>
                <a:schemeClr val="dk1"/>
              </a:solidFill>
              <a:latin typeface="Calibri"/>
              <a:ea typeface="Calibri"/>
              <a:cs typeface="Calibri"/>
              <a:sym typeface="Calibri"/>
            </a:endParaRPr>
          </a:p>
        </p:txBody>
      </p:sp>
      <p:sp>
        <p:nvSpPr>
          <p:cNvPr id="94" name="Google Shape;94;p10"/>
          <p:cNvSpPr/>
          <p:nvPr/>
        </p:nvSpPr>
        <p:spPr>
          <a:xfrm>
            <a:off x="5504688" y="1463040"/>
            <a:ext cx="1517904" cy="2286000"/>
          </a:xfrm>
          <a:prstGeom prst="roundRect">
            <a:avLst>
              <a:gd name="adj" fmla="val 481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0"/>
          <p:cNvSpPr txBox="1"/>
          <p:nvPr/>
        </p:nvSpPr>
        <p:spPr>
          <a:xfrm>
            <a:off x="5687568"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4000"/>
              <a:buFont typeface="Cambria"/>
              <a:buNone/>
            </a:pPr>
            <a:r>
              <a:rPr lang="en-US" sz="4000" b="1" i="0" u="none" strike="noStrike" cap="none">
                <a:solidFill>
                  <a:schemeClr val="accent2"/>
                </a:solidFill>
                <a:latin typeface="Cambria"/>
                <a:ea typeface="Cambria"/>
                <a:cs typeface="Cambria"/>
                <a:sym typeface="Cambria"/>
              </a:rPr>
              <a:t>4</a:t>
            </a:r>
            <a:endParaRPr sz="4000" b="0" i="0" u="none" strike="noStrike" cap="none">
              <a:solidFill>
                <a:schemeClr val="dk1"/>
              </a:solidFill>
              <a:latin typeface="Calibri"/>
              <a:ea typeface="Calibri"/>
              <a:cs typeface="Calibri"/>
              <a:sym typeface="Calibri"/>
            </a:endParaRPr>
          </a:p>
        </p:txBody>
      </p:sp>
      <p:sp>
        <p:nvSpPr>
          <p:cNvPr id="96" name="Google Shape;96;p10"/>
          <p:cNvSpPr txBox="1"/>
          <p:nvPr/>
        </p:nvSpPr>
        <p:spPr>
          <a:xfrm>
            <a:off x="5641848"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Evaluation and results</a:t>
            </a:r>
            <a:endParaRPr sz="1400" b="0" i="0" u="none" strike="noStrike" cap="none">
              <a:solidFill>
                <a:schemeClr val="dk1"/>
              </a:solidFill>
              <a:latin typeface="Calibri"/>
              <a:ea typeface="Calibri"/>
              <a:cs typeface="Calibri"/>
              <a:sym typeface="Calibri"/>
            </a:endParaRPr>
          </a:p>
        </p:txBody>
      </p:sp>
      <p:sp>
        <p:nvSpPr>
          <p:cNvPr id="97" name="Google Shape;97;p10"/>
          <p:cNvSpPr/>
          <p:nvPr/>
        </p:nvSpPr>
        <p:spPr>
          <a:xfrm>
            <a:off x="7187184" y="1463040"/>
            <a:ext cx="1517904" cy="2286000"/>
          </a:xfrm>
          <a:prstGeom prst="roundRect">
            <a:avLst>
              <a:gd name="adj" fmla="val 481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0"/>
          <p:cNvSpPr txBox="1"/>
          <p:nvPr/>
        </p:nvSpPr>
        <p:spPr>
          <a:xfrm>
            <a:off x="7370064" y="1645920"/>
            <a:ext cx="109728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4000"/>
              <a:buFont typeface="Cambria"/>
              <a:buNone/>
            </a:pPr>
            <a:r>
              <a:rPr lang="en-US" sz="4000" b="1" i="0" u="none" strike="noStrike" cap="none">
                <a:solidFill>
                  <a:schemeClr val="lt1"/>
                </a:solidFill>
                <a:latin typeface="Cambria"/>
                <a:ea typeface="Cambria"/>
                <a:cs typeface="Cambria"/>
                <a:sym typeface="Cambria"/>
              </a:rPr>
              <a:t>5</a:t>
            </a:r>
            <a:endParaRPr sz="4000" b="0" i="0" u="none" strike="noStrike" cap="none">
              <a:solidFill>
                <a:schemeClr val="dk1"/>
              </a:solidFill>
              <a:latin typeface="Calibri"/>
              <a:ea typeface="Calibri"/>
              <a:cs typeface="Calibri"/>
              <a:sym typeface="Calibri"/>
            </a:endParaRPr>
          </a:p>
        </p:txBody>
      </p:sp>
      <p:sp>
        <p:nvSpPr>
          <p:cNvPr id="99" name="Google Shape;99;p10"/>
          <p:cNvSpPr txBox="1"/>
          <p:nvPr/>
        </p:nvSpPr>
        <p:spPr>
          <a:xfrm>
            <a:off x="7324344" y="2468880"/>
            <a:ext cx="1271016" cy="11887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Next: the growing LoRA family</a:t>
            </a:r>
            <a:endParaRPr sz="1400" b="0" i="0" u="none" strike="noStrike" cap="none">
              <a:solidFill>
                <a:schemeClr val="dk1"/>
              </a:solidFill>
              <a:latin typeface="Calibri"/>
              <a:ea typeface="Calibri"/>
              <a:cs typeface="Calibri"/>
              <a:sym typeface="Calibri"/>
            </a:endParaRPr>
          </a:p>
        </p:txBody>
      </p:sp>
      <p:sp>
        <p:nvSpPr>
          <p:cNvPr id="100" name="Google Shape;100;p10"/>
          <p:cNvSpPr txBox="1"/>
          <p:nvPr/>
        </p:nvSpPr>
        <p:spPr>
          <a:xfrm>
            <a:off x="457200" y="3977640"/>
            <a:ext cx="82296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a:solidFill>
                  <a:schemeClr val="accent6"/>
                </a:solidFill>
                <a:latin typeface="Calibri"/>
                <a:ea typeface="Calibri"/>
                <a:cs typeface="Calibri"/>
                <a:sym typeface="Calibri"/>
              </a:rPr>
              <a:t>Highlighted: where we spend the most time</a:t>
            </a:r>
            <a:endParaRPr sz="1200" b="0" i="0" u="none" strike="noStrike" cap="none">
              <a:solidFill>
                <a:schemeClr val="dk1"/>
              </a:solidFill>
              <a:latin typeface="Calibri"/>
              <a:ea typeface="Calibri"/>
              <a:cs typeface="Calibri"/>
              <a:sym typeface="Calibri"/>
            </a:endParaRPr>
          </a:p>
        </p:txBody>
      </p:sp>
      <p:sp>
        <p:nvSpPr>
          <p:cNvPr id="101" name="Google Shape;101;p10"/>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3</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dirty="0">
                <a:solidFill>
                  <a:schemeClr val="dk1"/>
                </a:solidFill>
                <a:latin typeface="Cambria"/>
                <a:ea typeface="Cambria"/>
                <a:cs typeface="Cambria"/>
                <a:sym typeface="Cambria"/>
              </a:rPr>
              <a:t>Fluent is not the same as grounded </a:t>
            </a:r>
            <a:r>
              <a:rPr lang="en-US" sz="3000" b="1" dirty="0">
                <a:solidFill>
                  <a:schemeClr val="dk1"/>
                </a:solidFill>
                <a:highlight>
                  <a:srgbClr val="FFFF00"/>
                </a:highlight>
                <a:latin typeface="Cambria"/>
                <a:ea typeface="Cambria"/>
                <a:cs typeface="Cambria"/>
                <a:sym typeface="Cambria"/>
              </a:rPr>
              <a:t>(fix)</a:t>
            </a:r>
            <a:endParaRPr sz="3000" dirty="0">
              <a:highlight>
                <a:srgbClr val="FFFF00"/>
              </a:highlight>
            </a:endParaRPr>
          </a:p>
        </p:txBody>
      </p:sp>
      <p:sp>
        <p:nvSpPr>
          <p:cNvPr id="64" name="Google Shape;64;p9"/>
          <p:cNvSpPr/>
          <p:nvPr/>
        </p:nvSpPr>
        <p:spPr>
          <a:xfrm>
            <a:off x="457200" y="1188720"/>
            <a:ext cx="3931920" cy="2331720"/>
          </a:xfrm>
          <a:prstGeom prst="roundRect">
            <a:avLst>
              <a:gd name="adj" fmla="val 313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685800" y="1371600"/>
            <a:ext cx="457200" cy="45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 name="Google Shape;66;p9" descr="icon"/>
          <p:cNvPicPr preferRelativeResize="0"/>
          <p:nvPr/>
        </p:nvPicPr>
        <p:blipFill rotWithShape="1">
          <a:blip r:embed="rId3">
            <a:alphaModFix/>
          </a:blip>
          <a:srcRect/>
          <a:stretch/>
        </p:blipFill>
        <p:spPr>
          <a:xfrm>
            <a:off x="786384" y="1472184"/>
            <a:ext cx="256032" cy="256032"/>
          </a:xfrm>
          <a:prstGeom prst="rect">
            <a:avLst/>
          </a:prstGeom>
          <a:noFill/>
          <a:ln>
            <a:noFill/>
          </a:ln>
        </p:spPr>
      </p:pic>
      <p:sp>
        <p:nvSpPr>
          <p:cNvPr id="67" name="Google Shape;67;p9"/>
          <p:cNvSpPr txBox="1"/>
          <p:nvPr/>
        </p:nvSpPr>
        <p:spPr>
          <a:xfrm>
            <a:off x="1280160" y="1417320"/>
            <a:ext cx="2743200" cy="365760"/>
          </a:xfrm>
          <a:prstGeom prst="rect">
            <a:avLst/>
          </a:prstGeom>
          <a:noFill/>
          <a:ln>
            <a:noFill/>
          </a:ln>
        </p:spPr>
        <p:txBody>
          <a:bodyPr spcFirstLastPara="1" wrap="square" lIns="0" tIns="0" rIns="0" bIns="0" anchor="t" anchorCtr="0">
            <a:noAutofit/>
          </a:bodyPr>
          <a:lstStyle/>
          <a:p>
            <a:pPr lvl="0">
              <a:buClr>
                <a:schemeClr val="dk1"/>
              </a:buClr>
              <a:buSzPts val="1800"/>
            </a:pPr>
            <a:r>
              <a:rPr lang="en-US" sz="1800" b="1" i="0" u="none" strike="noStrike" cap="none" dirty="0">
                <a:solidFill>
                  <a:schemeClr val="dk1"/>
                </a:solidFill>
                <a:latin typeface="Calibri"/>
                <a:ea typeface="Calibri"/>
                <a:cs typeface="Calibri"/>
                <a:sym typeface="Calibri"/>
              </a:rPr>
              <a:t>Fluent </a:t>
            </a:r>
            <a:r>
              <a:rPr lang="en-US" sz="1800" b="1" dirty="0">
                <a:solidFill>
                  <a:schemeClr val="dk1"/>
                </a:solidFill>
                <a:highlight>
                  <a:srgbClr val="FFFF00"/>
                </a:highlight>
                <a:latin typeface="Cambria"/>
                <a:ea typeface="Cambria"/>
                <a:cs typeface="Cambria"/>
                <a:sym typeface="Cambria"/>
              </a:rPr>
              <a:t>(go amber  - useful but not all we want)</a:t>
            </a:r>
            <a:endParaRPr sz="1800" b="0" i="0" u="none" strike="noStrike" cap="none" dirty="0">
              <a:solidFill>
                <a:schemeClr val="dk1"/>
              </a:solidFill>
              <a:latin typeface="Calibri"/>
              <a:ea typeface="Calibri"/>
              <a:cs typeface="Calibri"/>
              <a:sym typeface="Calibri"/>
            </a:endParaRPr>
          </a:p>
        </p:txBody>
      </p:sp>
      <p:sp>
        <p:nvSpPr>
          <p:cNvPr id="68" name="Google Shape;68;p9"/>
          <p:cNvSpPr txBox="1"/>
          <p:nvPr/>
        </p:nvSpPr>
        <p:spPr>
          <a:xfrm>
            <a:off x="731520" y="2011680"/>
            <a:ext cx="34747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ourier New"/>
              <a:buNone/>
            </a:pPr>
            <a:r>
              <a:rPr lang="en-US" sz="1400" b="0" i="0" u="none" strike="noStrike" cap="none">
                <a:solidFill>
                  <a:schemeClr val="dk2"/>
                </a:solidFill>
                <a:latin typeface="Courier New"/>
                <a:ea typeface="Courier New"/>
                <a:cs typeface="Courier New"/>
                <a:sym typeface="Courier New"/>
              </a:rPr>
              <a:t>EMPL: Total employment level, seasonally adjusted, used as the denominator for rates.</a:t>
            </a:r>
            <a:endParaRPr sz="1400" b="0" i="0" u="none" strike="noStrike" cap="none">
              <a:solidFill>
                <a:schemeClr val="dk1"/>
              </a:solidFill>
              <a:latin typeface="Calibri"/>
              <a:ea typeface="Calibri"/>
              <a:cs typeface="Calibri"/>
              <a:sym typeface="Calibri"/>
            </a:endParaRPr>
          </a:p>
        </p:txBody>
      </p:sp>
      <p:sp>
        <p:nvSpPr>
          <p:cNvPr id="69" name="Google Shape;69;p9"/>
          <p:cNvSpPr txBox="1"/>
          <p:nvPr/>
        </p:nvSpPr>
        <p:spPr>
          <a:xfrm>
            <a:off x="731520" y="2926080"/>
            <a:ext cx="3474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1400"/>
              <a:buFont typeface="Calibri"/>
              <a:buNone/>
            </a:pPr>
            <a:r>
              <a:rPr lang="en-US" sz="1400" b="0" i="1" u="none" strike="noStrike" cap="none" dirty="0">
                <a:solidFill>
                  <a:schemeClr val="accent4"/>
                </a:solidFill>
                <a:latin typeface="Calibri"/>
                <a:ea typeface="Calibri"/>
                <a:cs typeface="Calibri"/>
                <a:sym typeface="Calibri"/>
              </a:rPr>
              <a:t>Reads well. No source. Claims nobody can verify.</a:t>
            </a:r>
            <a:endParaRPr sz="1400" b="0" i="0" u="none" strike="noStrike" cap="none" dirty="0">
              <a:solidFill>
                <a:schemeClr val="dk1"/>
              </a:solidFill>
              <a:latin typeface="Calibri"/>
              <a:ea typeface="Calibri"/>
              <a:cs typeface="Calibri"/>
              <a:sym typeface="Calibri"/>
            </a:endParaRPr>
          </a:p>
        </p:txBody>
      </p:sp>
      <p:sp>
        <p:nvSpPr>
          <p:cNvPr id="70" name="Google Shape;70;p9"/>
          <p:cNvSpPr/>
          <p:nvPr/>
        </p:nvSpPr>
        <p:spPr>
          <a:xfrm>
            <a:off x="4754880" y="1188720"/>
            <a:ext cx="3931920" cy="2331720"/>
          </a:xfrm>
          <a:prstGeom prst="roundRect">
            <a:avLst>
              <a:gd name="adj" fmla="val 313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4983480" y="1371600"/>
            <a:ext cx="457200" cy="457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 name="Google Shape;72;p9" descr="icon"/>
          <p:cNvPicPr preferRelativeResize="0"/>
          <p:nvPr/>
        </p:nvPicPr>
        <p:blipFill rotWithShape="1">
          <a:blip r:embed="rId4">
            <a:alphaModFix/>
          </a:blip>
          <a:srcRect/>
          <a:stretch/>
        </p:blipFill>
        <p:spPr>
          <a:xfrm>
            <a:off x="5084064" y="1472184"/>
            <a:ext cx="256032" cy="256032"/>
          </a:xfrm>
          <a:prstGeom prst="rect">
            <a:avLst/>
          </a:prstGeom>
          <a:noFill/>
          <a:ln>
            <a:noFill/>
          </a:ln>
        </p:spPr>
      </p:pic>
      <p:sp>
        <p:nvSpPr>
          <p:cNvPr id="73" name="Google Shape;73;p9"/>
          <p:cNvSpPr txBox="1"/>
          <p:nvPr/>
        </p:nvSpPr>
        <p:spPr>
          <a:xfrm>
            <a:off x="5577840" y="1417320"/>
            <a:ext cx="27432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Grounded</a:t>
            </a:r>
            <a:endParaRPr sz="1800" b="0" i="0" u="none" strike="noStrike" cap="none">
              <a:solidFill>
                <a:schemeClr val="dk1"/>
              </a:solidFill>
              <a:latin typeface="Calibri"/>
              <a:ea typeface="Calibri"/>
              <a:cs typeface="Calibri"/>
              <a:sym typeface="Calibri"/>
            </a:endParaRPr>
          </a:p>
        </p:txBody>
      </p:sp>
      <p:sp>
        <p:nvSpPr>
          <p:cNvPr id="74" name="Google Shape;74;p9"/>
          <p:cNvSpPr txBox="1"/>
          <p:nvPr/>
        </p:nvSpPr>
        <p:spPr>
          <a:xfrm>
            <a:off x="5029200" y="2011680"/>
            <a:ext cx="34747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ourier New"/>
              <a:buNone/>
            </a:pPr>
            <a:r>
              <a:rPr lang="en-US" sz="1400" b="0" i="0" u="none" strike="noStrike" cap="none">
                <a:solidFill>
                  <a:schemeClr val="dk2"/>
                </a:solidFill>
                <a:latin typeface="Courier New"/>
                <a:ea typeface="Courier New"/>
                <a:cs typeface="Courier New"/>
                <a:sym typeface="Courier New"/>
              </a:rPr>
              <a:t>EMPL: Num 8 · derivation: SUM(e1,e2,e3)/3 · source: est.sas line 142 · label: UNKNOWN</a:t>
            </a:r>
            <a:endParaRPr sz="1400" b="0" i="0" u="none" strike="noStrike" cap="none">
              <a:solidFill>
                <a:schemeClr val="dk1"/>
              </a:solidFill>
              <a:latin typeface="Calibri"/>
              <a:ea typeface="Calibri"/>
              <a:cs typeface="Calibri"/>
              <a:sym typeface="Calibri"/>
            </a:endParaRPr>
          </a:p>
        </p:txBody>
      </p:sp>
      <p:sp>
        <p:nvSpPr>
          <p:cNvPr id="75" name="Google Shape;75;p9"/>
          <p:cNvSpPr txBox="1"/>
          <p:nvPr/>
        </p:nvSpPr>
        <p:spPr>
          <a:xfrm>
            <a:off x="5029200" y="2926080"/>
            <a:ext cx="347472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1" u="none" strike="noStrike" cap="none">
                <a:solidFill>
                  <a:schemeClr val="accent5"/>
                </a:solidFill>
                <a:latin typeface="Calibri"/>
                <a:ea typeface="Calibri"/>
                <a:cs typeface="Calibri"/>
                <a:sym typeface="Calibri"/>
              </a:rPr>
              <a:t>Every claim traceable, gaps admitted.</a:t>
            </a:r>
            <a:endParaRPr sz="1400" b="0" i="0" u="none" strike="noStrike" cap="none">
              <a:solidFill>
                <a:schemeClr val="dk1"/>
              </a:solidFill>
              <a:latin typeface="Calibri"/>
              <a:ea typeface="Calibri"/>
              <a:cs typeface="Calibri"/>
              <a:sym typeface="Calibri"/>
            </a:endParaRPr>
          </a:p>
        </p:txBody>
      </p:sp>
      <p:sp>
        <p:nvSpPr>
          <p:cNvPr id="76" name="Google Shape;76;p9"/>
          <p:cNvSpPr txBox="1"/>
          <p:nvPr/>
        </p:nvSpPr>
        <p:spPr>
          <a:xfrm>
            <a:off x="457200" y="3794760"/>
            <a:ext cx="82296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The metric that decides production use: </a:t>
            </a:r>
            <a:r>
              <a:rPr lang="en-US" sz="1600" b="0" i="0" u="none" strike="noStrike" cap="none">
                <a:solidFill>
                  <a:schemeClr val="dk1"/>
                </a:solidFill>
                <a:latin typeface="Calibri"/>
                <a:ea typeface="Calibri"/>
                <a:cs typeface="Calibri"/>
                <a:sym typeface="Calibri"/>
              </a:rPr>
              <a:t>the rate of confident, unsupported assertions</a:t>
            </a:r>
            <a:endParaRPr sz="1600" b="0" i="0" u="none" strike="noStrike" cap="none">
              <a:solidFill>
                <a:schemeClr val="dk1"/>
              </a:solidFill>
              <a:latin typeface="Calibri"/>
              <a:ea typeface="Calibri"/>
              <a:cs typeface="Calibri"/>
              <a:sym typeface="Calibri"/>
            </a:endParaRPr>
          </a:p>
        </p:txBody>
      </p:sp>
      <p:sp>
        <p:nvSpPr>
          <p:cNvPr id="77" name="Google Shape;77;p9"/>
          <p:cNvSpPr txBox="1"/>
          <p:nvPr/>
        </p:nvSpPr>
        <p:spPr>
          <a:xfrm>
            <a:off x="457200" y="4512295"/>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Illustrative example. Hallucination background: Ji et al. 2023, ACM Computing Surveys 55(12).</a:t>
            </a:r>
            <a:endParaRPr sz="900" b="0" i="0" u="none" strike="noStrike" cap="none">
              <a:solidFill>
                <a:schemeClr val="dk1"/>
              </a:solidFill>
              <a:latin typeface="Calibri"/>
              <a:ea typeface="Calibri"/>
              <a:cs typeface="Calibri"/>
              <a:sym typeface="Calibri"/>
            </a:endParaRPr>
          </a:p>
        </p:txBody>
      </p:sp>
      <p:sp>
        <p:nvSpPr>
          <p:cNvPr id="78" name="Google Shape;78;p9"/>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4</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1"/>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Three artifacts, each with a fixed JSON schema</a:t>
            </a:r>
            <a:endParaRPr sz="3000"/>
          </a:p>
        </p:txBody>
      </p:sp>
      <p:sp>
        <p:nvSpPr>
          <p:cNvPr id="108" name="Google Shape;108;p11"/>
          <p:cNvSpPr/>
          <p:nvPr/>
        </p:nvSpPr>
        <p:spPr>
          <a:xfrm>
            <a:off x="457200" y="1234440"/>
            <a:ext cx="2560320" cy="292608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a:off x="731520" y="1463040"/>
            <a:ext cx="685800" cy="685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0" name="Google Shape;110;p11" descr="icon"/>
          <p:cNvPicPr preferRelativeResize="0"/>
          <p:nvPr/>
        </p:nvPicPr>
        <p:blipFill rotWithShape="1">
          <a:blip r:embed="rId3">
            <a:alphaModFix/>
          </a:blip>
          <a:srcRect/>
          <a:stretch/>
        </p:blipFill>
        <p:spPr>
          <a:xfrm>
            <a:off x="882396" y="1613916"/>
            <a:ext cx="384048" cy="384048"/>
          </a:xfrm>
          <a:prstGeom prst="rect">
            <a:avLst/>
          </a:prstGeom>
          <a:noFill/>
          <a:ln>
            <a:noFill/>
          </a:ln>
        </p:spPr>
      </p:pic>
      <p:sp>
        <p:nvSpPr>
          <p:cNvPr id="111" name="Google Shape;111;p11"/>
          <p:cNvSpPr txBox="1"/>
          <p:nvPr/>
        </p:nvSpPr>
        <p:spPr>
          <a:xfrm>
            <a:off x="731520" y="2331720"/>
            <a:ext cx="210312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Variable dictionary</a:t>
            </a:r>
            <a:endParaRPr sz="1700" b="0" i="0" u="none" strike="noStrike" cap="none">
              <a:solidFill>
                <a:schemeClr val="dk1"/>
              </a:solidFill>
              <a:latin typeface="Calibri"/>
              <a:ea typeface="Calibri"/>
              <a:cs typeface="Calibri"/>
              <a:sym typeface="Calibri"/>
            </a:endParaRPr>
          </a:p>
        </p:txBody>
      </p:sp>
      <p:sp>
        <p:nvSpPr>
          <p:cNvPr id="112" name="Google Shape;112;p11"/>
          <p:cNvSpPr txBox="1"/>
          <p:nvPr/>
        </p:nvSpPr>
        <p:spPr>
          <a:xfrm>
            <a:off x="731520" y="2971800"/>
            <a:ext cx="210312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Name, type, length, format, label, derivation, valid values, source reference</a:t>
            </a:r>
            <a:endParaRPr sz="1400" b="0" i="0" u="none" strike="noStrike" cap="none">
              <a:solidFill>
                <a:schemeClr val="dk1"/>
              </a:solidFill>
              <a:latin typeface="Calibri"/>
              <a:ea typeface="Calibri"/>
              <a:cs typeface="Calibri"/>
              <a:sym typeface="Calibri"/>
            </a:endParaRPr>
          </a:p>
        </p:txBody>
      </p:sp>
      <p:sp>
        <p:nvSpPr>
          <p:cNvPr id="113" name="Google Shape;113;p11"/>
          <p:cNvSpPr/>
          <p:nvPr/>
        </p:nvSpPr>
        <p:spPr>
          <a:xfrm>
            <a:off x="3291840" y="1234440"/>
            <a:ext cx="2560320" cy="292608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3566160" y="1463040"/>
            <a:ext cx="685800" cy="685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5" name="Google Shape;115;p11" descr="icon"/>
          <p:cNvPicPr preferRelativeResize="0"/>
          <p:nvPr/>
        </p:nvPicPr>
        <p:blipFill rotWithShape="1">
          <a:blip r:embed="rId4">
            <a:alphaModFix/>
          </a:blip>
          <a:srcRect/>
          <a:stretch/>
        </p:blipFill>
        <p:spPr>
          <a:xfrm>
            <a:off x="3717036" y="1613916"/>
            <a:ext cx="384048" cy="384048"/>
          </a:xfrm>
          <a:prstGeom prst="rect">
            <a:avLst/>
          </a:prstGeom>
          <a:noFill/>
          <a:ln>
            <a:noFill/>
          </a:ln>
        </p:spPr>
      </p:pic>
      <p:sp>
        <p:nvSpPr>
          <p:cNvPr id="116" name="Google Shape;116;p11"/>
          <p:cNvSpPr txBox="1"/>
          <p:nvPr/>
        </p:nvSpPr>
        <p:spPr>
          <a:xfrm>
            <a:off x="3566160" y="2331720"/>
            <a:ext cx="210312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Macro parameter reference</a:t>
            </a:r>
            <a:endParaRPr sz="1700" b="0" i="0" u="none" strike="noStrike" cap="none">
              <a:solidFill>
                <a:schemeClr val="dk1"/>
              </a:solidFill>
              <a:latin typeface="Calibri"/>
              <a:ea typeface="Calibri"/>
              <a:cs typeface="Calibri"/>
              <a:sym typeface="Calibri"/>
            </a:endParaRPr>
          </a:p>
        </p:txBody>
      </p:sp>
      <p:sp>
        <p:nvSpPr>
          <p:cNvPr id="117" name="Google Shape;117;p11"/>
          <p:cNvSpPr txBox="1"/>
          <p:nvPr/>
        </p:nvSpPr>
        <p:spPr>
          <a:xfrm>
            <a:off x="3566160" y="2971800"/>
            <a:ext cx="210312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Positional and keyword parameters, defaults, calling programs</a:t>
            </a:r>
            <a:endParaRPr sz="1400" b="0" i="0" u="none" strike="noStrike" cap="none">
              <a:solidFill>
                <a:schemeClr val="dk1"/>
              </a:solidFill>
              <a:latin typeface="Calibri"/>
              <a:ea typeface="Calibri"/>
              <a:cs typeface="Calibri"/>
              <a:sym typeface="Calibri"/>
            </a:endParaRPr>
          </a:p>
        </p:txBody>
      </p:sp>
      <p:sp>
        <p:nvSpPr>
          <p:cNvPr id="118" name="Google Shape;118;p11"/>
          <p:cNvSpPr/>
          <p:nvPr/>
        </p:nvSpPr>
        <p:spPr>
          <a:xfrm>
            <a:off x="6126480" y="1234440"/>
            <a:ext cx="2560320" cy="292608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a:off x="6400800" y="1463040"/>
            <a:ext cx="685800" cy="6858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0" name="Google Shape;120;p11" descr="icon"/>
          <p:cNvPicPr preferRelativeResize="0"/>
          <p:nvPr/>
        </p:nvPicPr>
        <p:blipFill rotWithShape="1">
          <a:blip r:embed="rId5">
            <a:alphaModFix/>
          </a:blip>
          <a:srcRect/>
          <a:stretch/>
        </p:blipFill>
        <p:spPr>
          <a:xfrm>
            <a:off x="6551676" y="1613916"/>
            <a:ext cx="384048" cy="384048"/>
          </a:xfrm>
          <a:prstGeom prst="rect">
            <a:avLst/>
          </a:prstGeom>
          <a:noFill/>
          <a:ln>
            <a:noFill/>
          </a:ln>
        </p:spPr>
      </p:pic>
      <p:sp>
        <p:nvSpPr>
          <p:cNvPr id="121" name="Google Shape;121;p11"/>
          <p:cNvSpPr txBox="1"/>
          <p:nvPr/>
        </p:nvSpPr>
        <p:spPr>
          <a:xfrm>
            <a:off x="6400800" y="2331720"/>
            <a:ext cx="2103120" cy="5943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Program summary</a:t>
            </a:r>
            <a:endParaRPr sz="1700" b="0" i="0" u="none" strike="noStrike" cap="none">
              <a:solidFill>
                <a:schemeClr val="dk1"/>
              </a:solidFill>
              <a:latin typeface="Calibri"/>
              <a:ea typeface="Calibri"/>
              <a:cs typeface="Calibri"/>
              <a:sym typeface="Calibri"/>
            </a:endParaRPr>
          </a:p>
        </p:txBody>
      </p:sp>
      <p:sp>
        <p:nvSpPr>
          <p:cNvPr id="122" name="Google Shape;122;p11"/>
          <p:cNvSpPr txBox="1"/>
          <p:nvPr/>
        </p:nvSpPr>
        <p:spPr>
          <a:xfrm>
            <a:off x="6400800" y="2971800"/>
            <a:ext cx="210312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Description, input data sets, output data sets</a:t>
            </a:r>
            <a:endParaRPr sz="1400" b="0" i="0" u="none" strike="noStrike" cap="none">
              <a:solidFill>
                <a:schemeClr val="dk1"/>
              </a:solidFill>
              <a:latin typeface="Calibri"/>
              <a:ea typeface="Calibri"/>
              <a:cs typeface="Calibri"/>
              <a:sym typeface="Calibri"/>
            </a:endParaRPr>
          </a:p>
        </p:txBody>
      </p:sp>
      <p:sp>
        <p:nvSpPr>
          <p:cNvPr id="123" name="Google Shape;123;p11"/>
          <p:cNvSpPr txBox="1"/>
          <p:nvPr/>
        </p:nvSpPr>
        <p:spPr>
          <a:xfrm>
            <a:off x="457200" y="429768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a:solidFill>
                  <a:schemeClr val="accent6"/>
                </a:solidFill>
                <a:latin typeface="Calibri"/>
                <a:ea typeface="Calibri"/>
                <a:cs typeface="Calibri"/>
                <a:sym typeface="Calibri"/>
              </a:rPr>
              <a:t>Same schema for all three configurations, so differences come from the model and its grounding</a:t>
            </a:r>
            <a:endParaRPr sz="1200" b="0" i="0" u="none" strike="noStrike" cap="none">
              <a:solidFill>
                <a:schemeClr val="dk1"/>
              </a:solidFill>
              <a:latin typeface="Calibri"/>
              <a:ea typeface="Calibri"/>
              <a:cs typeface="Calibri"/>
              <a:sym typeface="Calibri"/>
            </a:endParaRPr>
          </a:p>
        </p:txBody>
      </p:sp>
      <p:sp>
        <p:nvSpPr>
          <p:cNvPr id="124" name="Google Shape;124;p11"/>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5</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2"/>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One rule does most of the work</a:t>
            </a:r>
            <a:endParaRPr sz="3000"/>
          </a:p>
        </p:txBody>
      </p:sp>
      <p:sp>
        <p:nvSpPr>
          <p:cNvPr id="131" name="Google Shape;131;p12"/>
          <p:cNvSpPr/>
          <p:nvPr/>
        </p:nvSpPr>
        <p:spPr>
          <a:xfrm>
            <a:off x="457200" y="1188720"/>
            <a:ext cx="4206240" cy="2651760"/>
          </a:xfrm>
          <a:prstGeom prst="roundRect">
            <a:avLst>
              <a:gd name="adj" fmla="val 2759"/>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2"/>
          <p:cNvSpPr txBox="1"/>
          <p:nvPr/>
        </p:nvSpPr>
        <p:spPr>
          <a:xfrm>
            <a:off x="640080" y="1325880"/>
            <a:ext cx="3840480" cy="23774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"name": "EM",</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"type": "Num", "length": 8,</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"derivation": "EM = sum(of e1-e3)",</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"source": "est.sas line 142",</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"label": "UNKNOWN",</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  "valid_values": "UNKNOWN"</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300"/>
              <a:buFont typeface="Courier New"/>
              <a:buNone/>
            </a:pPr>
            <a:r>
              <a:rPr lang="en-US" sz="1300" b="0" i="0" u="none" strike="noStrike" cap="none">
                <a:solidFill>
                  <a:schemeClr val="lt2"/>
                </a:solidFill>
                <a:latin typeface="Courier New"/>
                <a:ea typeface="Courier New"/>
                <a:cs typeface="Courier New"/>
                <a:sym typeface="Courier New"/>
              </a:rPr>
              <a:t>}</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300"/>
              <a:buFont typeface="Courier New"/>
              <a:buNone/>
            </a:pPr>
            <a:r>
              <a:rPr lang="en-US" sz="1300" b="0" i="0" u="none" strike="noStrike" cap="none">
                <a:solidFill>
                  <a:schemeClr val="accent1"/>
                </a:solidFill>
                <a:latin typeface="Courier New"/>
                <a:ea typeface="Courier New"/>
                <a:cs typeface="Courier New"/>
                <a:sym typeface="Courier New"/>
              </a:rPr>
              <a:t># Illustrative variable dictionary entry</a:t>
            </a:r>
            <a:endParaRPr sz="1300" b="0" i="0" u="none" strike="noStrike" cap="none">
              <a:solidFill>
                <a:schemeClr val="dk1"/>
              </a:solidFill>
              <a:latin typeface="Calibri"/>
              <a:ea typeface="Calibri"/>
              <a:cs typeface="Calibri"/>
              <a:sym typeface="Calibri"/>
            </a:endParaRPr>
          </a:p>
        </p:txBody>
      </p:sp>
      <p:sp>
        <p:nvSpPr>
          <p:cNvPr id="133" name="Google Shape;133;p12"/>
          <p:cNvSpPr txBox="1"/>
          <p:nvPr/>
        </p:nvSpPr>
        <p:spPr>
          <a:xfrm>
            <a:off x="5029200" y="1188720"/>
            <a:ext cx="365760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Every field carries a required </a:t>
            </a:r>
            <a:r>
              <a:rPr lang="en-US" sz="1800" b="1" i="0" u="none" strike="noStrike" cap="none">
                <a:solidFill>
                  <a:schemeClr val="dk1"/>
                </a:solidFill>
                <a:latin typeface="Calibri"/>
                <a:ea typeface="Calibri"/>
                <a:cs typeface="Calibri"/>
                <a:sym typeface="Calibri"/>
              </a:rPr>
              <a:t>source</a:t>
            </a:r>
            <a:r>
              <a:rPr lang="en-US" sz="1800" b="0" i="0" u="none" strike="noStrike" cap="none">
                <a:solidFill>
                  <a:schemeClr val="dk1"/>
                </a:solidFill>
                <a:latin typeface="Calibri"/>
                <a:ea typeface="Calibri"/>
                <a:cs typeface="Calibri"/>
                <a:sym typeface="Calibri"/>
              </a:rPr>
              <a:t>. No defensible source → emit </a:t>
            </a:r>
            <a:r>
              <a:rPr lang="en-US" sz="1800" b="1" i="0" u="none" strike="noStrike" cap="none">
                <a:solidFill>
                  <a:schemeClr val="accent1"/>
                </a:solidFill>
                <a:latin typeface="Calibri"/>
                <a:ea typeface="Calibri"/>
                <a:cs typeface="Calibri"/>
                <a:sym typeface="Calibri"/>
              </a:rPr>
              <a:t>UNKNOWN</a:t>
            </a:r>
            <a:r>
              <a:rPr lang="en-US"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34" name="Google Shape;134;p12"/>
          <p:cNvSpPr/>
          <p:nvPr/>
        </p:nvSpPr>
        <p:spPr>
          <a:xfrm>
            <a:off x="5029200" y="21945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2"/>
          <p:cNvSpPr txBox="1"/>
          <p:nvPr/>
        </p:nvSpPr>
        <p:spPr>
          <a:xfrm>
            <a:off x="5029200" y="2194560"/>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36" name="Google Shape;136;p12"/>
          <p:cNvSpPr txBox="1"/>
          <p:nvPr/>
        </p:nvSpPr>
        <p:spPr>
          <a:xfrm>
            <a:off x="5577840" y="2176272"/>
            <a:ext cx="31089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Detectable: </a:t>
            </a:r>
            <a:r>
              <a:rPr lang="en-US" sz="1400" b="0" i="0" u="none" strike="noStrike" cap="none">
                <a:solidFill>
                  <a:schemeClr val="dk1"/>
                </a:solidFill>
                <a:latin typeface="Calibri"/>
                <a:ea typeface="Calibri"/>
                <a:cs typeface="Calibri"/>
                <a:sym typeface="Calibri"/>
              </a:rPr>
              <a:t>Guessing becomes visible and machine-checkable</a:t>
            </a:r>
            <a:endParaRPr sz="1400" b="0" i="0" u="none" strike="noStrike" cap="none">
              <a:solidFill>
                <a:schemeClr val="dk1"/>
              </a:solidFill>
              <a:latin typeface="Calibri"/>
              <a:ea typeface="Calibri"/>
              <a:cs typeface="Calibri"/>
              <a:sym typeface="Calibri"/>
            </a:endParaRPr>
          </a:p>
        </p:txBody>
      </p:sp>
      <p:sp>
        <p:nvSpPr>
          <p:cNvPr id="137" name="Google Shape;137;p12"/>
          <p:cNvSpPr/>
          <p:nvPr/>
        </p:nvSpPr>
        <p:spPr>
          <a:xfrm>
            <a:off x="5029200" y="28803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2"/>
          <p:cNvSpPr txBox="1"/>
          <p:nvPr/>
        </p:nvSpPr>
        <p:spPr>
          <a:xfrm>
            <a:off x="5029200" y="2880360"/>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39" name="Google Shape;139;p12"/>
          <p:cNvSpPr txBox="1"/>
          <p:nvPr/>
        </p:nvSpPr>
        <p:spPr>
          <a:xfrm>
            <a:off x="5577840" y="2862072"/>
            <a:ext cx="31089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Reviewable: </a:t>
            </a:r>
            <a:r>
              <a:rPr lang="en-US" sz="1400" b="0" i="0" u="none" strike="noStrike" cap="none">
                <a:solidFill>
                  <a:schemeClr val="dk1"/>
                </a:solidFill>
                <a:latin typeface="Calibri"/>
                <a:ea typeface="Calibri"/>
                <a:cs typeface="Calibri"/>
                <a:sym typeface="Calibri"/>
              </a:rPr>
              <a:t>Reviewers get a short list of exactly where to look</a:t>
            </a:r>
            <a:endParaRPr sz="1400" b="0" i="0" u="none" strike="noStrike" cap="none">
              <a:solidFill>
                <a:schemeClr val="dk1"/>
              </a:solidFill>
              <a:latin typeface="Calibri"/>
              <a:ea typeface="Calibri"/>
              <a:cs typeface="Calibri"/>
              <a:sym typeface="Calibri"/>
            </a:endParaRPr>
          </a:p>
        </p:txBody>
      </p:sp>
      <p:sp>
        <p:nvSpPr>
          <p:cNvPr id="140" name="Google Shape;140;p12"/>
          <p:cNvSpPr/>
          <p:nvPr/>
        </p:nvSpPr>
        <p:spPr>
          <a:xfrm>
            <a:off x="5029200" y="35661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2"/>
          <p:cNvSpPr txBox="1"/>
          <p:nvPr/>
        </p:nvSpPr>
        <p:spPr>
          <a:xfrm>
            <a:off x="5029200" y="3566160"/>
            <a:ext cx="4114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42" name="Google Shape;142;p12"/>
          <p:cNvSpPr txBox="1"/>
          <p:nvPr/>
        </p:nvSpPr>
        <p:spPr>
          <a:xfrm>
            <a:off x="5577840" y="3547872"/>
            <a:ext cx="310896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Honest: </a:t>
            </a:r>
            <a:r>
              <a:rPr lang="en-US" sz="1400" b="0" i="0" u="none" strike="noStrike" cap="none">
                <a:solidFill>
                  <a:schemeClr val="dk1"/>
                </a:solidFill>
                <a:latin typeface="Calibri"/>
                <a:ea typeface="Calibri"/>
                <a:cs typeface="Calibri"/>
                <a:sym typeface="Calibri"/>
              </a:rPr>
              <a:t>UNKNOWN is a correct answer; a confident guess is an error</a:t>
            </a:r>
            <a:endParaRPr sz="1400" b="0" i="0" u="none" strike="noStrike" cap="none">
              <a:solidFill>
                <a:schemeClr val="dk1"/>
              </a:solidFill>
              <a:latin typeface="Calibri"/>
              <a:ea typeface="Calibri"/>
              <a:cs typeface="Calibri"/>
              <a:sym typeface="Calibri"/>
            </a:endParaRPr>
          </a:p>
        </p:txBody>
      </p:sp>
      <p:sp>
        <p:nvSpPr>
          <p:cNvPr id="143" name="Google Shape;143;p12"/>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6</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3"/>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Two ways to wire a model into SAS</a:t>
            </a:r>
            <a:endParaRPr sz="3000"/>
          </a:p>
        </p:txBody>
      </p:sp>
      <p:sp>
        <p:nvSpPr>
          <p:cNvPr id="150" name="Google Shape;150;p13"/>
          <p:cNvSpPr/>
          <p:nvPr/>
        </p:nvSpPr>
        <p:spPr>
          <a:xfrm>
            <a:off x="457200" y="1188720"/>
            <a:ext cx="3931920" cy="2697480"/>
          </a:xfrm>
          <a:prstGeom prst="roundRect">
            <a:avLst>
              <a:gd name="adj" fmla="val 27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731520" y="1371600"/>
            <a:ext cx="548640" cy="54864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2" name="Google Shape;152;p13" descr="icon"/>
          <p:cNvPicPr preferRelativeResize="0"/>
          <p:nvPr/>
        </p:nvPicPr>
        <p:blipFill rotWithShape="1">
          <a:blip r:embed="rId3">
            <a:alphaModFix/>
          </a:blip>
          <a:srcRect/>
          <a:stretch/>
        </p:blipFill>
        <p:spPr>
          <a:xfrm>
            <a:off x="852221" y="1492301"/>
            <a:ext cx="307238" cy="307238"/>
          </a:xfrm>
          <a:prstGeom prst="rect">
            <a:avLst/>
          </a:prstGeom>
          <a:noFill/>
          <a:ln>
            <a:noFill/>
          </a:ln>
        </p:spPr>
      </p:pic>
      <p:sp>
        <p:nvSpPr>
          <p:cNvPr id="153" name="Google Shape;153;p13"/>
          <p:cNvSpPr txBox="1"/>
          <p:nvPr/>
        </p:nvSpPr>
        <p:spPr>
          <a:xfrm>
            <a:off x="1463040" y="1371600"/>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PROC PYTHON</a:t>
            </a:r>
            <a:endParaRPr sz="1800" b="0" i="0" u="none" strike="noStrike" cap="none">
              <a:solidFill>
                <a:schemeClr val="dk1"/>
              </a:solidFill>
              <a:latin typeface="Calibri"/>
              <a:ea typeface="Calibri"/>
              <a:cs typeface="Calibri"/>
              <a:sym typeface="Calibri"/>
            </a:endParaRPr>
          </a:p>
        </p:txBody>
      </p:sp>
      <p:sp>
        <p:nvSpPr>
          <p:cNvPr id="154" name="Google Shape;154;p13"/>
          <p:cNvSpPr txBox="1"/>
          <p:nvPr/>
        </p:nvSpPr>
        <p:spPr>
          <a:xfrm>
            <a:off x="1463040" y="1691640"/>
            <a:ext cx="27432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0" i="0" u="none" strike="noStrike" cap="none">
                <a:solidFill>
                  <a:schemeClr val="accent6"/>
                </a:solidFill>
                <a:latin typeface="Calibri"/>
                <a:ea typeface="Calibri"/>
                <a:cs typeface="Calibri"/>
                <a:sym typeface="Calibri"/>
              </a:rPr>
              <a:t>SAS in control</a:t>
            </a:r>
            <a:endParaRPr sz="1300" b="0" i="0" u="none" strike="noStrike" cap="none">
              <a:solidFill>
                <a:schemeClr val="dk1"/>
              </a:solidFill>
              <a:latin typeface="Calibri"/>
              <a:ea typeface="Calibri"/>
              <a:cs typeface="Calibri"/>
              <a:sym typeface="Calibri"/>
            </a:endParaRPr>
          </a:p>
        </p:txBody>
      </p:sp>
      <p:sp>
        <p:nvSpPr>
          <p:cNvPr id="155" name="Google Shape;155;p13"/>
          <p:cNvSpPr txBox="1"/>
          <p:nvPr/>
        </p:nvSpPr>
        <p:spPr>
          <a:xfrm>
            <a:off x="731520" y="2240280"/>
            <a:ext cx="3474720" cy="192024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SAS program calls Python</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Python calls the model</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Response returns to the DATA step</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Requires SAS 9.4 M9 or later</a:t>
            </a:r>
            <a:endParaRPr sz="1400" b="0" i="0" u="none" strike="noStrike" cap="none">
              <a:solidFill>
                <a:schemeClr val="dk1"/>
              </a:solidFill>
              <a:latin typeface="Calibri"/>
              <a:ea typeface="Calibri"/>
              <a:cs typeface="Calibri"/>
              <a:sym typeface="Calibri"/>
            </a:endParaRPr>
          </a:p>
        </p:txBody>
      </p:sp>
      <p:sp>
        <p:nvSpPr>
          <p:cNvPr id="156" name="Google Shape;156;p13"/>
          <p:cNvSpPr/>
          <p:nvPr/>
        </p:nvSpPr>
        <p:spPr>
          <a:xfrm>
            <a:off x="4754880" y="1188720"/>
            <a:ext cx="3931920" cy="2697480"/>
          </a:xfrm>
          <a:prstGeom prst="roundRect">
            <a:avLst>
              <a:gd name="adj" fmla="val 27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3"/>
          <p:cNvSpPr/>
          <p:nvPr/>
        </p:nvSpPr>
        <p:spPr>
          <a:xfrm>
            <a:off x="502920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 name="Google Shape;158;p13" descr="icon"/>
          <p:cNvPicPr preferRelativeResize="0"/>
          <p:nvPr/>
        </p:nvPicPr>
        <p:blipFill rotWithShape="1">
          <a:blip r:embed="rId4">
            <a:alphaModFix/>
          </a:blip>
          <a:srcRect/>
          <a:stretch/>
        </p:blipFill>
        <p:spPr>
          <a:xfrm>
            <a:off x="5149901" y="1492301"/>
            <a:ext cx="307238" cy="307238"/>
          </a:xfrm>
          <a:prstGeom prst="rect">
            <a:avLst/>
          </a:prstGeom>
          <a:noFill/>
          <a:ln>
            <a:noFill/>
          </a:ln>
        </p:spPr>
      </p:pic>
      <p:sp>
        <p:nvSpPr>
          <p:cNvPr id="159" name="Google Shape;159;p13"/>
          <p:cNvSpPr txBox="1"/>
          <p:nvPr/>
        </p:nvSpPr>
        <p:spPr>
          <a:xfrm>
            <a:off x="5760720" y="1371600"/>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SASPy</a:t>
            </a:r>
            <a:endParaRPr sz="1800" b="0" i="0" u="none" strike="noStrike" cap="none">
              <a:solidFill>
                <a:schemeClr val="dk1"/>
              </a:solidFill>
              <a:latin typeface="Calibri"/>
              <a:ea typeface="Calibri"/>
              <a:cs typeface="Calibri"/>
              <a:sym typeface="Calibri"/>
            </a:endParaRPr>
          </a:p>
        </p:txBody>
      </p:sp>
      <p:sp>
        <p:nvSpPr>
          <p:cNvPr id="160" name="Google Shape;160;p13"/>
          <p:cNvSpPr txBox="1"/>
          <p:nvPr/>
        </p:nvSpPr>
        <p:spPr>
          <a:xfrm>
            <a:off x="5760720" y="1691640"/>
            <a:ext cx="27432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300"/>
              <a:buFont typeface="Calibri"/>
              <a:buNone/>
            </a:pPr>
            <a:r>
              <a:rPr lang="en-US" sz="1300" b="1" i="0" u="none" strike="noStrike" cap="none">
                <a:solidFill>
                  <a:schemeClr val="accent1"/>
                </a:solidFill>
                <a:latin typeface="Calibri"/>
                <a:ea typeface="Calibri"/>
                <a:cs typeface="Calibri"/>
                <a:sym typeface="Calibri"/>
              </a:rPr>
              <a:t>Python in control  ·  chosen</a:t>
            </a:r>
            <a:endParaRPr sz="1300" b="0" i="0" u="none" strike="noStrike" cap="none">
              <a:solidFill>
                <a:schemeClr val="dk1"/>
              </a:solidFill>
              <a:latin typeface="Calibri"/>
              <a:ea typeface="Calibri"/>
              <a:cs typeface="Calibri"/>
              <a:sym typeface="Calibri"/>
            </a:endParaRPr>
          </a:p>
        </p:txBody>
      </p:sp>
      <p:sp>
        <p:nvSpPr>
          <p:cNvPr id="161" name="Google Shape;161;p13"/>
          <p:cNvSpPr txBox="1"/>
          <p:nvPr/>
        </p:nvSpPr>
        <p:spPr>
          <a:xfrm>
            <a:off x="5029200" y="2240280"/>
            <a:ext cx="3474720" cy="192024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Python orchestrator drives a SAS session</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Works with your existing SAS engine</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Writes SAS data sets directly</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No M9 requirement: more reproducible</a:t>
            </a:r>
            <a:endParaRPr sz="1400" b="0" i="0" u="none" strike="noStrike" cap="none">
              <a:solidFill>
                <a:schemeClr val="dk1"/>
              </a:solidFill>
              <a:latin typeface="Calibri"/>
              <a:ea typeface="Calibri"/>
              <a:cs typeface="Calibri"/>
              <a:sym typeface="Calibri"/>
            </a:endParaRPr>
          </a:p>
        </p:txBody>
      </p:sp>
      <p:sp>
        <p:nvSpPr>
          <p:cNvPr id="162" name="Google Shape;162;p13"/>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7</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dirty="0">
                <a:solidFill>
                  <a:schemeClr val="dk1"/>
                </a:solidFill>
                <a:latin typeface="Cambria"/>
                <a:ea typeface="Cambria"/>
                <a:cs typeface="Cambria"/>
                <a:sym typeface="Cambria"/>
              </a:rPr>
              <a:t>SAS stays the system of record </a:t>
            </a:r>
            <a:r>
              <a:rPr lang="en-US" sz="3000" b="1" dirty="0">
                <a:solidFill>
                  <a:schemeClr val="dk1"/>
                </a:solidFill>
                <a:highlight>
                  <a:srgbClr val="FFFF00"/>
                </a:highlight>
                <a:latin typeface="Cambria"/>
                <a:ea typeface="Cambria"/>
                <a:cs typeface="Cambria"/>
                <a:sym typeface="Cambria"/>
              </a:rPr>
              <a:t>(maybe just change the notes - emphasize that the orange is the largest part of pipeline and this paper)</a:t>
            </a:r>
            <a:endParaRPr sz="3000" dirty="0">
              <a:highlight>
                <a:srgbClr val="FFFF00"/>
              </a:highlight>
            </a:endParaRPr>
          </a:p>
        </p:txBody>
      </p:sp>
      <p:sp>
        <p:nvSpPr>
          <p:cNvPr id="169" name="Google Shape;169;p14"/>
          <p:cNvSpPr/>
          <p:nvPr/>
        </p:nvSpPr>
        <p:spPr>
          <a:xfrm>
            <a:off x="457200"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p:nvPr/>
        </p:nvSpPr>
        <p:spPr>
          <a:xfrm>
            <a:off x="850392"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1" name="Google Shape;171;p14" descr="icon"/>
          <p:cNvPicPr preferRelativeResize="0"/>
          <p:nvPr/>
        </p:nvPicPr>
        <p:blipFill rotWithShape="1">
          <a:blip r:embed="rId3">
            <a:alphaModFix/>
          </a:blip>
          <a:srcRect/>
          <a:stretch/>
        </p:blipFill>
        <p:spPr>
          <a:xfrm>
            <a:off x="971093" y="1766621"/>
            <a:ext cx="307238" cy="307238"/>
          </a:xfrm>
          <a:prstGeom prst="rect">
            <a:avLst/>
          </a:prstGeom>
          <a:noFill/>
          <a:ln>
            <a:noFill/>
          </a:ln>
        </p:spPr>
      </p:pic>
      <p:sp>
        <p:nvSpPr>
          <p:cNvPr id="172" name="Google Shape;172;p14"/>
          <p:cNvSpPr txBox="1"/>
          <p:nvPr/>
        </p:nvSpPr>
        <p:spPr>
          <a:xfrm>
            <a:off x="566928"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Legacy .sas source + metadata</a:t>
            </a:r>
            <a:endParaRPr sz="1400" b="0" i="0" u="none" strike="noStrike" cap="none">
              <a:solidFill>
                <a:schemeClr val="dk1"/>
              </a:solidFill>
              <a:latin typeface="Calibri"/>
              <a:ea typeface="Calibri"/>
              <a:cs typeface="Calibri"/>
              <a:sym typeface="Calibri"/>
            </a:endParaRPr>
          </a:p>
        </p:txBody>
      </p:sp>
      <p:sp>
        <p:nvSpPr>
          <p:cNvPr id="173" name="Google Shape;173;p14"/>
          <p:cNvSpPr/>
          <p:nvPr/>
        </p:nvSpPr>
        <p:spPr>
          <a:xfrm>
            <a:off x="1856232"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4"/>
          <p:cNvSpPr/>
          <p:nvPr/>
        </p:nvSpPr>
        <p:spPr>
          <a:xfrm>
            <a:off x="2157984"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4"/>
          <p:cNvSpPr/>
          <p:nvPr/>
        </p:nvSpPr>
        <p:spPr>
          <a:xfrm>
            <a:off x="2551176"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6" name="Google Shape;176;p14" descr="icon"/>
          <p:cNvPicPr preferRelativeResize="0"/>
          <p:nvPr/>
        </p:nvPicPr>
        <p:blipFill rotWithShape="1">
          <a:blip r:embed="rId4">
            <a:alphaModFix/>
          </a:blip>
          <a:srcRect/>
          <a:stretch/>
        </p:blipFill>
        <p:spPr>
          <a:xfrm>
            <a:off x="2671877" y="1766621"/>
            <a:ext cx="307238" cy="307238"/>
          </a:xfrm>
          <a:prstGeom prst="rect">
            <a:avLst/>
          </a:prstGeom>
          <a:noFill/>
          <a:ln>
            <a:noFill/>
          </a:ln>
        </p:spPr>
      </p:pic>
      <p:sp>
        <p:nvSpPr>
          <p:cNvPr id="177" name="Google Shape;177;p14"/>
          <p:cNvSpPr txBox="1"/>
          <p:nvPr/>
        </p:nvSpPr>
        <p:spPr>
          <a:xfrm>
            <a:off x="2267712"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SASPy orchestrator</a:t>
            </a:r>
            <a:endParaRPr sz="1400" b="0" i="0" u="none" strike="noStrike" cap="none">
              <a:solidFill>
                <a:schemeClr val="dk1"/>
              </a:solidFill>
              <a:latin typeface="Calibri"/>
              <a:ea typeface="Calibri"/>
              <a:cs typeface="Calibri"/>
              <a:sym typeface="Calibri"/>
            </a:endParaRPr>
          </a:p>
        </p:txBody>
      </p:sp>
      <p:sp>
        <p:nvSpPr>
          <p:cNvPr id="178" name="Google Shape;178;p14"/>
          <p:cNvSpPr/>
          <p:nvPr/>
        </p:nvSpPr>
        <p:spPr>
          <a:xfrm>
            <a:off x="3557016"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4"/>
          <p:cNvSpPr/>
          <p:nvPr/>
        </p:nvSpPr>
        <p:spPr>
          <a:xfrm>
            <a:off x="3858768" y="1463040"/>
            <a:ext cx="1335024" cy="2011680"/>
          </a:xfrm>
          <a:prstGeom prst="roundRect">
            <a:avLst>
              <a:gd name="adj" fmla="val 5479"/>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4"/>
          <p:cNvSpPr/>
          <p:nvPr/>
        </p:nvSpPr>
        <p:spPr>
          <a:xfrm>
            <a:off x="4251960" y="1645920"/>
            <a:ext cx="548640" cy="54864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1" name="Google Shape;181;p14" descr="icon"/>
          <p:cNvPicPr preferRelativeResize="0"/>
          <p:nvPr/>
        </p:nvPicPr>
        <p:blipFill rotWithShape="1">
          <a:blip r:embed="rId5">
            <a:alphaModFix/>
          </a:blip>
          <a:srcRect/>
          <a:stretch/>
        </p:blipFill>
        <p:spPr>
          <a:xfrm>
            <a:off x="4372661" y="1766621"/>
            <a:ext cx="307238" cy="307238"/>
          </a:xfrm>
          <a:prstGeom prst="rect">
            <a:avLst/>
          </a:prstGeom>
          <a:noFill/>
          <a:ln>
            <a:noFill/>
          </a:ln>
        </p:spPr>
      </p:pic>
      <p:sp>
        <p:nvSpPr>
          <p:cNvPr id="182" name="Google Shape;182;p14"/>
          <p:cNvSpPr txBox="1"/>
          <p:nvPr/>
        </p:nvSpPr>
        <p:spPr>
          <a:xfrm>
            <a:off x="3968496"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Model fills JSON schema</a:t>
            </a:r>
            <a:endParaRPr sz="1400" b="0" i="0" u="none" strike="noStrike" cap="none">
              <a:solidFill>
                <a:schemeClr val="dk1"/>
              </a:solidFill>
              <a:latin typeface="Calibri"/>
              <a:ea typeface="Calibri"/>
              <a:cs typeface="Calibri"/>
              <a:sym typeface="Calibri"/>
            </a:endParaRPr>
          </a:p>
        </p:txBody>
      </p:sp>
      <p:sp>
        <p:nvSpPr>
          <p:cNvPr id="183" name="Google Shape;183;p14"/>
          <p:cNvSpPr/>
          <p:nvPr/>
        </p:nvSpPr>
        <p:spPr>
          <a:xfrm>
            <a:off x="5257800"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4"/>
          <p:cNvSpPr/>
          <p:nvPr/>
        </p:nvSpPr>
        <p:spPr>
          <a:xfrm>
            <a:off x="5559552"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4"/>
          <p:cNvSpPr/>
          <p:nvPr/>
        </p:nvSpPr>
        <p:spPr>
          <a:xfrm>
            <a:off x="5952744"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6" name="Google Shape;186;p14" descr="icon"/>
          <p:cNvPicPr preferRelativeResize="0"/>
          <p:nvPr/>
        </p:nvPicPr>
        <p:blipFill rotWithShape="1">
          <a:blip r:embed="rId6">
            <a:alphaModFix/>
          </a:blip>
          <a:srcRect/>
          <a:stretch/>
        </p:blipFill>
        <p:spPr>
          <a:xfrm>
            <a:off x="6073445" y="1766621"/>
            <a:ext cx="307238" cy="307238"/>
          </a:xfrm>
          <a:prstGeom prst="rect">
            <a:avLst/>
          </a:prstGeom>
          <a:noFill/>
          <a:ln>
            <a:noFill/>
          </a:ln>
        </p:spPr>
      </p:pic>
      <p:sp>
        <p:nvSpPr>
          <p:cNvPr id="187" name="Google Shape;187;p14"/>
          <p:cNvSpPr txBox="1"/>
          <p:nvPr/>
        </p:nvSpPr>
        <p:spPr>
          <a:xfrm>
            <a:off x="5669280"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SAS data sets (SASPy or PROC JSON)</a:t>
            </a:r>
            <a:endParaRPr sz="1400" b="0" i="0" u="none" strike="noStrike" cap="none">
              <a:solidFill>
                <a:schemeClr val="dk1"/>
              </a:solidFill>
              <a:latin typeface="Calibri"/>
              <a:ea typeface="Calibri"/>
              <a:cs typeface="Calibri"/>
              <a:sym typeface="Calibri"/>
            </a:endParaRPr>
          </a:p>
        </p:txBody>
      </p:sp>
      <p:sp>
        <p:nvSpPr>
          <p:cNvPr id="188" name="Google Shape;188;p14"/>
          <p:cNvSpPr/>
          <p:nvPr/>
        </p:nvSpPr>
        <p:spPr>
          <a:xfrm>
            <a:off x="6958584" y="2331720"/>
            <a:ext cx="237744"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4"/>
          <p:cNvSpPr/>
          <p:nvPr/>
        </p:nvSpPr>
        <p:spPr>
          <a:xfrm>
            <a:off x="7260336" y="1463040"/>
            <a:ext cx="1335024" cy="2011680"/>
          </a:xfrm>
          <a:prstGeom prst="roundRect">
            <a:avLst>
              <a:gd name="adj" fmla="val 5479"/>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4"/>
          <p:cNvSpPr/>
          <p:nvPr/>
        </p:nvSpPr>
        <p:spPr>
          <a:xfrm>
            <a:off x="7653528" y="16459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1" name="Google Shape;191;p14" descr="icon"/>
          <p:cNvPicPr preferRelativeResize="0"/>
          <p:nvPr/>
        </p:nvPicPr>
        <p:blipFill rotWithShape="1">
          <a:blip r:embed="rId7">
            <a:alphaModFix/>
          </a:blip>
          <a:srcRect/>
          <a:stretch/>
        </p:blipFill>
        <p:spPr>
          <a:xfrm>
            <a:off x="7774229" y="1766621"/>
            <a:ext cx="307238" cy="307238"/>
          </a:xfrm>
          <a:prstGeom prst="rect">
            <a:avLst/>
          </a:prstGeom>
          <a:noFill/>
          <a:ln>
            <a:noFill/>
          </a:ln>
        </p:spPr>
      </p:pic>
      <p:sp>
        <p:nvSpPr>
          <p:cNvPr id="192" name="Google Shape;192;p14"/>
          <p:cNvSpPr txBox="1"/>
          <p:nvPr/>
        </p:nvSpPr>
        <p:spPr>
          <a:xfrm>
            <a:off x="7370064" y="2377440"/>
            <a:ext cx="1115568" cy="10058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Human review</a:t>
            </a:r>
            <a:endParaRPr sz="1400" b="0" i="0" u="none" strike="noStrike" cap="none">
              <a:solidFill>
                <a:schemeClr val="dk1"/>
              </a:solidFill>
              <a:latin typeface="Calibri"/>
              <a:ea typeface="Calibri"/>
              <a:cs typeface="Calibri"/>
              <a:sym typeface="Calibri"/>
            </a:endParaRPr>
          </a:p>
        </p:txBody>
      </p:sp>
      <p:sp>
        <p:nvSpPr>
          <p:cNvPr id="193" name="Google Shape;193;p14"/>
          <p:cNvSpPr txBox="1"/>
          <p:nvPr/>
        </p:nvSpPr>
        <p:spPr>
          <a:xfrm>
            <a:off x="457200" y="3840480"/>
            <a:ext cx="82296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0" i="1" u="none" strike="noStrike" cap="none">
                <a:solidFill>
                  <a:schemeClr val="accent6"/>
                </a:solidFill>
                <a:latin typeface="Calibri"/>
                <a:ea typeface="Calibri"/>
                <a:cs typeface="Calibri"/>
                <a:sym typeface="Calibri"/>
              </a:rPr>
              <a:t>Runs in Google Colab against SAS OnDemand for Academics · full source on GitHub</a:t>
            </a:r>
            <a:endParaRPr sz="1400" b="0" i="0" u="none" strike="noStrike" cap="none">
              <a:solidFill>
                <a:schemeClr val="dk1"/>
              </a:solidFill>
              <a:latin typeface="Calibri"/>
              <a:ea typeface="Calibri"/>
              <a:cs typeface="Calibri"/>
              <a:sym typeface="Calibri"/>
            </a:endParaRPr>
          </a:p>
        </p:txBody>
      </p:sp>
      <p:sp>
        <p:nvSpPr>
          <p:cNvPr id="194" name="Google Shape;194;p14"/>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8</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5"/>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Three configurations, one schema</a:t>
            </a:r>
            <a:endParaRPr sz="3000"/>
          </a:p>
        </p:txBody>
      </p:sp>
      <p:sp>
        <p:nvSpPr>
          <p:cNvPr id="201" name="Google Shape;201;p15"/>
          <p:cNvSpPr/>
          <p:nvPr/>
        </p:nvSpPr>
        <p:spPr>
          <a:xfrm>
            <a:off x="457200" y="1188720"/>
            <a:ext cx="2560320" cy="310896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5"/>
          <p:cNvSpPr/>
          <p:nvPr/>
        </p:nvSpPr>
        <p:spPr>
          <a:xfrm>
            <a:off x="685800" y="1371600"/>
            <a:ext cx="548640" cy="54864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3" name="Google Shape;203;p15" descr="icon"/>
          <p:cNvPicPr preferRelativeResize="0"/>
          <p:nvPr/>
        </p:nvPicPr>
        <p:blipFill rotWithShape="1">
          <a:blip r:embed="rId3">
            <a:alphaModFix/>
          </a:blip>
          <a:srcRect/>
          <a:stretch/>
        </p:blipFill>
        <p:spPr>
          <a:xfrm>
            <a:off x="806501" y="1492301"/>
            <a:ext cx="307238" cy="307238"/>
          </a:xfrm>
          <a:prstGeom prst="rect">
            <a:avLst/>
          </a:prstGeom>
          <a:noFill/>
          <a:ln>
            <a:noFill/>
          </a:ln>
        </p:spPr>
      </p:pic>
      <p:sp>
        <p:nvSpPr>
          <p:cNvPr id="204" name="Google Shape;204;p15"/>
          <p:cNvSpPr txBox="1"/>
          <p:nvPr/>
        </p:nvSpPr>
        <p:spPr>
          <a:xfrm>
            <a:off x="1371600" y="137160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1" i="0" u="none" strike="noStrike" cap="none">
                <a:solidFill>
                  <a:schemeClr val="accent6"/>
                </a:solidFill>
                <a:latin typeface="Calibri"/>
                <a:ea typeface="Calibri"/>
                <a:cs typeface="Calibri"/>
                <a:sym typeface="Calibri"/>
              </a:rPr>
              <a:t>Config 1</a:t>
            </a:r>
            <a:endParaRPr sz="1300" b="0" i="0" u="none" strike="noStrike" cap="none">
              <a:solidFill>
                <a:schemeClr val="dk1"/>
              </a:solidFill>
              <a:latin typeface="Calibri"/>
              <a:ea typeface="Calibri"/>
              <a:cs typeface="Calibri"/>
              <a:sym typeface="Calibri"/>
            </a:endParaRPr>
          </a:p>
        </p:txBody>
      </p:sp>
      <p:sp>
        <p:nvSpPr>
          <p:cNvPr id="205" name="Google Shape;205;p15"/>
          <p:cNvSpPr txBox="1"/>
          <p:nvPr/>
        </p:nvSpPr>
        <p:spPr>
          <a:xfrm>
            <a:off x="1371600" y="1645920"/>
            <a:ext cx="1600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dirty="0">
                <a:solidFill>
                  <a:schemeClr val="dk1"/>
                </a:solidFill>
                <a:latin typeface="Calibri"/>
                <a:ea typeface="Calibri"/>
                <a:cs typeface="Calibri"/>
                <a:sym typeface="Calibri"/>
              </a:rPr>
              <a:t>Zero-shot baseline </a:t>
            </a:r>
            <a:r>
              <a:rPr lang="en-US" sz="1600" b="1" i="0" u="none" strike="noStrike" cap="none" dirty="0">
                <a:solidFill>
                  <a:schemeClr val="dk1"/>
                </a:solidFill>
                <a:highlight>
                  <a:srgbClr val="FFFF00"/>
                </a:highlight>
                <a:latin typeface="Calibri"/>
                <a:ea typeface="Calibri"/>
                <a:cs typeface="Calibri"/>
                <a:sym typeface="Calibri"/>
              </a:rPr>
              <a:t>(control case)</a:t>
            </a:r>
            <a:endParaRPr sz="1600" b="0" i="0" u="none" strike="noStrike" cap="none" dirty="0">
              <a:solidFill>
                <a:schemeClr val="dk1"/>
              </a:solidFill>
              <a:highlight>
                <a:srgbClr val="FFFF00"/>
              </a:highlight>
              <a:latin typeface="Calibri"/>
              <a:ea typeface="Calibri"/>
              <a:cs typeface="Calibri"/>
              <a:sym typeface="Calibri"/>
            </a:endParaRPr>
          </a:p>
        </p:txBody>
      </p:sp>
      <p:sp>
        <p:nvSpPr>
          <p:cNvPr id="206" name="Google Shape;206;p15"/>
          <p:cNvSpPr txBox="1"/>
          <p:nvPr/>
        </p:nvSpPr>
        <p:spPr>
          <a:xfrm>
            <a:off x="685800" y="2194560"/>
            <a:ext cx="2148840" cy="2011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1" i="0" u="none" strike="noStrike" cap="none" dirty="0">
                <a:solidFill>
                  <a:schemeClr val="accent6"/>
                </a:solidFill>
                <a:latin typeface="Calibri"/>
                <a:ea typeface="Calibri"/>
                <a:cs typeface="Calibri"/>
                <a:sym typeface="Calibri"/>
              </a:rPr>
              <a:t>Model</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Gemma 4 E2B-it, quantized</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dirty="0">
                <a:solidFill>
                  <a:schemeClr val="accent6"/>
                </a:solidFill>
                <a:latin typeface="Calibri"/>
                <a:ea typeface="Calibri"/>
                <a:cs typeface="Calibri"/>
                <a:sym typeface="Calibri"/>
              </a:rPr>
              <a:t>Compute</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CPU only</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dirty="0">
                <a:solidFill>
                  <a:schemeClr val="accent6"/>
                </a:solidFill>
                <a:latin typeface="Calibri"/>
                <a:ea typeface="Calibri"/>
                <a:cs typeface="Calibri"/>
                <a:sym typeface="Calibri"/>
              </a:rPr>
              <a:t>Grounding</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None (post-hoc guardrail)</a:t>
            </a:r>
            <a:endParaRPr sz="1400" b="0" i="0" u="none" strike="noStrike" cap="none" dirty="0">
              <a:solidFill>
                <a:schemeClr val="dk1"/>
              </a:solidFill>
              <a:latin typeface="Calibri"/>
              <a:ea typeface="Calibri"/>
              <a:cs typeface="Calibri"/>
              <a:sym typeface="Calibri"/>
            </a:endParaRPr>
          </a:p>
        </p:txBody>
      </p:sp>
      <p:sp>
        <p:nvSpPr>
          <p:cNvPr id="207" name="Google Shape;207;p15"/>
          <p:cNvSpPr/>
          <p:nvPr/>
        </p:nvSpPr>
        <p:spPr>
          <a:xfrm>
            <a:off x="3291840" y="1188720"/>
            <a:ext cx="2560320" cy="310896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5"/>
          <p:cNvSpPr/>
          <p:nvPr/>
        </p:nvSpPr>
        <p:spPr>
          <a:xfrm>
            <a:off x="352044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9" name="Google Shape;209;p15" descr="icon"/>
          <p:cNvPicPr preferRelativeResize="0"/>
          <p:nvPr/>
        </p:nvPicPr>
        <p:blipFill rotWithShape="1">
          <a:blip r:embed="rId4">
            <a:alphaModFix/>
          </a:blip>
          <a:srcRect/>
          <a:stretch/>
        </p:blipFill>
        <p:spPr>
          <a:xfrm>
            <a:off x="3641141" y="1492301"/>
            <a:ext cx="307238" cy="307238"/>
          </a:xfrm>
          <a:prstGeom prst="rect">
            <a:avLst/>
          </a:prstGeom>
          <a:noFill/>
          <a:ln>
            <a:noFill/>
          </a:ln>
        </p:spPr>
      </p:pic>
      <p:sp>
        <p:nvSpPr>
          <p:cNvPr id="210" name="Google Shape;210;p15"/>
          <p:cNvSpPr txBox="1"/>
          <p:nvPr/>
        </p:nvSpPr>
        <p:spPr>
          <a:xfrm>
            <a:off x="4206240" y="137160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1" i="0" u="none" strike="noStrike" cap="none">
                <a:solidFill>
                  <a:schemeClr val="accent6"/>
                </a:solidFill>
                <a:latin typeface="Calibri"/>
                <a:ea typeface="Calibri"/>
                <a:cs typeface="Calibri"/>
                <a:sym typeface="Calibri"/>
              </a:rPr>
              <a:t>Config 2</a:t>
            </a:r>
            <a:endParaRPr sz="1300" b="0" i="0" u="none" strike="noStrike" cap="none">
              <a:solidFill>
                <a:schemeClr val="dk1"/>
              </a:solidFill>
              <a:latin typeface="Calibri"/>
              <a:ea typeface="Calibri"/>
              <a:cs typeface="Calibri"/>
              <a:sym typeface="Calibri"/>
            </a:endParaRPr>
          </a:p>
        </p:txBody>
      </p:sp>
      <p:sp>
        <p:nvSpPr>
          <p:cNvPr id="211" name="Google Shape;211;p15"/>
          <p:cNvSpPr txBox="1"/>
          <p:nvPr/>
        </p:nvSpPr>
        <p:spPr>
          <a:xfrm>
            <a:off x="4206240" y="1645920"/>
            <a:ext cx="1600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dirty="0">
                <a:solidFill>
                  <a:schemeClr val="dk1"/>
                </a:solidFill>
                <a:latin typeface="Calibri"/>
                <a:ea typeface="Calibri"/>
                <a:cs typeface="Calibri"/>
                <a:sym typeface="Calibri"/>
              </a:rPr>
              <a:t>Fine-tune </a:t>
            </a:r>
            <a:r>
              <a:rPr lang="en-US" sz="1600" b="1" i="0" u="none" strike="noStrike" cap="none" dirty="0">
                <a:solidFill>
                  <a:schemeClr val="dk1"/>
                </a:solidFill>
                <a:highlight>
                  <a:srgbClr val="FFFF00"/>
                </a:highlight>
                <a:latin typeface="Calibri"/>
                <a:ea typeface="Calibri"/>
                <a:cs typeface="Calibri"/>
                <a:sym typeface="Calibri"/>
              </a:rPr>
              <a:t>(experiment)</a:t>
            </a:r>
            <a:endParaRPr sz="1600" b="0" i="0" u="none" strike="noStrike" cap="none" dirty="0">
              <a:solidFill>
                <a:schemeClr val="dk1"/>
              </a:solidFill>
              <a:highlight>
                <a:srgbClr val="FFFF00"/>
              </a:highlight>
              <a:latin typeface="Calibri"/>
              <a:ea typeface="Calibri"/>
              <a:cs typeface="Calibri"/>
              <a:sym typeface="Calibri"/>
            </a:endParaRPr>
          </a:p>
        </p:txBody>
      </p:sp>
      <p:sp>
        <p:nvSpPr>
          <p:cNvPr id="212" name="Google Shape;212;p15"/>
          <p:cNvSpPr txBox="1"/>
          <p:nvPr/>
        </p:nvSpPr>
        <p:spPr>
          <a:xfrm>
            <a:off x="3520440" y="2194560"/>
            <a:ext cx="2148840" cy="2011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1" i="0" u="none" strike="noStrike" cap="none" dirty="0">
                <a:solidFill>
                  <a:schemeClr val="accent6"/>
                </a:solidFill>
                <a:latin typeface="Calibri"/>
                <a:ea typeface="Calibri"/>
                <a:cs typeface="Calibri"/>
                <a:sym typeface="Calibri"/>
              </a:rPr>
              <a:t>Model</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Same Gemma model + adapters</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dirty="0">
                <a:solidFill>
                  <a:schemeClr val="accent6"/>
                </a:solidFill>
                <a:latin typeface="Calibri"/>
                <a:ea typeface="Calibri"/>
                <a:cs typeface="Calibri"/>
                <a:sym typeface="Calibri"/>
              </a:rPr>
              <a:t>Compute</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dirty="0">
                <a:solidFill>
                  <a:schemeClr val="dk1"/>
                </a:solidFill>
                <a:highlight>
                  <a:srgbClr val="FFFF00"/>
                </a:highlight>
                <a:latin typeface="Calibri"/>
                <a:ea typeface="Calibri"/>
                <a:cs typeface="Calibri"/>
                <a:sym typeface="Calibri"/>
              </a:rPr>
              <a:t>Temporary </a:t>
            </a:r>
            <a:r>
              <a:rPr lang="en-US" sz="1400" b="0" i="0" u="none" strike="noStrike" cap="none" dirty="0">
                <a:solidFill>
                  <a:schemeClr val="dk1"/>
                </a:solidFill>
                <a:highlight>
                  <a:srgbClr val="FFFF00"/>
                </a:highlight>
                <a:latin typeface="Calibri"/>
                <a:ea typeface="Calibri"/>
                <a:cs typeface="Calibri"/>
                <a:sym typeface="Calibri"/>
              </a:rPr>
              <a:t>GPU access to train (don’t need for inference)</a:t>
            </a:r>
            <a:endParaRPr sz="1400" b="0" i="0" u="none" strike="noStrike" cap="none" dirty="0">
              <a:solidFill>
                <a:schemeClr val="dk1"/>
              </a:solidFill>
              <a:highlight>
                <a:srgbClr val="FFFF00"/>
              </a:highlight>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dirty="0">
                <a:solidFill>
                  <a:schemeClr val="accent6"/>
                </a:solidFill>
                <a:latin typeface="Calibri"/>
                <a:ea typeface="Calibri"/>
                <a:cs typeface="Calibri"/>
                <a:sym typeface="Calibri"/>
              </a:rPr>
              <a:t>Grounding</a:t>
            </a:r>
            <a:endParaRPr sz="1400" b="0" i="0" u="none" strike="noStrike" cap="none" dirty="0">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Learned from ~580 pairs</a:t>
            </a:r>
            <a:endParaRPr sz="1400" b="0" i="0" u="none" strike="noStrike" cap="none" dirty="0">
              <a:solidFill>
                <a:schemeClr val="dk1"/>
              </a:solidFill>
              <a:latin typeface="Calibri"/>
              <a:ea typeface="Calibri"/>
              <a:cs typeface="Calibri"/>
              <a:sym typeface="Calibri"/>
            </a:endParaRPr>
          </a:p>
        </p:txBody>
      </p:sp>
      <p:sp>
        <p:nvSpPr>
          <p:cNvPr id="213" name="Google Shape;213;p15"/>
          <p:cNvSpPr/>
          <p:nvPr/>
        </p:nvSpPr>
        <p:spPr>
          <a:xfrm>
            <a:off x="6126480" y="1188720"/>
            <a:ext cx="2560320" cy="310896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5"/>
          <p:cNvSpPr/>
          <p:nvPr/>
        </p:nvSpPr>
        <p:spPr>
          <a:xfrm>
            <a:off x="6355080" y="137160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5" name="Google Shape;215;p15" descr="icon"/>
          <p:cNvPicPr preferRelativeResize="0"/>
          <p:nvPr/>
        </p:nvPicPr>
        <p:blipFill rotWithShape="1">
          <a:blip r:embed="rId5">
            <a:alphaModFix/>
          </a:blip>
          <a:srcRect/>
          <a:stretch/>
        </p:blipFill>
        <p:spPr>
          <a:xfrm>
            <a:off x="6475781" y="1492301"/>
            <a:ext cx="307238" cy="307238"/>
          </a:xfrm>
          <a:prstGeom prst="rect">
            <a:avLst/>
          </a:prstGeom>
          <a:noFill/>
          <a:ln>
            <a:noFill/>
          </a:ln>
        </p:spPr>
      </p:pic>
      <p:sp>
        <p:nvSpPr>
          <p:cNvPr id="216" name="Google Shape;216;p15"/>
          <p:cNvSpPr txBox="1"/>
          <p:nvPr/>
        </p:nvSpPr>
        <p:spPr>
          <a:xfrm>
            <a:off x="7040880" y="137160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300"/>
              <a:buFont typeface="Calibri"/>
              <a:buNone/>
            </a:pPr>
            <a:r>
              <a:rPr lang="en-US" sz="1300" b="1" i="0" u="none" strike="noStrike" cap="none">
                <a:solidFill>
                  <a:schemeClr val="accent6"/>
                </a:solidFill>
                <a:latin typeface="Calibri"/>
                <a:ea typeface="Calibri"/>
                <a:cs typeface="Calibri"/>
                <a:sym typeface="Calibri"/>
              </a:rPr>
              <a:t>Config 3</a:t>
            </a:r>
            <a:endParaRPr sz="1300" b="0" i="0" u="none" strike="noStrike" cap="none">
              <a:solidFill>
                <a:schemeClr val="dk1"/>
              </a:solidFill>
              <a:latin typeface="Calibri"/>
              <a:ea typeface="Calibri"/>
              <a:cs typeface="Calibri"/>
              <a:sym typeface="Calibri"/>
            </a:endParaRPr>
          </a:p>
        </p:txBody>
      </p:sp>
      <p:sp>
        <p:nvSpPr>
          <p:cNvPr id="217" name="Google Shape;217;p15"/>
          <p:cNvSpPr txBox="1"/>
          <p:nvPr/>
        </p:nvSpPr>
        <p:spPr>
          <a:xfrm>
            <a:off x="7040880" y="1645920"/>
            <a:ext cx="1600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dirty="0">
                <a:solidFill>
                  <a:schemeClr val="dk1"/>
                </a:solidFill>
                <a:latin typeface="Calibri"/>
                <a:ea typeface="Calibri"/>
                <a:cs typeface="Calibri"/>
                <a:sym typeface="Calibri"/>
              </a:rPr>
              <a:t>Frontier + skills (</a:t>
            </a:r>
            <a:r>
              <a:rPr lang="en-US" sz="1600" b="1" i="0" u="none" strike="noStrike" cap="none" dirty="0">
                <a:solidFill>
                  <a:schemeClr val="dk1"/>
                </a:solidFill>
                <a:highlight>
                  <a:srgbClr val="FFFF00"/>
                </a:highlight>
                <a:latin typeface="Calibri"/>
                <a:ea typeface="Calibri"/>
                <a:cs typeface="Calibri"/>
                <a:sym typeface="Calibri"/>
              </a:rPr>
              <a:t>benchmark</a:t>
            </a:r>
            <a:r>
              <a:rPr lang="en-US" sz="1600" b="1" i="0" u="none" strike="noStrike" cap="none" dirty="0">
                <a:solidFill>
                  <a:schemeClr val="dk1"/>
                </a:solidFill>
                <a:latin typeface="Calibri"/>
                <a:ea typeface="Calibri"/>
                <a:cs typeface="Calibri"/>
                <a:sym typeface="Calibri"/>
              </a:rPr>
              <a:t> )</a:t>
            </a:r>
            <a:endParaRPr sz="1600" b="0" i="0" u="none" strike="noStrike" cap="none" dirty="0">
              <a:solidFill>
                <a:schemeClr val="dk1"/>
              </a:solidFill>
              <a:latin typeface="Calibri"/>
              <a:ea typeface="Calibri"/>
              <a:cs typeface="Calibri"/>
              <a:sym typeface="Calibri"/>
            </a:endParaRPr>
          </a:p>
        </p:txBody>
      </p:sp>
      <p:sp>
        <p:nvSpPr>
          <p:cNvPr id="218" name="Google Shape;218;p15"/>
          <p:cNvSpPr txBox="1"/>
          <p:nvPr/>
        </p:nvSpPr>
        <p:spPr>
          <a:xfrm>
            <a:off x="6355080" y="2194560"/>
            <a:ext cx="2148840" cy="2011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Model</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Claude Opus 5</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Compute</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Hosted subscription</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Grounding</a:t>
            </a:r>
            <a:endParaRPr sz="1400" b="0" i="0" u="none" strike="noStrike" cap="none">
              <a:solidFill>
                <a:schemeClr val="dk1"/>
              </a:solidFill>
              <a:latin typeface="Calibri"/>
              <a:ea typeface="Calibri"/>
              <a:cs typeface="Calibri"/>
              <a:sym typeface="Calibri"/>
            </a:endParaRPr>
          </a:p>
          <a:p>
            <a:pPr marL="0" marR="0" lvl="0" indent="0" algn="l" rtl="0">
              <a:spcBef>
                <a:spcPts val="40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Read-only SAS metadata tools</a:t>
            </a:r>
            <a:endParaRPr sz="1400" b="0" i="0" u="none" strike="noStrike" cap="none">
              <a:solidFill>
                <a:schemeClr val="dk1"/>
              </a:solidFill>
              <a:latin typeface="Calibri"/>
              <a:ea typeface="Calibri"/>
              <a:cs typeface="Calibri"/>
              <a:sym typeface="Calibri"/>
            </a:endParaRPr>
          </a:p>
        </p:txBody>
      </p:sp>
      <p:sp>
        <p:nvSpPr>
          <p:cNvPr id="219" name="Google Shape;219;p15"/>
          <p:cNvSpPr txBox="1"/>
          <p:nvPr/>
        </p:nvSpPr>
        <p:spPr>
          <a:xfrm>
            <a:off x="457200" y="438912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dirty="0">
                <a:solidFill>
                  <a:schemeClr val="accent6"/>
                </a:solidFill>
                <a:latin typeface="Calibri"/>
                <a:ea typeface="Calibri"/>
                <a:cs typeface="Calibri"/>
                <a:sym typeface="Calibri"/>
              </a:rPr>
              <a:t>Configs 1 and 2 are designed to run air-gapped; Config 3 needs a frontier-model subscription</a:t>
            </a:r>
            <a:endParaRPr sz="1200" b="0" i="0" u="none" strike="noStrike" cap="none" dirty="0">
              <a:solidFill>
                <a:schemeClr val="dk1"/>
              </a:solidFill>
              <a:latin typeface="Calibri"/>
              <a:ea typeface="Calibri"/>
              <a:cs typeface="Calibri"/>
              <a:sym typeface="Calibri"/>
            </a:endParaRPr>
          </a:p>
        </p:txBody>
      </p:sp>
      <p:sp>
        <p:nvSpPr>
          <p:cNvPr id="220" name="Google Shape;220;p15"/>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9</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Config 1: zero-shot, plus a guardrail</a:t>
            </a:r>
            <a:endParaRPr sz="3000"/>
          </a:p>
        </p:txBody>
      </p:sp>
      <p:sp>
        <p:nvSpPr>
          <p:cNvPr id="227" name="Google Shape;227;p16"/>
          <p:cNvSpPr/>
          <p:nvPr/>
        </p:nvSpPr>
        <p:spPr>
          <a:xfrm>
            <a:off x="457200" y="1188720"/>
            <a:ext cx="3931920" cy="548640"/>
          </a:xfrm>
          <a:prstGeom prst="roundRect">
            <a:avLst>
              <a:gd name="adj" fmla="val 1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6"/>
          <p:cNvSpPr txBox="1"/>
          <p:nvPr/>
        </p:nvSpPr>
        <p:spPr>
          <a:xfrm>
            <a:off x="685800" y="118872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Program text + target schema</a:t>
            </a:r>
            <a:endParaRPr sz="1500" b="0" i="0" u="none" strike="noStrike" cap="none">
              <a:solidFill>
                <a:schemeClr val="dk1"/>
              </a:solidFill>
              <a:latin typeface="Calibri"/>
              <a:ea typeface="Calibri"/>
              <a:cs typeface="Calibri"/>
              <a:sym typeface="Calibri"/>
            </a:endParaRPr>
          </a:p>
        </p:txBody>
      </p:sp>
      <p:sp>
        <p:nvSpPr>
          <p:cNvPr id="229" name="Google Shape;229;p16"/>
          <p:cNvSpPr/>
          <p:nvPr/>
        </p:nvSpPr>
        <p:spPr>
          <a:xfrm>
            <a:off x="2286000" y="1755648"/>
            <a:ext cx="274320" cy="182880"/>
          </a:xfrm>
          <a:prstGeom prst="down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6"/>
          <p:cNvSpPr/>
          <p:nvPr/>
        </p:nvSpPr>
        <p:spPr>
          <a:xfrm>
            <a:off x="457200" y="1965960"/>
            <a:ext cx="3931920" cy="548640"/>
          </a:xfrm>
          <a:prstGeom prst="roundRect">
            <a:avLst>
              <a:gd name="adj" fmla="val 1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6"/>
          <p:cNvSpPr txBox="1"/>
          <p:nvPr/>
        </p:nvSpPr>
        <p:spPr>
          <a:xfrm>
            <a:off x="685800" y="196596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Gemma 4 E2B-it on CPU</a:t>
            </a:r>
            <a:endParaRPr sz="1500" b="0" i="0" u="none" strike="noStrike" cap="none">
              <a:solidFill>
                <a:schemeClr val="dk1"/>
              </a:solidFill>
              <a:latin typeface="Calibri"/>
              <a:ea typeface="Calibri"/>
              <a:cs typeface="Calibri"/>
              <a:sym typeface="Calibri"/>
            </a:endParaRPr>
          </a:p>
        </p:txBody>
      </p:sp>
      <p:sp>
        <p:nvSpPr>
          <p:cNvPr id="232" name="Google Shape;232;p16"/>
          <p:cNvSpPr/>
          <p:nvPr/>
        </p:nvSpPr>
        <p:spPr>
          <a:xfrm>
            <a:off x="2286000" y="2532888"/>
            <a:ext cx="274320" cy="182880"/>
          </a:xfrm>
          <a:prstGeom prst="down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6"/>
          <p:cNvSpPr/>
          <p:nvPr/>
        </p:nvSpPr>
        <p:spPr>
          <a:xfrm>
            <a:off x="457200" y="2743200"/>
            <a:ext cx="3931920" cy="548640"/>
          </a:xfrm>
          <a:prstGeom prst="roundRect">
            <a:avLst>
              <a:gd name="adj" fmla="val 1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6"/>
          <p:cNvSpPr txBox="1"/>
          <p:nvPr/>
        </p:nvSpPr>
        <p:spPr>
          <a:xfrm>
            <a:off x="685800" y="274320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Draft JSON</a:t>
            </a:r>
            <a:endParaRPr sz="1500" b="0" i="0" u="none" strike="noStrike" cap="none">
              <a:solidFill>
                <a:schemeClr val="dk1"/>
              </a:solidFill>
              <a:latin typeface="Calibri"/>
              <a:ea typeface="Calibri"/>
              <a:cs typeface="Calibri"/>
              <a:sym typeface="Calibri"/>
            </a:endParaRPr>
          </a:p>
        </p:txBody>
      </p:sp>
      <p:sp>
        <p:nvSpPr>
          <p:cNvPr id="235" name="Google Shape;235;p16"/>
          <p:cNvSpPr/>
          <p:nvPr/>
        </p:nvSpPr>
        <p:spPr>
          <a:xfrm>
            <a:off x="2286000" y="3310128"/>
            <a:ext cx="274320" cy="182880"/>
          </a:xfrm>
          <a:prstGeom prst="down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6"/>
          <p:cNvSpPr/>
          <p:nvPr/>
        </p:nvSpPr>
        <p:spPr>
          <a:xfrm>
            <a:off x="457200" y="3520440"/>
            <a:ext cx="3931920" cy="548640"/>
          </a:xfrm>
          <a:prstGeom prst="roundRect">
            <a:avLst>
              <a:gd name="adj" fmla="val 13333"/>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6"/>
          <p:cNvSpPr txBox="1"/>
          <p:nvPr/>
        </p:nvSpPr>
        <p:spPr>
          <a:xfrm>
            <a:off x="685800" y="3520440"/>
            <a:ext cx="35661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guardrail.py static scan</a:t>
            </a:r>
            <a:endParaRPr sz="1500" b="0" i="0" u="none" strike="noStrike" cap="none">
              <a:solidFill>
                <a:schemeClr val="dk1"/>
              </a:solidFill>
              <a:latin typeface="Calibri"/>
              <a:ea typeface="Calibri"/>
              <a:cs typeface="Calibri"/>
              <a:sym typeface="Calibri"/>
            </a:endParaRPr>
          </a:p>
        </p:txBody>
      </p:sp>
      <p:sp>
        <p:nvSpPr>
          <p:cNvPr id="238" name="Google Shape;238;p16"/>
          <p:cNvSpPr/>
          <p:nvPr/>
        </p:nvSpPr>
        <p:spPr>
          <a:xfrm>
            <a:off x="4937760" y="1188720"/>
            <a:ext cx="384048" cy="38404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9" name="Google Shape;239;p16" descr="icon"/>
          <p:cNvPicPr preferRelativeResize="0"/>
          <p:nvPr/>
        </p:nvPicPr>
        <p:blipFill rotWithShape="1">
          <a:blip r:embed="rId3">
            <a:alphaModFix/>
          </a:blip>
          <a:srcRect/>
          <a:stretch/>
        </p:blipFill>
        <p:spPr>
          <a:xfrm>
            <a:off x="5022251" y="1273211"/>
            <a:ext cx="215067" cy="215067"/>
          </a:xfrm>
          <a:prstGeom prst="rect">
            <a:avLst/>
          </a:prstGeom>
          <a:noFill/>
          <a:ln>
            <a:noFill/>
          </a:ln>
        </p:spPr>
      </p:pic>
      <p:sp>
        <p:nvSpPr>
          <p:cNvPr id="240" name="Google Shape;240;p16"/>
          <p:cNvSpPr txBox="1"/>
          <p:nvPr/>
        </p:nvSpPr>
        <p:spPr>
          <a:xfrm>
            <a:off x="5440680" y="1188720"/>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No tools</a:t>
            </a:r>
            <a:endParaRPr sz="1500" b="0" i="0" u="none" strike="noStrike" cap="none">
              <a:solidFill>
                <a:schemeClr val="dk1"/>
              </a:solidFill>
              <a:latin typeface="Calibri"/>
              <a:ea typeface="Calibri"/>
              <a:cs typeface="Calibri"/>
              <a:sym typeface="Calibri"/>
            </a:endParaRPr>
          </a:p>
        </p:txBody>
      </p:sp>
      <p:sp>
        <p:nvSpPr>
          <p:cNvPr id="241" name="Google Shape;241;p16"/>
          <p:cNvSpPr/>
          <p:nvPr/>
        </p:nvSpPr>
        <p:spPr>
          <a:xfrm>
            <a:off x="4937760" y="1737360"/>
            <a:ext cx="384048" cy="38404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2" name="Google Shape;242;p16" descr="icon"/>
          <p:cNvPicPr preferRelativeResize="0"/>
          <p:nvPr/>
        </p:nvPicPr>
        <p:blipFill rotWithShape="1">
          <a:blip r:embed="rId3">
            <a:alphaModFix/>
          </a:blip>
          <a:srcRect/>
          <a:stretch/>
        </p:blipFill>
        <p:spPr>
          <a:xfrm>
            <a:off x="5022251" y="1821851"/>
            <a:ext cx="215067" cy="215067"/>
          </a:xfrm>
          <a:prstGeom prst="rect">
            <a:avLst/>
          </a:prstGeom>
          <a:noFill/>
          <a:ln>
            <a:noFill/>
          </a:ln>
        </p:spPr>
      </p:pic>
      <p:sp>
        <p:nvSpPr>
          <p:cNvPr id="243" name="Google Shape;243;p16"/>
          <p:cNvSpPr txBox="1"/>
          <p:nvPr/>
        </p:nvSpPr>
        <p:spPr>
          <a:xfrm>
            <a:off x="5440680" y="1737360"/>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No examples</a:t>
            </a:r>
            <a:endParaRPr sz="1500" b="0" i="0" u="none" strike="noStrike" cap="none">
              <a:solidFill>
                <a:schemeClr val="dk1"/>
              </a:solidFill>
              <a:latin typeface="Calibri"/>
              <a:ea typeface="Calibri"/>
              <a:cs typeface="Calibri"/>
              <a:sym typeface="Calibri"/>
            </a:endParaRPr>
          </a:p>
        </p:txBody>
      </p:sp>
      <p:sp>
        <p:nvSpPr>
          <p:cNvPr id="244" name="Google Shape;244;p16"/>
          <p:cNvSpPr/>
          <p:nvPr/>
        </p:nvSpPr>
        <p:spPr>
          <a:xfrm>
            <a:off x="4937760" y="2286000"/>
            <a:ext cx="384048" cy="384048"/>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5" name="Google Shape;245;p16" descr="icon"/>
          <p:cNvPicPr preferRelativeResize="0"/>
          <p:nvPr/>
        </p:nvPicPr>
        <p:blipFill rotWithShape="1">
          <a:blip r:embed="rId3">
            <a:alphaModFix/>
          </a:blip>
          <a:srcRect/>
          <a:stretch/>
        </p:blipFill>
        <p:spPr>
          <a:xfrm>
            <a:off x="5022251" y="2370491"/>
            <a:ext cx="215067" cy="215067"/>
          </a:xfrm>
          <a:prstGeom prst="rect">
            <a:avLst/>
          </a:prstGeom>
          <a:noFill/>
          <a:ln>
            <a:noFill/>
          </a:ln>
        </p:spPr>
      </p:pic>
      <p:sp>
        <p:nvSpPr>
          <p:cNvPr id="246" name="Google Shape;246;p16"/>
          <p:cNvSpPr txBox="1"/>
          <p:nvPr/>
        </p:nvSpPr>
        <p:spPr>
          <a:xfrm>
            <a:off x="5440680" y="2286000"/>
            <a:ext cx="27432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No retrieval</a:t>
            </a:r>
            <a:endParaRPr sz="1500" b="0" i="0" u="none" strike="noStrike" cap="none">
              <a:solidFill>
                <a:schemeClr val="dk1"/>
              </a:solidFill>
              <a:latin typeface="Calibri"/>
              <a:ea typeface="Calibri"/>
              <a:cs typeface="Calibri"/>
              <a:sym typeface="Calibri"/>
            </a:endParaRPr>
          </a:p>
        </p:txBody>
      </p:sp>
      <p:sp>
        <p:nvSpPr>
          <p:cNvPr id="247" name="Google Shape;247;p16"/>
          <p:cNvSpPr/>
          <p:nvPr/>
        </p:nvSpPr>
        <p:spPr>
          <a:xfrm>
            <a:off x="4937760" y="2971800"/>
            <a:ext cx="374904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txBox="1"/>
          <p:nvPr/>
        </p:nvSpPr>
        <p:spPr>
          <a:xfrm>
            <a:off x="5120640" y="3108960"/>
            <a:ext cx="342900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ourier New"/>
              <a:buNone/>
            </a:pPr>
            <a:r>
              <a:rPr lang="en-US" sz="1400" b="1" i="0" u="none" strike="noStrike" cap="none">
                <a:solidFill>
                  <a:schemeClr val="dk1"/>
                </a:solidFill>
                <a:latin typeface="Courier New"/>
                <a:ea typeface="Courier New"/>
                <a:cs typeface="Courier New"/>
                <a:sym typeface="Courier New"/>
              </a:rPr>
              <a:t>guardrail.py </a:t>
            </a:r>
            <a:r>
              <a:rPr lang="en-US" sz="1400" b="0" i="0" u="none" strike="noStrike" cap="none">
                <a:solidFill>
                  <a:schemeClr val="dk1"/>
                </a:solidFill>
                <a:latin typeface="Calibri"/>
                <a:ea typeface="Calibri"/>
                <a:cs typeface="Calibri"/>
                <a:sym typeface="Calibri"/>
              </a:rPr>
              <a:t>checks every emitted variable, data set and macro-parameter name against the source and flags anything it cannot find.</a:t>
            </a:r>
            <a:endParaRPr sz="1400" b="0" i="0" u="none" strike="noStrike" cap="none">
              <a:solidFill>
                <a:schemeClr val="dk1"/>
              </a:solidFill>
              <a:latin typeface="Calibri"/>
              <a:ea typeface="Calibri"/>
              <a:cs typeface="Calibri"/>
              <a:sym typeface="Calibri"/>
            </a:endParaRPr>
          </a:p>
        </p:txBody>
      </p:sp>
      <p:sp>
        <p:nvSpPr>
          <p:cNvPr id="249" name="Google Shape;249;p16"/>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10</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7"/>
          <p:cNvSpPr txBox="1">
            <a:spLocks noGrp="1"/>
          </p:cNvSpPr>
          <p:nvPr>
            <p:ph type="title"/>
          </p:nvPr>
        </p:nvSpPr>
        <p:spPr>
          <a:xfrm>
            <a:off x="548640" y="1645920"/>
            <a:ext cx="6858000" cy="9144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Clr>
                <a:schemeClr val="lt1"/>
              </a:buClr>
              <a:buSzPts val="4000"/>
              <a:buFont typeface="Cambria"/>
              <a:buNone/>
            </a:pPr>
            <a:r>
              <a:rPr lang="en-US" sz="4000" b="1">
                <a:solidFill>
                  <a:schemeClr val="lt1"/>
                </a:solidFill>
                <a:latin typeface="Cambria"/>
                <a:ea typeface="Cambria"/>
                <a:cs typeface="Cambria"/>
                <a:sym typeface="Cambria"/>
              </a:rPr>
              <a:t>Deep dive: QLoRA</a:t>
            </a:r>
            <a:endParaRPr sz="4000"/>
          </a:p>
        </p:txBody>
      </p:sp>
      <p:sp>
        <p:nvSpPr>
          <p:cNvPr id="256" name="Google Shape;256;p17"/>
          <p:cNvSpPr txBox="1">
            <a:spLocks noGrp="1"/>
          </p:cNvSpPr>
          <p:nvPr>
            <p:ph type="body" idx="1"/>
          </p:nvPr>
        </p:nvSpPr>
        <p:spPr>
          <a:xfrm>
            <a:off x="548640" y="2697480"/>
            <a:ext cx="6858000" cy="54864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000"/>
              <a:buNone/>
            </a:pPr>
            <a:r>
              <a:rPr lang="en-US" sz="2000">
                <a:solidFill>
                  <a:schemeClr val="accent1"/>
                </a:solidFill>
              </a:rPr>
              <a:t>Fine-tuning a small open model on a single GPU</a:t>
            </a:r>
            <a:endParaRPr sz="2000"/>
          </a:p>
        </p:txBody>
      </p:sp>
      <p:sp>
        <p:nvSpPr>
          <p:cNvPr id="257" name="Google Shape;257;p17"/>
          <p:cNvSpPr/>
          <p:nvPr/>
        </p:nvSpPr>
        <p:spPr>
          <a:xfrm>
            <a:off x="7498080" y="1737360"/>
            <a:ext cx="1097280" cy="109728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8" name="Google Shape;258;p17" descr="icon"/>
          <p:cNvPicPr preferRelativeResize="0"/>
          <p:nvPr/>
        </p:nvPicPr>
        <p:blipFill rotWithShape="1">
          <a:blip r:embed="rId3">
            <a:alphaModFix/>
          </a:blip>
          <a:srcRect/>
          <a:stretch/>
        </p:blipFill>
        <p:spPr>
          <a:xfrm>
            <a:off x="7739482" y="1978762"/>
            <a:ext cx="614477" cy="614477"/>
          </a:xfrm>
          <a:prstGeom prst="rect">
            <a:avLst/>
          </a:prstGeom>
          <a:noFill/>
          <a:ln>
            <a:noFill/>
          </a:ln>
        </p:spPr>
      </p:pic>
      <p:sp>
        <p:nvSpPr>
          <p:cNvPr id="259" name="Google Shape;259;p17"/>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3"/>
                </a:solidFill>
                <a:latin typeface="Calibri"/>
                <a:ea typeface="Calibri"/>
                <a:cs typeface="Calibri"/>
                <a:sym typeface="Calibri"/>
              </a:rPr>
              <a:t>11</a:t>
            </a:fld>
            <a:endParaRPr sz="9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8"/>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LoRA: freeze W, learn a low-rank update</a:t>
            </a:r>
            <a:endParaRPr sz="3000"/>
          </a:p>
        </p:txBody>
      </p:sp>
      <p:sp>
        <p:nvSpPr>
          <p:cNvPr id="266" name="Google Shape;266;p18"/>
          <p:cNvSpPr/>
          <p:nvPr/>
        </p:nvSpPr>
        <p:spPr>
          <a:xfrm>
            <a:off x="548640" y="1280160"/>
            <a:ext cx="2011680" cy="201168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8"/>
          <p:cNvSpPr txBox="1"/>
          <p:nvPr/>
        </p:nvSpPr>
        <p:spPr>
          <a:xfrm>
            <a:off x="548640" y="1280160"/>
            <a:ext cx="2011680" cy="2011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3600"/>
              <a:buFont typeface="Cambria"/>
              <a:buNone/>
            </a:pPr>
            <a:r>
              <a:rPr lang="en-US" sz="3600" b="1" i="0" u="none" strike="noStrike" cap="none">
                <a:solidFill>
                  <a:schemeClr val="lt1"/>
                </a:solidFill>
                <a:latin typeface="Cambria"/>
                <a:ea typeface="Cambria"/>
                <a:cs typeface="Cambria"/>
                <a:sym typeface="Cambria"/>
              </a:rPr>
              <a:t>W</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300"/>
              <a:buFont typeface="Calibri"/>
              <a:buNone/>
            </a:pPr>
            <a:r>
              <a:rPr lang="en-US" sz="1300" b="0" i="0" u="none" strike="noStrike" cap="none">
                <a:solidFill>
                  <a:schemeClr val="lt1"/>
                </a:solidFill>
                <a:latin typeface="Calibri"/>
                <a:ea typeface="Calibri"/>
                <a:cs typeface="Calibri"/>
                <a:sym typeface="Calibri"/>
              </a:rPr>
              <a:t>frozen · d × k</a:t>
            </a:r>
            <a:endParaRPr sz="1400" b="0" i="0" u="none" strike="noStrike" cap="none">
              <a:solidFill>
                <a:schemeClr val="dk1"/>
              </a:solidFill>
              <a:latin typeface="Calibri"/>
              <a:ea typeface="Calibri"/>
              <a:cs typeface="Calibri"/>
              <a:sym typeface="Calibri"/>
            </a:endParaRPr>
          </a:p>
        </p:txBody>
      </p:sp>
      <p:sp>
        <p:nvSpPr>
          <p:cNvPr id="268" name="Google Shape;268;p18"/>
          <p:cNvSpPr txBox="1"/>
          <p:nvPr/>
        </p:nvSpPr>
        <p:spPr>
          <a:xfrm>
            <a:off x="2651760" y="1965960"/>
            <a:ext cx="36576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3200"/>
              <a:buFont typeface="Calibri"/>
              <a:buNone/>
            </a:pPr>
            <a:r>
              <a:rPr lang="en-US" sz="3200" b="1" i="0" u="none" strike="noStrike" cap="none">
                <a:solidFill>
                  <a:schemeClr val="dk1"/>
                </a:solidFill>
                <a:latin typeface="Calibri"/>
                <a:ea typeface="Calibri"/>
                <a:cs typeface="Calibri"/>
                <a:sym typeface="Calibri"/>
              </a:rPr>
              <a:t>+</a:t>
            </a:r>
            <a:endParaRPr sz="3200" b="0" i="0" u="none" strike="noStrike" cap="none">
              <a:solidFill>
                <a:schemeClr val="dk1"/>
              </a:solidFill>
              <a:latin typeface="Calibri"/>
              <a:ea typeface="Calibri"/>
              <a:cs typeface="Calibri"/>
              <a:sym typeface="Calibri"/>
            </a:endParaRPr>
          </a:p>
        </p:txBody>
      </p:sp>
      <p:sp>
        <p:nvSpPr>
          <p:cNvPr id="269" name="Google Shape;269;p18"/>
          <p:cNvSpPr/>
          <p:nvPr/>
        </p:nvSpPr>
        <p:spPr>
          <a:xfrm>
            <a:off x="3154680" y="1280160"/>
            <a:ext cx="411480" cy="201168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8"/>
          <p:cNvSpPr txBox="1"/>
          <p:nvPr/>
        </p:nvSpPr>
        <p:spPr>
          <a:xfrm>
            <a:off x="3154680" y="2057400"/>
            <a:ext cx="4114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000"/>
              <a:buFont typeface="Cambria"/>
              <a:buNone/>
            </a:pPr>
            <a:r>
              <a:rPr lang="en-US" sz="2000" b="1" i="0" u="none" strike="noStrike" cap="none">
                <a:solidFill>
                  <a:schemeClr val="lt1"/>
                </a:solidFill>
                <a:latin typeface="Cambria"/>
                <a:ea typeface="Cambria"/>
                <a:cs typeface="Cambria"/>
                <a:sym typeface="Cambria"/>
              </a:rPr>
              <a:t>B</a:t>
            </a:r>
            <a:endParaRPr sz="2000" b="0" i="0" u="none" strike="noStrike" cap="none">
              <a:solidFill>
                <a:schemeClr val="dk1"/>
              </a:solidFill>
              <a:latin typeface="Calibri"/>
              <a:ea typeface="Calibri"/>
              <a:cs typeface="Calibri"/>
              <a:sym typeface="Calibri"/>
            </a:endParaRPr>
          </a:p>
        </p:txBody>
      </p:sp>
      <p:sp>
        <p:nvSpPr>
          <p:cNvPr id="271" name="Google Shape;271;p18"/>
          <p:cNvSpPr txBox="1"/>
          <p:nvPr/>
        </p:nvSpPr>
        <p:spPr>
          <a:xfrm>
            <a:off x="3611880" y="1261872"/>
            <a:ext cx="32004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2200"/>
              <a:buFont typeface="Calibri"/>
              <a:buNone/>
            </a:pPr>
            <a:r>
              <a:rPr lang="en-US" sz="2200" b="1" i="0" u="none" strike="noStrike" cap="none">
                <a:solidFill>
                  <a:schemeClr val="dk1"/>
                </a:solidFill>
                <a:latin typeface="Calibri"/>
                <a:ea typeface="Calibri"/>
                <a:cs typeface="Calibri"/>
                <a:sym typeface="Calibri"/>
              </a:rPr>
              <a:t>×</a:t>
            </a:r>
            <a:endParaRPr sz="2200" b="0" i="0" u="none" strike="noStrike" cap="none">
              <a:solidFill>
                <a:schemeClr val="dk1"/>
              </a:solidFill>
              <a:latin typeface="Calibri"/>
              <a:ea typeface="Calibri"/>
              <a:cs typeface="Calibri"/>
              <a:sym typeface="Calibri"/>
            </a:endParaRPr>
          </a:p>
        </p:txBody>
      </p:sp>
      <p:sp>
        <p:nvSpPr>
          <p:cNvPr id="272" name="Google Shape;272;p18"/>
          <p:cNvSpPr/>
          <p:nvPr/>
        </p:nvSpPr>
        <p:spPr>
          <a:xfrm>
            <a:off x="3977640" y="1280160"/>
            <a:ext cx="2011680" cy="41148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8"/>
          <p:cNvSpPr txBox="1"/>
          <p:nvPr/>
        </p:nvSpPr>
        <p:spPr>
          <a:xfrm>
            <a:off x="3977640" y="1280160"/>
            <a:ext cx="201168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2000"/>
              <a:buFont typeface="Cambria"/>
              <a:buNone/>
            </a:pPr>
            <a:r>
              <a:rPr lang="en-US" sz="2000" b="1" i="0" u="none" strike="noStrike" cap="none">
                <a:solidFill>
                  <a:schemeClr val="lt1"/>
                </a:solidFill>
                <a:latin typeface="Cambria"/>
                <a:ea typeface="Cambria"/>
                <a:cs typeface="Cambria"/>
                <a:sym typeface="Cambria"/>
              </a:rPr>
              <a:t>A</a:t>
            </a:r>
            <a:endParaRPr sz="2000" b="0" i="0" u="none" strike="noStrike" cap="none">
              <a:solidFill>
                <a:schemeClr val="dk1"/>
              </a:solidFill>
              <a:latin typeface="Calibri"/>
              <a:ea typeface="Calibri"/>
              <a:cs typeface="Calibri"/>
              <a:sym typeface="Calibri"/>
            </a:endParaRPr>
          </a:p>
        </p:txBody>
      </p:sp>
      <p:sp>
        <p:nvSpPr>
          <p:cNvPr id="274" name="Google Shape;274;p18"/>
          <p:cNvSpPr txBox="1"/>
          <p:nvPr/>
        </p:nvSpPr>
        <p:spPr>
          <a:xfrm>
            <a:off x="3749040" y="1874520"/>
            <a:ext cx="2240280" cy="1371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B: d × r</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A: r × k</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r ≪ d, k</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300"/>
              <a:buFont typeface="Calibri"/>
              <a:buNone/>
            </a:pP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300"/>
              <a:buFont typeface="Calibri"/>
              <a:buNone/>
            </a:pPr>
            <a:r>
              <a:rPr lang="en-US" sz="1300" b="0" i="0" u="none" strike="noStrike" cap="none">
                <a:solidFill>
                  <a:schemeClr val="dk2"/>
                </a:solidFill>
                <a:latin typeface="Calibri"/>
                <a:ea typeface="Calibri"/>
                <a:cs typeface="Calibri"/>
                <a:sym typeface="Calibri"/>
              </a:rPr>
              <a:t>B starts at zero, so training begins at the base model</a:t>
            </a:r>
            <a:endParaRPr sz="1300" b="0" i="0" u="none" strike="noStrike" cap="none">
              <a:solidFill>
                <a:schemeClr val="dk1"/>
              </a:solidFill>
              <a:latin typeface="Calibri"/>
              <a:ea typeface="Calibri"/>
              <a:cs typeface="Calibri"/>
              <a:sym typeface="Calibri"/>
            </a:endParaRPr>
          </a:p>
        </p:txBody>
      </p:sp>
      <p:sp>
        <p:nvSpPr>
          <p:cNvPr id="275" name="Google Shape;275;p18"/>
          <p:cNvSpPr txBox="1"/>
          <p:nvPr/>
        </p:nvSpPr>
        <p:spPr>
          <a:xfrm>
            <a:off x="548640" y="3520440"/>
            <a:ext cx="5486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800"/>
              <a:buFont typeface="Cambria"/>
              <a:buNone/>
            </a:pPr>
            <a:r>
              <a:rPr lang="en-US" sz="1800" b="1" i="0" u="none" strike="noStrike" cap="none" dirty="0">
                <a:solidFill>
                  <a:schemeClr val="dk1"/>
                </a:solidFill>
                <a:latin typeface="Cambria"/>
                <a:ea typeface="Cambria"/>
                <a:cs typeface="Cambria"/>
                <a:sym typeface="Cambria"/>
              </a:rPr>
              <a:t>h = </a:t>
            </a:r>
            <a:r>
              <a:rPr lang="en-US" sz="1800" b="1" i="0" u="none" strike="noStrike" cap="none" dirty="0" err="1">
                <a:solidFill>
                  <a:schemeClr val="dk1"/>
                </a:solidFill>
                <a:latin typeface="Cambria"/>
                <a:ea typeface="Cambria"/>
                <a:cs typeface="Cambria"/>
                <a:sym typeface="Cambria"/>
              </a:rPr>
              <a:t>Wx</a:t>
            </a:r>
            <a:r>
              <a:rPr lang="en-US" sz="1800" b="1" i="0" u="none" strike="noStrike" cap="none" dirty="0">
                <a:solidFill>
                  <a:schemeClr val="dk1"/>
                </a:solidFill>
                <a:latin typeface="Cambria"/>
                <a:ea typeface="Cambria"/>
                <a:cs typeface="Cambria"/>
                <a:sym typeface="Cambria"/>
              </a:rPr>
              <a:t> + (α / r) · </a:t>
            </a:r>
            <a:r>
              <a:rPr lang="en-US" sz="1800" b="1" i="0" u="none" strike="noStrike" cap="none" dirty="0" err="1">
                <a:solidFill>
                  <a:schemeClr val="dk1"/>
                </a:solidFill>
                <a:latin typeface="Cambria"/>
                <a:ea typeface="Cambria"/>
                <a:cs typeface="Cambria"/>
                <a:sym typeface="Cambria"/>
              </a:rPr>
              <a:t>BAx</a:t>
            </a:r>
            <a:endParaRPr sz="1800" b="0" i="0" u="none" strike="noStrike" cap="none" dirty="0">
              <a:solidFill>
                <a:schemeClr val="dk1"/>
              </a:solidFill>
              <a:latin typeface="Calibri"/>
              <a:ea typeface="Calibri"/>
              <a:cs typeface="Calibri"/>
              <a:sym typeface="Calibri"/>
            </a:endParaRPr>
          </a:p>
        </p:txBody>
      </p:sp>
      <p:sp>
        <p:nvSpPr>
          <p:cNvPr id="276" name="Google Shape;276;p18"/>
          <p:cNvSpPr txBox="1"/>
          <p:nvPr/>
        </p:nvSpPr>
        <p:spPr>
          <a:xfrm>
            <a:off x="548640" y="3931920"/>
            <a:ext cx="54864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Only A and B are trained. α / r scales the update.</a:t>
            </a:r>
            <a:endParaRPr sz="1400" b="0" i="0" u="none" strike="noStrike" cap="none">
              <a:solidFill>
                <a:schemeClr val="dk1"/>
              </a:solidFill>
              <a:latin typeface="Calibri"/>
              <a:ea typeface="Calibri"/>
              <a:cs typeface="Calibri"/>
              <a:sym typeface="Calibri"/>
            </a:endParaRPr>
          </a:p>
        </p:txBody>
      </p:sp>
      <p:sp>
        <p:nvSpPr>
          <p:cNvPr id="277" name="Google Shape;277;p18"/>
          <p:cNvSpPr/>
          <p:nvPr/>
        </p:nvSpPr>
        <p:spPr>
          <a:xfrm>
            <a:off x="6355080" y="1280160"/>
            <a:ext cx="2331720" cy="2971800"/>
          </a:xfrm>
          <a:prstGeom prst="roundRect">
            <a:avLst>
              <a:gd name="adj" fmla="val 313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8"/>
          <p:cNvSpPr txBox="1"/>
          <p:nvPr/>
        </p:nvSpPr>
        <p:spPr>
          <a:xfrm>
            <a:off x="6492240" y="141732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6"/>
              </a:buClr>
              <a:buSzPts val="1200"/>
              <a:buFont typeface="Calibri"/>
              <a:buNone/>
            </a:pPr>
            <a:r>
              <a:rPr lang="en-US" sz="1200" b="1" i="0" u="none" strike="noStrike" cap="none">
                <a:solidFill>
                  <a:schemeClr val="accent6"/>
                </a:solidFill>
                <a:latin typeface="Calibri"/>
                <a:ea typeface="Calibri"/>
                <a:cs typeface="Calibri"/>
                <a:sym typeface="Calibri"/>
              </a:rPr>
              <a:t>One 2048 × 2048 layer</a:t>
            </a:r>
            <a:endParaRPr sz="1200" b="0" i="0" u="none" strike="noStrike" cap="none">
              <a:solidFill>
                <a:schemeClr val="dk1"/>
              </a:solidFill>
              <a:latin typeface="Calibri"/>
              <a:ea typeface="Calibri"/>
              <a:cs typeface="Calibri"/>
              <a:sym typeface="Calibri"/>
            </a:endParaRPr>
          </a:p>
        </p:txBody>
      </p:sp>
      <p:sp>
        <p:nvSpPr>
          <p:cNvPr id="279" name="Google Shape;279;p18"/>
          <p:cNvSpPr txBox="1"/>
          <p:nvPr/>
        </p:nvSpPr>
        <p:spPr>
          <a:xfrm>
            <a:off x="6492240" y="1737360"/>
            <a:ext cx="205740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3"/>
              </a:buClr>
              <a:buSzPts val="3200"/>
              <a:buFont typeface="Cambria"/>
              <a:buNone/>
            </a:pPr>
            <a:r>
              <a:rPr lang="en-US" sz="3200" b="1" i="0" u="none" strike="noStrike" cap="none">
                <a:solidFill>
                  <a:schemeClr val="accent3"/>
                </a:solidFill>
                <a:latin typeface="Cambria"/>
                <a:ea typeface="Cambria"/>
                <a:cs typeface="Cambria"/>
                <a:sym typeface="Cambria"/>
              </a:rPr>
              <a:t>4.2M</a:t>
            </a:r>
            <a:endParaRPr sz="3200" b="0" i="0" u="none" strike="noStrike" cap="none">
              <a:solidFill>
                <a:schemeClr val="dk1"/>
              </a:solidFill>
              <a:latin typeface="Calibri"/>
              <a:ea typeface="Calibri"/>
              <a:cs typeface="Calibri"/>
              <a:sym typeface="Calibri"/>
            </a:endParaRPr>
          </a:p>
        </p:txBody>
      </p:sp>
      <p:sp>
        <p:nvSpPr>
          <p:cNvPr id="280" name="Google Shape;280;p18"/>
          <p:cNvSpPr txBox="1"/>
          <p:nvPr/>
        </p:nvSpPr>
        <p:spPr>
          <a:xfrm>
            <a:off x="6492240" y="228600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full update</a:t>
            </a:r>
            <a:endParaRPr sz="1200" b="0" i="0" u="none" strike="noStrike" cap="none">
              <a:solidFill>
                <a:schemeClr val="dk1"/>
              </a:solidFill>
              <a:latin typeface="Calibri"/>
              <a:ea typeface="Calibri"/>
              <a:cs typeface="Calibri"/>
              <a:sym typeface="Calibri"/>
            </a:endParaRPr>
          </a:p>
        </p:txBody>
      </p:sp>
      <p:sp>
        <p:nvSpPr>
          <p:cNvPr id="281" name="Google Shape;281;p18"/>
          <p:cNvSpPr txBox="1"/>
          <p:nvPr/>
        </p:nvSpPr>
        <p:spPr>
          <a:xfrm>
            <a:off x="6492240" y="2697480"/>
            <a:ext cx="2057400" cy="54864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1"/>
              </a:buClr>
              <a:buSzPts val="3200"/>
              <a:buFont typeface="Cambria"/>
              <a:buNone/>
            </a:pPr>
            <a:r>
              <a:rPr lang="en-US" sz="3200" b="1" i="0" u="none" strike="noStrike" cap="none">
                <a:solidFill>
                  <a:schemeClr val="accent1"/>
                </a:solidFill>
                <a:latin typeface="Cambria"/>
                <a:ea typeface="Cambria"/>
                <a:cs typeface="Cambria"/>
                <a:sym typeface="Cambria"/>
              </a:rPr>
              <a:t>131K</a:t>
            </a:r>
            <a:endParaRPr sz="3200" b="0" i="0" u="none" strike="noStrike" cap="none">
              <a:solidFill>
                <a:schemeClr val="dk1"/>
              </a:solidFill>
              <a:latin typeface="Calibri"/>
              <a:ea typeface="Calibri"/>
              <a:cs typeface="Calibri"/>
              <a:sym typeface="Calibri"/>
            </a:endParaRPr>
          </a:p>
        </p:txBody>
      </p:sp>
      <p:sp>
        <p:nvSpPr>
          <p:cNvPr id="282" name="Google Shape;282;p18"/>
          <p:cNvSpPr txBox="1"/>
          <p:nvPr/>
        </p:nvSpPr>
        <p:spPr>
          <a:xfrm>
            <a:off x="6492240" y="324612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LoRA, r = 32 (≈ 3%)</a:t>
            </a:r>
            <a:endParaRPr sz="1200" b="0" i="0" u="none" strike="noStrike" cap="none">
              <a:solidFill>
                <a:schemeClr val="dk1"/>
              </a:solidFill>
              <a:latin typeface="Calibri"/>
              <a:ea typeface="Calibri"/>
              <a:cs typeface="Calibri"/>
              <a:sym typeface="Calibri"/>
            </a:endParaRPr>
          </a:p>
        </p:txBody>
      </p:sp>
      <p:sp>
        <p:nvSpPr>
          <p:cNvPr id="283" name="Google Shape;283;p18"/>
          <p:cNvSpPr txBox="1"/>
          <p:nvPr/>
        </p:nvSpPr>
        <p:spPr>
          <a:xfrm>
            <a:off x="6492240" y="3794760"/>
            <a:ext cx="205740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6"/>
              </a:buClr>
              <a:buSzPts val="1000"/>
              <a:buFont typeface="Calibri"/>
              <a:buNone/>
            </a:pPr>
            <a:r>
              <a:rPr lang="en-US" sz="1000" b="0" i="1" u="none" strike="noStrike" cap="none">
                <a:solidFill>
                  <a:schemeClr val="accent6"/>
                </a:solidFill>
                <a:latin typeface="Calibri"/>
                <a:ea typeface="Calibri"/>
                <a:cs typeface="Calibri"/>
                <a:sym typeface="Calibri"/>
              </a:rPr>
              <a:t>Illustrative arithmetic</a:t>
            </a:r>
            <a:endParaRPr sz="1000" b="0" i="0" u="none" strike="noStrike" cap="none">
              <a:solidFill>
                <a:schemeClr val="dk1"/>
              </a:solidFill>
              <a:latin typeface="Calibri"/>
              <a:ea typeface="Calibri"/>
              <a:cs typeface="Calibri"/>
              <a:sym typeface="Calibri"/>
            </a:endParaRPr>
          </a:p>
        </p:txBody>
      </p:sp>
      <p:sp>
        <p:nvSpPr>
          <p:cNvPr id="284" name="Google Shape;284;p18"/>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Hu et al. 2021, LoRA: Low-Rank Adaptation of Large Language Models, arXiv:2106.09685</a:t>
            </a:r>
            <a:endParaRPr sz="900" b="0" i="0" u="none" strike="noStrike" cap="none">
              <a:solidFill>
                <a:schemeClr val="dk1"/>
              </a:solidFill>
              <a:latin typeface="Calibri"/>
              <a:ea typeface="Calibri"/>
              <a:cs typeface="Calibri"/>
              <a:sym typeface="Calibri"/>
            </a:endParaRPr>
          </a:p>
        </p:txBody>
      </p:sp>
      <p:sp>
        <p:nvSpPr>
          <p:cNvPr id="285" name="Google Shape;285;p18"/>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12</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9"/>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dirty="0">
                <a:solidFill>
                  <a:schemeClr val="dk1"/>
                </a:solidFill>
                <a:latin typeface="Cambria"/>
                <a:ea typeface="Cambria"/>
                <a:cs typeface="Cambria"/>
                <a:sym typeface="Cambria"/>
              </a:rPr>
              <a:t>What the “Q” adds </a:t>
            </a:r>
            <a:r>
              <a:rPr lang="en-US" sz="3000" b="1" dirty="0">
                <a:solidFill>
                  <a:schemeClr val="dk1"/>
                </a:solidFill>
                <a:highlight>
                  <a:srgbClr val="FFFF00"/>
                </a:highlight>
                <a:latin typeface="Cambria"/>
                <a:ea typeface="Cambria"/>
                <a:cs typeface="Cambria"/>
                <a:sym typeface="Cambria"/>
              </a:rPr>
              <a:t>(change dark highlight)</a:t>
            </a:r>
            <a:endParaRPr sz="3000" dirty="0">
              <a:highlight>
                <a:srgbClr val="FFFF00"/>
              </a:highlight>
            </a:endParaRPr>
          </a:p>
        </p:txBody>
      </p:sp>
      <p:sp>
        <p:nvSpPr>
          <p:cNvPr id="292" name="Google Shape;292;p19"/>
          <p:cNvSpPr/>
          <p:nvPr/>
        </p:nvSpPr>
        <p:spPr>
          <a:xfrm>
            <a:off x="457200" y="1188720"/>
            <a:ext cx="2560320" cy="2194560"/>
          </a:xfrm>
          <a:prstGeom prst="roundRect">
            <a:avLst>
              <a:gd name="adj" fmla="val 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9"/>
          <p:cNvSpPr/>
          <p:nvPr/>
        </p:nvSpPr>
        <p:spPr>
          <a:xfrm>
            <a:off x="73152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4" name="Google Shape;294;p19" descr="icon"/>
          <p:cNvPicPr preferRelativeResize="0"/>
          <p:nvPr/>
        </p:nvPicPr>
        <p:blipFill rotWithShape="1">
          <a:blip r:embed="rId3">
            <a:alphaModFix/>
          </a:blip>
          <a:srcRect/>
          <a:stretch/>
        </p:blipFill>
        <p:spPr>
          <a:xfrm>
            <a:off x="852221" y="1492301"/>
            <a:ext cx="307238" cy="307238"/>
          </a:xfrm>
          <a:prstGeom prst="rect">
            <a:avLst/>
          </a:prstGeom>
          <a:noFill/>
          <a:ln>
            <a:noFill/>
          </a:ln>
        </p:spPr>
      </p:pic>
      <p:sp>
        <p:nvSpPr>
          <p:cNvPr id="295" name="Google Shape;295;p19"/>
          <p:cNvSpPr txBox="1"/>
          <p:nvPr/>
        </p:nvSpPr>
        <p:spPr>
          <a:xfrm>
            <a:off x="1417320" y="1371600"/>
            <a:ext cx="1554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NF4</a:t>
            </a:r>
            <a:endParaRPr sz="1600" b="0" i="0" u="none" strike="noStrike" cap="none">
              <a:solidFill>
                <a:schemeClr val="dk1"/>
              </a:solidFill>
              <a:latin typeface="Calibri"/>
              <a:ea typeface="Calibri"/>
              <a:cs typeface="Calibri"/>
              <a:sym typeface="Calibri"/>
            </a:endParaRPr>
          </a:p>
        </p:txBody>
      </p:sp>
      <p:sp>
        <p:nvSpPr>
          <p:cNvPr id="296" name="Google Shape;296;p19"/>
          <p:cNvSpPr txBox="1"/>
          <p:nvPr/>
        </p:nvSpPr>
        <p:spPr>
          <a:xfrm>
            <a:off x="731520" y="2057400"/>
            <a:ext cx="21031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4-bit NormalFloat: levels placed where normally distributed weights actually fall</a:t>
            </a:r>
            <a:endParaRPr sz="1400" b="0" i="0" u="none" strike="noStrike" cap="none">
              <a:solidFill>
                <a:schemeClr val="dk1"/>
              </a:solidFill>
              <a:latin typeface="Calibri"/>
              <a:ea typeface="Calibri"/>
              <a:cs typeface="Calibri"/>
              <a:sym typeface="Calibri"/>
            </a:endParaRPr>
          </a:p>
        </p:txBody>
      </p:sp>
      <p:sp>
        <p:nvSpPr>
          <p:cNvPr id="297" name="Google Shape;297;p19"/>
          <p:cNvSpPr/>
          <p:nvPr/>
        </p:nvSpPr>
        <p:spPr>
          <a:xfrm>
            <a:off x="3291840" y="1188720"/>
            <a:ext cx="2560320" cy="2194560"/>
          </a:xfrm>
          <a:prstGeom prst="roundRect">
            <a:avLst>
              <a:gd name="adj" fmla="val 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9"/>
          <p:cNvSpPr/>
          <p:nvPr/>
        </p:nvSpPr>
        <p:spPr>
          <a:xfrm>
            <a:off x="356616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9" name="Google Shape;299;p19" descr="icon"/>
          <p:cNvPicPr preferRelativeResize="0"/>
          <p:nvPr/>
        </p:nvPicPr>
        <p:blipFill rotWithShape="1">
          <a:blip r:embed="rId4">
            <a:alphaModFix/>
          </a:blip>
          <a:srcRect/>
          <a:stretch/>
        </p:blipFill>
        <p:spPr>
          <a:xfrm>
            <a:off x="3686861" y="1492301"/>
            <a:ext cx="307238" cy="307238"/>
          </a:xfrm>
          <a:prstGeom prst="rect">
            <a:avLst/>
          </a:prstGeom>
          <a:noFill/>
          <a:ln>
            <a:noFill/>
          </a:ln>
        </p:spPr>
      </p:pic>
      <p:sp>
        <p:nvSpPr>
          <p:cNvPr id="300" name="Google Shape;300;p19"/>
          <p:cNvSpPr txBox="1"/>
          <p:nvPr/>
        </p:nvSpPr>
        <p:spPr>
          <a:xfrm>
            <a:off x="4251960" y="1371600"/>
            <a:ext cx="1554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Double quantization</a:t>
            </a:r>
            <a:endParaRPr sz="1600" b="0" i="0" u="none" strike="noStrike" cap="none">
              <a:solidFill>
                <a:schemeClr val="dk1"/>
              </a:solidFill>
              <a:latin typeface="Calibri"/>
              <a:ea typeface="Calibri"/>
              <a:cs typeface="Calibri"/>
              <a:sym typeface="Calibri"/>
            </a:endParaRPr>
          </a:p>
        </p:txBody>
      </p:sp>
      <p:sp>
        <p:nvSpPr>
          <p:cNvPr id="301" name="Google Shape;301;p19"/>
          <p:cNvSpPr txBox="1"/>
          <p:nvPr/>
        </p:nvSpPr>
        <p:spPr>
          <a:xfrm>
            <a:off x="3566160" y="2057400"/>
            <a:ext cx="21031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Quantizes the quantization constants too, saving roughly a third of a bit per parameter</a:t>
            </a:r>
            <a:endParaRPr sz="1400" b="0" i="0" u="none" strike="noStrike" cap="none">
              <a:solidFill>
                <a:schemeClr val="dk1"/>
              </a:solidFill>
              <a:latin typeface="Calibri"/>
              <a:ea typeface="Calibri"/>
              <a:cs typeface="Calibri"/>
              <a:sym typeface="Calibri"/>
            </a:endParaRPr>
          </a:p>
        </p:txBody>
      </p:sp>
      <p:sp>
        <p:nvSpPr>
          <p:cNvPr id="302" name="Google Shape;302;p19"/>
          <p:cNvSpPr/>
          <p:nvPr/>
        </p:nvSpPr>
        <p:spPr>
          <a:xfrm>
            <a:off x="6126480" y="1188720"/>
            <a:ext cx="2560320" cy="2194560"/>
          </a:xfrm>
          <a:prstGeom prst="roundRect">
            <a:avLst>
              <a:gd name="adj" fmla="val 3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9"/>
          <p:cNvSpPr/>
          <p:nvPr/>
        </p:nvSpPr>
        <p:spPr>
          <a:xfrm>
            <a:off x="6400800" y="137160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4" name="Google Shape;304;p19" descr="icon"/>
          <p:cNvPicPr preferRelativeResize="0"/>
          <p:nvPr/>
        </p:nvPicPr>
        <p:blipFill rotWithShape="1">
          <a:blip r:embed="rId5">
            <a:alphaModFix/>
          </a:blip>
          <a:srcRect/>
          <a:stretch/>
        </p:blipFill>
        <p:spPr>
          <a:xfrm>
            <a:off x="6521501" y="1492301"/>
            <a:ext cx="307238" cy="307238"/>
          </a:xfrm>
          <a:prstGeom prst="rect">
            <a:avLst/>
          </a:prstGeom>
          <a:noFill/>
          <a:ln>
            <a:noFill/>
          </a:ln>
        </p:spPr>
      </p:pic>
      <p:sp>
        <p:nvSpPr>
          <p:cNvPr id="305" name="Google Shape;305;p19"/>
          <p:cNvSpPr txBox="1"/>
          <p:nvPr/>
        </p:nvSpPr>
        <p:spPr>
          <a:xfrm>
            <a:off x="7086600" y="1371600"/>
            <a:ext cx="155448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Paged optimizers</a:t>
            </a:r>
            <a:endParaRPr sz="1600" b="0" i="0" u="none" strike="noStrike" cap="none">
              <a:solidFill>
                <a:schemeClr val="dk1"/>
              </a:solidFill>
              <a:latin typeface="Calibri"/>
              <a:ea typeface="Calibri"/>
              <a:cs typeface="Calibri"/>
              <a:sym typeface="Calibri"/>
            </a:endParaRPr>
          </a:p>
        </p:txBody>
      </p:sp>
      <p:sp>
        <p:nvSpPr>
          <p:cNvPr id="306" name="Google Shape;306;p19"/>
          <p:cNvSpPr txBox="1"/>
          <p:nvPr/>
        </p:nvSpPr>
        <p:spPr>
          <a:xfrm>
            <a:off x="6400800" y="2057400"/>
            <a:ext cx="2103120" cy="12801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Unified memory absorbs memory spikes that would otherwise crash training</a:t>
            </a:r>
            <a:endParaRPr sz="1400" b="0" i="0" u="none" strike="noStrike" cap="none">
              <a:solidFill>
                <a:schemeClr val="dk1"/>
              </a:solidFill>
              <a:latin typeface="Calibri"/>
              <a:ea typeface="Calibri"/>
              <a:cs typeface="Calibri"/>
              <a:sym typeface="Calibri"/>
            </a:endParaRPr>
          </a:p>
        </p:txBody>
      </p:sp>
      <p:sp>
        <p:nvSpPr>
          <p:cNvPr id="307" name="Google Shape;307;p19"/>
          <p:cNvSpPr/>
          <p:nvPr/>
        </p:nvSpPr>
        <p:spPr>
          <a:xfrm>
            <a:off x="457200" y="3611880"/>
            <a:ext cx="8229600" cy="731520"/>
          </a:xfrm>
          <a:prstGeom prst="roundRect">
            <a:avLst>
              <a:gd name="adj" fmla="val 1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9"/>
          <p:cNvSpPr txBox="1"/>
          <p:nvPr/>
        </p:nvSpPr>
        <p:spPr>
          <a:xfrm>
            <a:off x="685800" y="3611880"/>
            <a:ext cx="7772400"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500"/>
              <a:buFont typeface="Calibri"/>
              <a:buNone/>
            </a:pPr>
            <a:r>
              <a:rPr lang="en-US" sz="1500" b="1" i="0" u="none" strike="noStrike" cap="none" dirty="0">
                <a:solidFill>
                  <a:schemeClr val="accent1"/>
                </a:solidFill>
                <a:latin typeface="Calibri"/>
                <a:ea typeface="Calibri"/>
                <a:cs typeface="Calibri"/>
                <a:sym typeface="Calibri"/>
              </a:rPr>
              <a:t>Store in 4-bit, compute in 16-bit. </a:t>
            </a:r>
            <a:r>
              <a:rPr lang="en-US" sz="1500" b="0" i="0" u="none" strike="noStrike" cap="none" dirty="0">
                <a:solidFill>
                  <a:schemeClr val="lt1"/>
                </a:solidFill>
                <a:latin typeface="Calibri"/>
                <a:ea typeface="Calibri"/>
                <a:cs typeface="Calibri"/>
                <a:sym typeface="Calibri"/>
              </a:rPr>
              <a:t>Enough to fine-tune a 65B-Dense model on one 48 GB GPU in the original paper.</a:t>
            </a:r>
            <a:endParaRPr sz="1500" b="0" i="0" u="none" strike="noStrike" cap="none" dirty="0">
              <a:solidFill>
                <a:schemeClr val="dk1"/>
              </a:solidFill>
              <a:latin typeface="Calibri"/>
              <a:ea typeface="Calibri"/>
              <a:cs typeface="Calibri"/>
              <a:sym typeface="Calibri"/>
            </a:endParaRPr>
          </a:p>
        </p:txBody>
      </p:sp>
      <p:sp>
        <p:nvSpPr>
          <p:cNvPr id="309" name="Google Shape;309;p19"/>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Dettmers et al. 2023, QLoRA: Efficient Finetuning of Quantized LLMs, arXiv:2305.14314</a:t>
            </a:r>
            <a:endParaRPr sz="900" b="0" i="0" u="none" strike="noStrike" cap="none">
              <a:solidFill>
                <a:schemeClr val="dk1"/>
              </a:solidFill>
              <a:latin typeface="Calibri"/>
              <a:ea typeface="Calibri"/>
              <a:cs typeface="Calibri"/>
              <a:sym typeface="Calibri"/>
            </a:endParaRPr>
          </a:p>
        </p:txBody>
      </p:sp>
      <p:sp>
        <p:nvSpPr>
          <p:cNvPr id="310" name="Google Shape;310;p19"/>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13</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0"/>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Teaching the format: the training corpus</a:t>
            </a:r>
            <a:endParaRPr sz="3000"/>
          </a:p>
        </p:txBody>
      </p:sp>
      <p:sp>
        <p:nvSpPr>
          <p:cNvPr id="317" name="Google Shape;317;p20"/>
          <p:cNvSpPr/>
          <p:nvPr/>
        </p:nvSpPr>
        <p:spPr>
          <a:xfrm>
            <a:off x="457200" y="1188720"/>
            <a:ext cx="25603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0"/>
          <p:cNvSpPr txBox="1"/>
          <p:nvPr/>
        </p:nvSpPr>
        <p:spPr>
          <a:xfrm>
            <a:off x="640080" y="132588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20</a:t>
            </a:r>
            <a:endParaRPr sz="4800" b="0" i="0" u="none" strike="noStrike" cap="none">
              <a:solidFill>
                <a:schemeClr val="dk1"/>
              </a:solidFill>
              <a:latin typeface="Calibri"/>
              <a:ea typeface="Calibri"/>
              <a:cs typeface="Calibri"/>
              <a:sym typeface="Calibri"/>
            </a:endParaRPr>
          </a:p>
        </p:txBody>
      </p:sp>
      <p:sp>
        <p:nvSpPr>
          <p:cNvPr id="319" name="Google Shape;319;p20"/>
          <p:cNvSpPr txBox="1"/>
          <p:nvPr/>
        </p:nvSpPr>
        <p:spPr>
          <a:xfrm>
            <a:off x="685800" y="2240280"/>
            <a:ext cx="2103120" cy="8686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deliberately poorly written production-style programs</a:t>
            </a:r>
            <a:endParaRPr sz="1400" b="0" i="0" u="none" strike="noStrike" cap="none">
              <a:solidFill>
                <a:schemeClr val="dk1"/>
              </a:solidFill>
              <a:latin typeface="Calibri"/>
              <a:ea typeface="Calibri"/>
              <a:cs typeface="Calibri"/>
              <a:sym typeface="Calibri"/>
            </a:endParaRPr>
          </a:p>
        </p:txBody>
      </p:sp>
      <p:sp>
        <p:nvSpPr>
          <p:cNvPr id="320" name="Google Shape;320;p20"/>
          <p:cNvSpPr/>
          <p:nvPr/>
        </p:nvSpPr>
        <p:spPr>
          <a:xfrm>
            <a:off x="3044952" y="2057400"/>
            <a:ext cx="219456"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0"/>
          <p:cNvSpPr/>
          <p:nvPr/>
        </p:nvSpPr>
        <p:spPr>
          <a:xfrm>
            <a:off x="3291840" y="1188720"/>
            <a:ext cx="25603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0"/>
          <p:cNvSpPr txBox="1"/>
          <p:nvPr/>
        </p:nvSpPr>
        <p:spPr>
          <a:xfrm>
            <a:off x="3474720" y="132588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4800"/>
              <a:buFont typeface="Cambria"/>
              <a:buNone/>
            </a:pPr>
            <a:r>
              <a:rPr lang="en-US" sz="4800" b="1" i="0" u="none" strike="noStrike" cap="none">
                <a:solidFill>
                  <a:schemeClr val="accent2"/>
                </a:solidFill>
                <a:latin typeface="Cambria"/>
                <a:ea typeface="Cambria"/>
                <a:cs typeface="Cambria"/>
                <a:sym typeface="Cambria"/>
              </a:rPr>
              <a:t>+</a:t>
            </a:r>
            <a:endParaRPr sz="4800" b="0" i="0" u="none" strike="noStrike" cap="none">
              <a:solidFill>
                <a:schemeClr val="dk1"/>
              </a:solidFill>
              <a:latin typeface="Calibri"/>
              <a:ea typeface="Calibri"/>
              <a:cs typeface="Calibri"/>
              <a:sym typeface="Calibri"/>
            </a:endParaRPr>
          </a:p>
        </p:txBody>
      </p:sp>
      <p:sp>
        <p:nvSpPr>
          <p:cNvPr id="323" name="Google Shape;323;p20"/>
          <p:cNvSpPr txBox="1"/>
          <p:nvPr/>
        </p:nvSpPr>
        <p:spPr>
          <a:xfrm>
            <a:off x="3520440" y="2240280"/>
            <a:ext cx="2103120" cy="8686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hand-written data dictionary for each</a:t>
            </a:r>
            <a:endParaRPr sz="1400" b="0" i="0" u="none" strike="noStrike" cap="none">
              <a:solidFill>
                <a:schemeClr val="dk1"/>
              </a:solidFill>
              <a:latin typeface="Calibri"/>
              <a:ea typeface="Calibri"/>
              <a:cs typeface="Calibri"/>
              <a:sym typeface="Calibri"/>
            </a:endParaRPr>
          </a:p>
        </p:txBody>
      </p:sp>
      <p:sp>
        <p:nvSpPr>
          <p:cNvPr id="324" name="Google Shape;324;p20"/>
          <p:cNvSpPr/>
          <p:nvPr/>
        </p:nvSpPr>
        <p:spPr>
          <a:xfrm>
            <a:off x="5879592" y="2057400"/>
            <a:ext cx="219456" cy="274320"/>
          </a:xfrm>
          <a:prstGeom prst="rightArrow">
            <a:avLst>
              <a:gd name="adj1" fmla="val 50000"/>
              <a:gd name="adj2"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0"/>
          <p:cNvSpPr/>
          <p:nvPr/>
        </p:nvSpPr>
        <p:spPr>
          <a:xfrm>
            <a:off x="6126480" y="1188720"/>
            <a:ext cx="2560320" cy="2011680"/>
          </a:xfrm>
          <a:prstGeom prst="roundRect">
            <a:avLst>
              <a:gd name="adj" fmla="val 363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0"/>
          <p:cNvSpPr txBox="1"/>
          <p:nvPr/>
        </p:nvSpPr>
        <p:spPr>
          <a:xfrm>
            <a:off x="6309360" y="1325880"/>
            <a:ext cx="2194560" cy="8686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4800"/>
              <a:buFont typeface="Cambria"/>
              <a:buNone/>
            </a:pPr>
            <a:r>
              <a:rPr lang="en-US" sz="4800" b="1" i="0" u="none" strike="noStrike" cap="none">
                <a:solidFill>
                  <a:schemeClr val="lt1"/>
                </a:solidFill>
                <a:latin typeface="Cambria"/>
                <a:ea typeface="Cambria"/>
                <a:cs typeface="Cambria"/>
                <a:sym typeface="Cambria"/>
              </a:rPr>
              <a:t>~580</a:t>
            </a:r>
            <a:endParaRPr sz="4800" b="0" i="0" u="none" strike="noStrike" cap="none">
              <a:solidFill>
                <a:schemeClr val="dk1"/>
              </a:solidFill>
              <a:latin typeface="Calibri"/>
              <a:ea typeface="Calibri"/>
              <a:cs typeface="Calibri"/>
              <a:sym typeface="Calibri"/>
            </a:endParaRPr>
          </a:p>
        </p:txBody>
      </p:sp>
      <p:sp>
        <p:nvSpPr>
          <p:cNvPr id="327" name="Google Shape;327;p20"/>
          <p:cNvSpPr txBox="1"/>
          <p:nvPr/>
        </p:nvSpPr>
        <p:spPr>
          <a:xfrm>
            <a:off x="6355080" y="2240280"/>
            <a:ext cx="2103120" cy="86868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lt1"/>
              </a:buClr>
              <a:buSzPts val="1400"/>
              <a:buFont typeface="Calibri"/>
              <a:buNone/>
            </a:pPr>
            <a:r>
              <a:rPr lang="en-US" sz="1400" b="0" i="0" u="none" strike="noStrike" cap="none">
                <a:solidFill>
                  <a:schemeClr val="lt1"/>
                </a:solidFill>
                <a:latin typeface="Calibri"/>
                <a:ea typeface="Calibri"/>
                <a:cs typeface="Calibri"/>
                <a:sym typeface="Calibri"/>
              </a:rPr>
              <a:t>chunked input → output training pairs</a:t>
            </a:r>
            <a:endParaRPr sz="1400" b="0" i="0" u="none" strike="noStrike" cap="none">
              <a:solidFill>
                <a:schemeClr val="dk1"/>
              </a:solidFill>
              <a:latin typeface="Calibri"/>
              <a:ea typeface="Calibri"/>
              <a:cs typeface="Calibri"/>
              <a:sym typeface="Calibri"/>
            </a:endParaRPr>
          </a:p>
        </p:txBody>
      </p:sp>
      <p:sp>
        <p:nvSpPr>
          <p:cNvPr id="328" name="Google Shape;328;p20"/>
          <p:cNvSpPr/>
          <p:nvPr/>
        </p:nvSpPr>
        <p:spPr>
          <a:xfrm>
            <a:off x="457200" y="352044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9" name="Google Shape;329;p20" descr="icon"/>
          <p:cNvPicPr preferRelativeResize="0"/>
          <p:nvPr/>
        </p:nvPicPr>
        <p:blipFill rotWithShape="1">
          <a:blip r:embed="rId3">
            <a:alphaModFix/>
          </a:blip>
          <a:srcRect/>
          <a:stretch/>
        </p:blipFill>
        <p:spPr>
          <a:xfrm>
            <a:off x="557784" y="3621024"/>
            <a:ext cx="256032" cy="256032"/>
          </a:xfrm>
          <a:prstGeom prst="rect">
            <a:avLst/>
          </a:prstGeom>
          <a:noFill/>
          <a:ln>
            <a:noFill/>
          </a:ln>
        </p:spPr>
      </p:pic>
      <p:sp>
        <p:nvSpPr>
          <p:cNvPr id="330" name="Google Shape;330;p20"/>
          <p:cNvSpPr txBox="1"/>
          <p:nvPr/>
        </p:nvSpPr>
        <p:spPr>
          <a:xfrm>
            <a:off x="1051560" y="3493008"/>
            <a:ext cx="3383280" cy="868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Each pair: a slice of SAS code and the schema-valid JSON it should become, with sources and UNKNOWNs</a:t>
            </a:r>
            <a:endParaRPr sz="1400" b="0" i="0" u="none" strike="noStrike" cap="none">
              <a:solidFill>
                <a:schemeClr val="dk1"/>
              </a:solidFill>
              <a:latin typeface="Calibri"/>
              <a:ea typeface="Calibri"/>
              <a:cs typeface="Calibri"/>
              <a:sym typeface="Calibri"/>
            </a:endParaRPr>
          </a:p>
        </p:txBody>
      </p:sp>
      <p:sp>
        <p:nvSpPr>
          <p:cNvPr id="331" name="Google Shape;331;p20"/>
          <p:cNvSpPr/>
          <p:nvPr/>
        </p:nvSpPr>
        <p:spPr>
          <a:xfrm>
            <a:off x="4663440" y="352044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2" name="Google Shape;332;p20" descr="icon"/>
          <p:cNvPicPr preferRelativeResize="0"/>
          <p:nvPr/>
        </p:nvPicPr>
        <p:blipFill rotWithShape="1">
          <a:blip r:embed="rId4">
            <a:alphaModFix/>
          </a:blip>
          <a:srcRect/>
          <a:stretch/>
        </p:blipFill>
        <p:spPr>
          <a:xfrm>
            <a:off x="4764024" y="3621024"/>
            <a:ext cx="256032" cy="256032"/>
          </a:xfrm>
          <a:prstGeom prst="rect">
            <a:avLst/>
          </a:prstGeom>
          <a:noFill/>
          <a:ln>
            <a:noFill/>
          </a:ln>
        </p:spPr>
      </p:pic>
      <p:sp>
        <p:nvSpPr>
          <p:cNvPr id="333" name="Google Shape;333;p20"/>
          <p:cNvSpPr txBox="1"/>
          <p:nvPr/>
        </p:nvSpPr>
        <p:spPr>
          <a:xfrm>
            <a:off x="5257800" y="3493008"/>
            <a:ext cx="3383280" cy="868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All 20 evaluation programs held out: never seen in training</a:t>
            </a:r>
            <a:endParaRPr sz="1400" b="0" i="0" u="none" strike="noStrike" cap="none">
              <a:solidFill>
                <a:schemeClr val="dk1"/>
              </a:solidFill>
              <a:latin typeface="Calibri"/>
              <a:ea typeface="Calibri"/>
              <a:cs typeface="Calibri"/>
              <a:sym typeface="Calibri"/>
            </a:endParaRPr>
          </a:p>
        </p:txBody>
      </p:sp>
      <p:sp>
        <p:nvSpPr>
          <p:cNvPr id="334" name="Google Shape;334;p20"/>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14</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1"/>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Hyperparameters</a:t>
            </a:r>
            <a:endParaRPr sz="3000"/>
          </a:p>
        </p:txBody>
      </p:sp>
      <p:graphicFrame>
        <p:nvGraphicFramePr>
          <p:cNvPr id="341" name="Google Shape;341;p21"/>
          <p:cNvGraphicFramePr/>
          <p:nvPr/>
        </p:nvGraphicFramePr>
        <p:xfrm>
          <a:off x="457200" y="1188720"/>
          <a:ext cx="8229600" cy="3072400"/>
        </p:xfrm>
        <a:graphic>
          <a:graphicData uri="http://schemas.openxmlformats.org/drawingml/2006/table">
            <a:tbl>
              <a:tblPr>
                <a:noFill/>
                <a:tableStyleId>{E3FAFB85-15B4-4D02-8765-A39C6FE7A2AA}</a:tableStyleId>
              </a:tblPr>
              <a:tblGrid>
                <a:gridCol w="2194550">
                  <a:extLst>
                    <a:ext uri="{9D8B030D-6E8A-4147-A177-3AD203B41FA5}">
                      <a16:colId xmlns:a16="http://schemas.microsoft.com/office/drawing/2014/main" val="20000"/>
                    </a:ext>
                  </a:extLst>
                </a:gridCol>
                <a:gridCol w="237745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50">
                <a:tc>
                  <a:txBody>
                    <a:bodyPr/>
                    <a:lstStyle/>
                    <a:p>
                      <a:pPr marL="0" marR="0" lvl="0" indent="0" algn="l" rtl="0">
                        <a:spcBef>
                          <a:spcPts val="0"/>
                        </a:spcBef>
                        <a:spcAft>
                          <a:spcPts val="0"/>
                        </a:spcAft>
                        <a:buClr>
                          <a:schemeClr val="lt1"/>
                        </a:buClr>
                        <a:buSzPts val="1400"/>
                        <a:buFont typeface="Calibri"/>
                        <a:buNone/>
                      </a:pPr>
                      <a:r>
                        <a:rPr lang="en-US" sz="1400" b="1" u="none" strike="noStrike" cap="none">
                          <a:solidFill>
                            <a:schemeClr val="lt1"/>
                          </a:solidFill>
                        </a:rPr>
                        <a:t>Hyperparameter</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Clr>
                          <a:schemeClr val="lt1"/>
                        </a:buClr>
                        <a:buSzPts val="1400"/>
                        <a:buFont typeface="Calibri"/>
                        <a:buNone/>
                      </a:pPr>
                      <a:r>
                        <a:rPr lang="en-US" sz="1400" b="1" u="none" strike="noStrike" cap="none">
                          <a:solidFill>
                            <a:schemeClr val="lt1"/>
                          </a:solidFill>
                        </a:rPr>
                        <a:t>Value (start → final)</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dk1"/>
                    </a:solidFill>
                  </a:tcPr>
                </a:tc>
                <a:tc>
                  <a:txBody>
                    <a:bodyPr/>
                    <a:lstStyle/>
                    <a:p>
                      <a:pPr marL="0" marR="0" lvl="0" indent="0" algn="l" rtl="0">
                        <a:spcBef>
                          <a:spcPts val="0"/>
                        </a:spcBef>
                        <a:spcAft>
                          <a:spcPts val="0"/>
                        </a:spcAft>
                        <a:buClr>
                          <a:schemeClr val="lt1"/>
                        </a:buClr>
                        <a:buSzPts val="1400"/>
                        <a:buFont typeface="Calibri"/>
                        <a:buNone/>
                      </a:pPr>
                      <a:r>
                        <a:rPr lang="en-US" sz="1400" b="1" u="none" strike="noStrike" cap="none">
                          <a:solidFill>
                            <a:schemeClr val="lt1"/>
                          </a:solidFill>
                        </a:rPr>
                        <a:t>Notes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Base model</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Gemma 4 E2B-it, 4-bit</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NF4 quantization</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Adapter rank r</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16 → 32</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Attention + MLP projections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Alpha α</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32 → 64</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α / r kept at 2</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Learning rate</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2e-4</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Cosine decay</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Epochs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3 → 2</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Batch size</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4 → 1</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Gradient accumulation 8 (effective batch 8)</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84050">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Train time</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~1.5 hours</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400"/>
                        <a:buFont typeface="Calibri"/>
                        <a:buNone/>
                      </a:pPr>
                      <a:r>
                        <a:rPr lang="en-US" sz="1400" u="none" strike="noStrike" cap="none">
                          <a:solidFill>
                            <a:schemeClr val="dk1"/>
                          </a:solidFill>
                        </a:rPr>
                        <a:t>One A100; varies with your GPU</a:t>
                      </a:r>
                      <a:endParaRPr sz="1400" u="none" strike="noStrike" cap="none"/>
                    </a:p>
                  </a:txBody>
                  <a:tcPr marL="91450" marR="91450" marT="45725" marB="45725" anchor="ctr">
                    <a:lnL w="9525" cap="flat" cmpd="sng">
                      <a:solidFill>
                        <a:srgbClr val="EEF3F2"/>
                      </a:solidFill>
                      <a:prstDash val="solid"/>
                      <a:round/>
                      <a:headEnd type="none" w="sm" len="sm"/>
                      <a:tailEnd type="none" w="sm" len="sm"/>
                    </a:lnL>
                    <a:lnR w="9525" cap="flat" cmpd="sng">
                      <a:solidFill>
                        <a:srgbClr val="EEF3F2"/>
                      </a:solidFill>
                      <a:prstDash val="solid"/>
                      <a:round/>
                      <a:headEnd type="none" w="sm" len="sm"/>
                      <a:tailEnd type="none" w="sm" len="sm"/>
                    </a:lnR>
                    <a:lnT w="9525" cap="flat" cmpd="sng">
                      <a:solidFill>
                        <a:srgbClr val="EEF3F2"/>
                      </a:solidFill>
                      <a:prstDash val="solid"/>
                      <a:round/>
                      <a:headEnd type="none" w="sm" len="sm"/>
                      <a:tailEnd type="none" w="sm" len="sm"/>
                    </a:lnT>
                    <a:lnB w="9525" cap="flat" cmpd="sng">
                      <a:solidFill>
                        <a:srgbClr val="EEF3F2"/>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342" name="Google Shape;342;p21"/>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Table 1 in the paper. Final values match qlora_finetune.py.</a:t>
            </a:r>
            <a:endParaRPr sz="900" b="0" i="0" u="none" strike="noStrike" cap="none">
              <a:solidFill>
                <a:schemeClr val="dk1"/>
              </a:solidFill>
              <a:latin typeface="Calibri"/>
              <a:ea typeface="Calibri"/>
              <a:cs typeface="Calibri"/>
              <a:sym typeface="Calibri"/>
            </a:endParaRPr>
          </a:p>
        </p:txBody>
      </p:sp>
      <p:sp>
        <p:nvSpPr>
          <p:cNvPr id="343" name="Google Shape;343;p21"/>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15</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2"/>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The fine-tune in a dozen lines</a:t>
            </a:r>
            <a:endParaRPr sz="3000"/>
          </a:p>
        </p:txBody>
      </p:sp>
      <p:sp>
        <p:nvSpPr>
          <p:cNvPr id="350" name="Google Shape;350;p22"/>
          <p:cNvSpPr/>
          <p:nvPr/>
        </p:nvSpPr>
        <p:spPr>
          <a:xfrm>
            <a:off x="457200" y="1188720"/>
            <a:ext cx="5394960" cy="3200400"/>
          </a:xfrm>
          <a:prstGeom prst="roundRect">
            <a:avLst>
              <a:gd name="adj" fmla="val 228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2"/>
          <p:cNvSpPr txBox="1"/>
          <p:nvPr/>
        </p:nvSpPr>
        <p:spPr>
          <a:xfrm>
            <a:off x="640080" y="1325880"/>
            <a:ext cx="5029200" cy="2926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from peft import LoraConfig, get_peft_model, \</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prepare_model_for_kbit_training</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model = AutoModelForCausalLM.from_pretrained(</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args.model, revision=args.revision,</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quantization_config=bnb)          # 1</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model.config.use_cache = False       # 2</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model = prepare_model_for_kbit_training(model)</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 = LoraConfig(</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r=32, lora_alpha=64, lora_dropout=0.05,</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task_type="CAUSAL_LM",            # 3</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target_modules=["q_proj","k_proj","v_proj",</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"o_proj","gate_proj","up_proj","down_proj"])</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model = get_peft_model(model, lora)  # 4</a:t>
            </a:r>
            <a:endParaRPr sz="1200" b="0" i="0" u="none" strike="noStrike" cap="none">
              <a:solidFill>
                <a:schemeClr val="dk1"/>
              </a:solidFill>
              <a:latin typeface="Calibri"/>
              <a:ea typeface="Calibri"/>
              <a:cs typeface="Calibri"/>
              <a:sym typeface="Calibri"/>
            </a:endParaRPr>
          </a:p>
        </p:txBody>
      </p:sp>
      <p:sp>
        <p:nvSpPr>
          <p:cNvPr id="352" name="Google Shape;352;p22"/>
          <p:cNvSpPr/>
          <p:nvPr/>
        </p:nvSpPr>
        <p:spPr>
          <a:xfrm>
            <a:off x="6126480" y="1188720"/>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2"/>
          <p:cNvSpPr txBox="1"/>
          <p:nvPr/>
        </p:nvSpPr>
        <p:spPr>
          <a:xfrm>
            <a:off x="6126480" y="1188720"/>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54" name="Google Shape;354;p22"/>
          <p:cNvSpPr txBox="1"/>
          <p:nvPr/>
        </p:nvSpPr>
        <p:spPr>
          <a:xfrm>
            <a:off x="6583680" y="1161288"/>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bnb</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bitsandbytes config sets NF4 4-bit storage</a:t>
            </a:r>
            <a:endParaRPr sz="1400" b="0" i="0" u="none" strike="noStrike" cap="none">
              <a:solidFill>
                <a:schemeClr val="dk1"/>
              </a:solidFill>
              <a:latin typeface="Calibri"/>
              <a:ea typeface="Calibri"/>
              <a:cs typeface="Calibri"/>
              <a:sym typeface="Calibri"/>
            </a:endParaRPr>
          </a:p>
        </p:txBody>
      </p:sp>
      <p:sp>
        <p:nvSpPr>
          <p:cNvPr id="355" name="Google Shape;355;p22"/>
          <p:cNvSpPr/>
          <p:nvPr/>
        </p:nvSpPr>
        <p:spPr>
          <a:xfrm>
            <a:off x="6126480" y="1993392"/>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2"/>
          <p:cNvSpPr txBox="1"/>
          <p:nvPr/>
        </p:nvSpPr>
        <p:spPr>
          <a:xfrm>
            <a:off x="6126480" y="1993392"/>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357" name="Google Shape;357;p22"/>
          <p:cNvSpPr txBox="1"/>
          <p:nvPr/>
        </p:nvSpPr>
        <p:spPr>
          <a:xfrm>
            <a:off x="6583680" y="1965960"/>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Cache off</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Not used in training; conflicts with gradient checkpointing</a:t>
            </a:r>
            <a:endParaRPr sz="1400" b="0" i="0" u="none" strike="noStrike" cap="none">
              <a:solidFill>
                <a:schemeClr val="dk1"/>
              </a:solidFill>
              <a:latin typeface="Calibri"/>
              <a:ea typeface="Calibri"/>
              <a:cs typeface="Calibri"/>
              <a:sym typeface="Calibri"/>
            </a:endParaRPr>
          </a:p>
        </p:txBody>
      </p:sp>
      <p:sp>
        <p:nvSpPr>
          <p:cNvPr id="358" name="Google Shape;358;p22"/>
          <p:cNvSpPr/>
          <p:nvPr/>
        </p:nvSpPr>
        <p:spPr>
          <a:xfrm>
            <a:off x="6126480" y="2798064"/>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2"/>
          <p:cNvSpPr txBox="1"/>
          <p:nvPr/>
        </p:nvSpPr>
        <p:spPr>
          <a:xfrm>
            <a:off x="6126480" y="2798064"/>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360" name="Google Shape;360;p22"/>
          <p:cNvSpPr txBox="1"/>
          <p:nvPr/>
        </p:nvSpPr>
        <p:spPr>
          <a:xfrm>
            <a:off x="6583680" y="2770632"/>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All linear layers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Attention and MLP projections</a:t>
            </a:r>
            <a:endParaRPr sz="1400" b="0" i="0" u="none" strike="noStrike" cap="none">
              <a:solidFill>
                <a:schemeClr val="dk1"/>
              </a:solidFill>
              <a:latin typeface="Calibri"/>
              <a:ea typeface="Calibri"/>
              <a:cs typeface="Calibri"/>
              <a:sym typeface="Calibri"/>
            </a:endParaRPr>
          </a:p>
        </p:txBody>
      </p:sp>
      <p:sp>
        <p:nvSpPr>
          <p:cNvPr id="361" name="Google Shape;361;p22"/>
          <p:cNvSpPr/>
          <p:nvPr/>
        </p:nvSpPr>
        <p:spPr>
          <a:xfrm>
            <a:off x="6126480" y="3602736"/>
            <a:ext cx="365760" cy="36576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txBox="1"/>
          <p:nvPr/>
        </p:nvSpPr>
        <p:spPr>
          <a:xfrm>
            <a:off x="6126480" y="3602736"/>
            <a:ext cx="36576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363" name="Google Shape;363;p22"/>
          <p:cNvSpPr txBox="1"/>
          <p:nvPr/>
        </p:nvSpPr>
        <p:spPr>
          <a:xfrm>
            <a:off x="6583680" y="3575304"/>
            <a:ext cx="2103120" cy="7772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Wrap</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Base frozen; only adapters train. Saved adapter is tens of MB</a:t>
            </a:r>
            <a:endParaRPr sz="1400" b="0" i="0" u="none" strike="noStrike" cap="none">
              <a:solidFill>
                <a:schemeClr val="dk1"/>
              </a:solidFill>
              <a:latin typeface="Calibri"/>
              <a:ea typeface="Calibri"/>
              <a:cs typeface="Calibri"/>
              <a:sym typeface="Calibri"/>
            </a:endParaRPr>
          </a:p>
        </p:txBody>
      </p:sp>
      <p:sp>
        <p:nvSpPr>
          <p:cNvPr id="364" name="Google Shape;364;p22"/>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16</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3"/>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Fine-tuning teaches shape, not knowledge</a:t>
            </a:r>
            <a:endParaRPr sz="3000"/>
          </a:p>
        </p:txBody>
      </p:sp>
      <p:sp>
        <p:nvSpPr>
          <p:cNvPr id="371" name="Google Shape;371;p23"/>
          <p:cNvSpPr/>
          <p:nvPr/>
        </p:nvSpPr>
        <p:spPr>
          <a:xfrm>
            <a:off x="457200" y="1188720"/>
            <a:ext cx="39319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3"/>
          <p:cNvSpPr/>
          <p:nvPr/>
        </p:nvSpPr>
        <p:spPr>
          <a:xfrm>
            <a:off x="731520" y="1371600"/>
            <a:ext cx="457200" cy="457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3" name="Google Shape;373;p23" descr="icon"/>
          <p:cNvPicPr preferRelativeResize="0"/>
          <p:nvPr/>
        </p:nvPicPr>
        <p:blipFill rotWithShape="1">
          <a:blip r:embed="rId3">
            <a:alphaModFix/>
          </a:blip>
          <a:srcRect/>
          <a:stretch/>
        </p:blipFill>
        <p:spPr>
          <a:xfrm>
            <a:off x="832104" y="1472184"/>
            <a:ext cx="256032" cy="256032"/>
          </a:xfrm>
          <a:prstGeom prst="rect">
            <a:avLst/>
          </a:prstGeom>
          <a:noFill/>
          <a:ln>
            <a:noFill/>
          </a:ln>
        </p:spPr>
      </p:pic>
      <p:sp>
        <p:nvSpPr>
          <p:cNvPr id="374" name="Google Shape;374;p23"/>
          <p:cNvSpPr txBox="1"/>
          <p:nvPr/>
        </p:nvSpPr>
        <p:spPr>
          <a:xfrm>
            <a:off x="1325880" y="1371600"/>
            <a:ext cx="29260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What adapters change</a:t>
            </a:r>
            <a:endParaRPr sz="1700" b="0" i="0" u="none" strike="noStrike" cap="none">
              <a:solidFill>
                <a:schemeClr val="dk1"/>
              </a:solidFill>
              <a:latin typeface="Calibri"/>
              <a:ea typeface="Calibri"/>
              <a:cs typeface="Calibri"/>
              <a:sym typeface="Calibri"/>
            </a:endParaRPr>
          </a:p>
        </p:txBody>
      </p:sp>
      <p:sp>
        <p:nvSpPr>
          <p:cNvPr id="375" name="Google Shape;375;p23"/>
          <p:cNvSpPr txBox="1"/>
          <p:nvPr/>
        </p:nvSpPr>
        <p:spPr>
          <a:xfrm>
            <a:off x="731520" y="2011680"/>
            <a:ext cx="3474720" cy="13716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Output format and field ordering</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Style and terminology</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The habit of writing UNKNOWN instead of guessing</a:t>
            </a:r>
            <a:endParaRPr sz="1400" b="0" i="0" u="none" strike="noStrike" cap="none">
              <a:solidFill>
                <a:schemeClr val="dk1"/>
              </a:solidFill>
              <a:latin typeface="Calibri"/>
              <a:ea typeface="Calibri"/>
              <a:cs typeface="Calibri"/>
              <a:sym typeface="Calibri"/>
            </a:endParaRPr>
          </a:p>
        </p:txBody>
      </p:sp>
      <p:sp>
        <p:nvSpPr>
          <p:cNvPr id="376" name="Google Shape;376;p23"/>
          <p:cNvSpPr/>
          <p:nvPr/>
        </p:nvSpPr>
        <p:spPr>
          <a:xfrm>
            <a:off x="4754880" y="1188720"/>
            <a:ext cx="3931920" cy="2011680"/>
          </a:xfrm>
          <a:prstGeom prst="roundRect">
            <a:avLst>
              <a:gd name="adj" fmla="val 363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3"/>
          <p:cNvSpPr/>
          <p:nvPr/>
        </p:nvSpPr>
        <p:spPr>
          <a:xfrm>
            <a:off x="5029200" y="1371600"/>
            <a:ext cx="457200" cy="4572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78" name="Google Shape;378;p23" descr="icon"/>
          <p:cNvPicPr preferRelativeResize="0"/>
          <p:nvPr/>
        </p:nvPicPr>
        <p:blipFill rotWithShape="1">
          <a:blip r:embed="rId4">
            <a:alphaModFix/>
          </a:blip>
          <a:srcRect/>
          <a:stretch/>
        </p:blipFill>
        <p:spPr>
          <a:xfrm>
            <a:off x="5129784" y="1472184"/>
            <a:ext cx="256032" cy="256032"/>
          </a:xfrm>
          <a:prstGeom prst="rect">
            <a:avLst/>
          </a:prstGeom>
          <a:noFill/>
          <a:ln>
            <a:noFill/>
          </a:ln>
        </p:spPr>
      </p:pic>
      <p:sp>
        <p:nvSpPr>
          <p:cNvPr id="379" name="Google Shape;379;p23"/>
          <p:cNvSpPr txBox="1"/>
          <p:nvPr/>
        </p:nvSpPr>
        <p:spPr>
          <a:xfrm>
            <a:off x="5623560" y="1371600"/>
            <a:ext cx="29260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What they do not change</a:t>
            </a:r>
            <a:endParaRPr sz="1700" b="0" i="0" u="none" strike="noStrike" cap="none">
              <a:solidFill>
                <a:schemeClr val="dk1"/>
              </a:solidFill>
              <a:latin typeface="Calibri"/>
              <a:ea typeface="Calibri"/>
              <a:cs typeface="Calibri"/>
              <a:sym typeface="Calibri"/>
            </a:endParaRPr>
          </a:p>
        </p:txBody>
      </p:sp>
      <p:sp>
        <p:nvSpPr>
          <p:cNvPr id="380" name="Google Shape;380;p23"/>
          <p:cNvSpPr txBox="1"/>
          <p:nvPr/>
        </p:nvSpPr>
        <p:spPr>
          <a:xfrm>
            <a:off x="5029200" y="2011680"/>
            <a:ext cx="3474720" cy="1371600"/>
          </a:xfrm>
          <a:prstGeom prst="rect">
            <a:avLst/>
          </a:prstGeom>
          <a:noFill/>
          <a:ln>
            <a:noFill/>
          </a:ln>
        </p:spPr>
        <p:txBody>
          <a:bodyPr spcFirstLastPara="1" wrap="square" lIns="0" tIns="0" rIns="0" bIns="0" anchor="t" anchorCtr="0">
            <a:noAutofit/>
          </a:bodyPr>
          <a:lstStyle/>
          <a:p>
            <a:pPr marL="342900" marR="0" lvl="0" indent="-342900" algn="l" rtl="0">
              <a:spcBef>
                <a:spcPts val="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Knowledge of your code base</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The base model's reasoning ceiling</a:t>
            </a:r>
            <a:endParaRPr sz="1400" b="0" i="0" u="none" strike="noStrike" cap="none">
              <a:solidFill>
                <a:schemeClr val="dk1"/>
              </a:solidFill>
              <a:latin typeface="Calibri"/>
              <a:ea typeface="Calibri"/>
              <a:cs typeface="Calibri"/>
              <a:sym typeface="Calibri"/>
            </a:endParaRPr>
          </a:p>
          <a:p>
            <a:pPr marL="342900" marR="0" lvl="0" indent="-342900" algn="l" rtl="0">
              <a:spcBef>
                <a:spcPts val="600"/>
              </a:spcBef>
              <a:spcAft>
                <a:spcPts val="0"/>
              </a:spcAft>
              <a:buClr>
                <a:schemeClr val="dk1"/>
              </a:buClr>
              <a:buSzPts val="1400"/>
              <a:buFont typeface="Calibri"/>
              <a:buChar char="•"/>
            </a:pPr>
            <a:r>
              <a:rPr lang="en-US" sz="1400" b="0" i="0" u="none" strike="noStrike" cap="none">
                <a:solidFill>
                  <a:schemeClr val="dk1"/>
                </a:solidFill>
                <a:latin typeface="Calibri"/>
                <a:ea typeface="Calibri"/>
                <a:cs typeface="Calibri"/>
                <a:sym typeface="Calibri"/>
              </a:rPr>
              <a:t>Inference about unfamiliar macro logic</a:t>
            </a:r>
            <a:endParaRPr sz="1400" b="0" i="0" u="none" strike="noStrike" cap="none">
              <a:solidFill>
                <a:schemeClr val="dk1"/>
              </a:solidFill>
              <a:latin typeface="Calibri"/>
              <a:ea typeface="Calibri"/>
              <a:cs typeface="Calibri"/>
              <a:sym typeface="Calibri"/>
            </a:endParaRPr>
          </a:p>
        </p:txBody>
      </p:sp>
      <p:sp>
        <p:nvSpPr>
          <p:cNvPr id="381" name="Google Shape;381;p23"/>
          <p:cNvSpPr txBox="1"/>
          <p:nvPr/>
        </p:nvSpPr>
        <p:spPr>
          <a:xfrm>
            <a:off x="457200" y="3520440"/>
            <a:ext cx="8229600" cy="4572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accent2"/>
              </a:buClr>
              <a:buSzPts val="2000"/>
              <a:buFont typeface="Cambria"/>
              <a:buNone/>
            </a:pPr>
            <a:r>
              <a:rPr lang="en-US" sz="2000" b="0" i="1" u="none" strike="noStrike" cap="none">
                <a:solidFill>
                  <a:schemeClr val="accent2"/>
                </a:solidFill>
                <a:latin typeface="Cambria"/>
                <a:ea typeface="Cambria"/>
                <a:cs typeface="Cambria"/>
                <a:sym typeface="Cambria"/>
              </a:rPr>
              <a:t>“A small model with adapters is still a small model.”</a:t>
            </a:r>
            <a:endParaRPr sz="2000" b="0" i="0" u="none" strike="noStrike" cap="none">
              <a:solidFill>
                <a:schemeClr val="dk1"/>
              </a:solidFill>
              <a:latin typeface="Calibri"/>
              <a:ea typeface="Calibri"/>
              <a:cs typeface="Calibri"/>
              <a:sym typeface="Calibri"/>
            </a:endParaRPr>
          </a:p>
        </p:txBody>
      </p:sp>
      <p:sp>
        <p:nvSpPr>
          <p:cNvPr id="382" name="Google Shape;382;p23"/>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Hu et al. 2021; Dettmers et al. 2023</a:t>
            </a:r>
            <a:endParaRPr sz="900" b="0" i="0" u="none" strike="noStrike" cap="none">
              <a:solidFill>
                <a:schemeClr val="dk1"/>
              </a:solidFill>
              <a:latin typeface="Calibri"/>
              <a:ea typeface="Calibri"/>
              <a:cs typeface="Calibri"/>
              <a:sym typeface="Calibri"/>
            </a:endParaRPr>
          </a:p>
        </p:txBody>
      </p:sp>
      <p:sp>
        <p:nvSpPr>
          <p:cNvPr id="383" name="Google Shape;383;p23"/>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17</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4"/>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Practical lessons</a:t>
            </a:r>
            <a:endParaRPr sz="3000"/>
          </a:p>
        </p:txBody>
      </p:sp>
      <p:sp>
        <p:nvSpPr>
          <p:cNvPr id="390" name="Google Shape;390;p24"/>
          <p:cNvSpPr/>
          <p:nvPr/>
        </p:nvSpPr>
        <p:spPr>
          <a:xfrm>
            <a:off x="457200" y="11887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4"/>
          <p:cNvSpPr/>
          <p:nvPr/>
        </p:nvSpPr>
        <p:spPr>
          <a:xfrm>
            <a:off x="685800" y="14173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2" name="Google Shape;392;p24" descr="icon"/>
          <p:cNvPicPr preferRelativeResize="0"/>
          <p:nvPr/>
        </p:nvPicPr>
        <p:blipFill rotWithShape="1">
          <a:blip r:embed="rId3">
            <a:alphaModFix/>
          </a:blip>
          <a:srcRect/>
          <a:stretch/>
        </p:blipFill>
        <p:spPr>
          <a:xfrm>
            <a:off x="806501" y="1538021"/>
            <a:ext cx="307238" cy="307238"/>
          </a:xfrm>
          <a:prstGeom prst="rect">
            <a:avLst/>
          </a:prstGeom>
          <a:noFill/>
          <a:ln>
            <a:noFill/>
          </a:ln>
        </p:spPr>
      </p:pic>
      <p:sp>
        <p:nvSpPr>
          <p:cNvPr id="393" name="Google Shape;393;p24"/>
          <p:cNvSpPr txBox="1"/>
          <p:nvPr/>
        </p:nvSpPr>
        <p:spPr>
          <a:xfrm>
            <a:off x="1417320" y="14173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Target all linear layers</a:t>
            </a:r>
            <a:endParaRPr sz="1600" b="0" i="0" u="none" strike="noStrike" cap="none">
              <a:solidFill>
                <a:schemeClr val="dk1"/>
              </a:solidFill>
              <a:latin typeface="Calibri"/>
              <a:ea typeface="Calibri"/>
              <a:cs typeface="Calibri"/>
              <a:sym typeface="Calibri"/>
            </a:endParaRPr>
          </a:p>
        </p:txBody>
      </p:sp>
      <p:sp>
        <p:nvSpPr>
          <p:cNvPr id="394" name="Google Shape;394;p24"/>
          <p:cNvSpPr txBox="1"/>
          <p:nvPr/>
        </p:nvSpPr>
        <p:spPr>
          <a:xfrm>
            <a:off x="1417320" y="17830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Attention and MLP projections, not attention alone</a:t>
            </a:r>
            <a:endParaRPr sz="1400" b="0" i="0" u="none" strike="noStrike" cap="none">
              <a:solidFill>
                <a:schemeClr val="dk1"/>
              </a:solidFill>
              <a:latin typeface="Calibri"/>
              <a:ea typeface="Calibri"/>
              <a:cs typeface="Calibri"/>
              <a:sym typeface="Calibri"/>
            </a:endParaRPr>
          </a:p>
        </p:txBody>
      </p:sp>
      <p:sp>
        <p:nvSpPr>
          <p:cNvPr id="395" name="Google Shape;395;p24"/>
          <p:cNvSpPr/>
          <p:nvPr/>
        </p:nvSpPr>
        <p:spPr>
          <a:xfrm>
            <a:off x="4663440" y="11887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4"/>
          <p:cNvSpPr/>
          <p:nvPr/>
        </p:nvSpPr>
        <p:spPr>
          <a:xfrm>
            <a:off x="4892040" y="14173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7" name="Google Shape;397;p24" descr="icon"/>
          <p:cNvPicPr preferRelativeResize="0"/>
          <p:nvPr/>
        </p:nvPicPr>
        <p:blipFill rotWithShape="1">
          <a:blip r:embed="rId4">
            <a:alphaModFix/>
          </a:blip>
          <a:srcRect/>
          <a:stretch/>
        </p:blipFill>
        <p:spPr>
          <a:xfrm>
            <a:off x="5012741" y="1538021"/>
            <a:ext cx="307238" cy="307238"/>
          </a:xfrm>
          <a:prstGeom prst="rect">
            <a:avLst/>
          </a:prstGeom>
          <a:noFill/>
          <a:ln>
            <a:noFill/>
          </a:ln>
        </p:spPr>
      </p:pic>
      <p:sp>
        <p:nvSpPr>
          <p:cNvPr id="398" name="Google Shape;398;p24"/>
          <p:cNvSpPr txBox="1"/>
          <p:nvPr/>
        </p:nvSpPr>
        <p:spPr>
          <a:xfrm>
            <a:off x="5623560" y="14173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Start with α ≈ 2r</a:t>
            </a:r>
            <a:endParaRPr sz="1600" b="0" i="0" u="none" strike="noStrike" cap="none">
              <a:solidFill>
                <a:schemeClr val="dk1"/>
              </a:solidFill>
              <a:latin typeface="Calibri"/>
              <a:ea typeface="Calibri"/>
              <a:cs typeface="Calibri"/>
              <a:sym typeface="Calibri"/>
            </a:endParaRPr>
          </a:p>
        </p:txBody>
      </p:sp>
      <p:sp>
        <p:nvSpPr>
          <p:cNvPr id="399" name="Google Shape;399;p24"/>
          <p:cNvSpPr txBox="1"/>
          <p:nvPr/>
        </p:nvSpPr>
        <p:spPr>
          <a:xfrm>
            <a:off x="5623560" y="17830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Scale rank and alpha together</a:t>
            </a:r>
            <a:endParaRPr sz="1400" b="0" i="0" u="none" strike="noStrike" cap="none">
              <a:solidFill>
                <a:schemeClr val="dk1"/>
              </a:solidFill>
              <a:latin typeface="Calibri"/>
              <a:ea typeface="Calibri"/>
              <a:cs typeface="Calibri"/>
              <a:sym typeface="Calibri"/>
            </a:endParaRPr>
          </a:p>
        </p:txBody>
      </p:sp>
      <p:sp>
        <p:nvSpPr>
          <p:cNvPr id="400" name="Google Shape;400;p24"/>
          <p:cNvSpPr/>
          <p:nvPr/>
        </p:nvSpPr>
        <p:spPr>
          <a:xfrm>
            <a:off x="457200" y="27889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4"/>
          <p:cNvSpPr/>
          <p:nvPr/>
        </p:nvSpPr>
        <p:spPr>
          <a:xfrm>
            <a:off x="685800" y="30175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2" name="Google Shape;402;p24" descr="icon"/>
          <p:cNvPicPr preferRelativeResize="0"/>
          <p:nvPr/>
        </p:nvPicPr>
        <p:blipFill rotWithShape="1">
          <a:blip r:embed="rId5">
            <a:alphaModFix/>
          </a:blip>
          <a:srcRect/>
          <a:stretch/>
        </p:blipFill>
        <p:spPr>
          <a:xfrm>
            <a:off x="806501" y="3138221"/>
            <a:ext cx="307238" cy="307238"/>
          </a:xfrm>
          <a:prstGeom prst="rect">
            <a:avLst/>
          </a:prstGeom>
          <a:noFill/>
          <a:ln>
            <a:noFill/>
          </a:ln>
        </p:spPr>
      </p:pic>
      <p:sp>
        <p:nvSpPr>
          <p:cNvPr id="403" name="Google Shape;403;p24"/>
          <p:cNvSpPr txBox="1"/>
          <p:nvPr/>
        </p:nvSpPr>
        <p:spPr>
          <a:xfrm>
            <a:off x="1417320" y="30175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Tune learning rate first</a:t>
            </a:r>
            <a:endParaRPr sz="1600" b="0" i="0" u="none" strike="noStrike" cap="none">
              <a:solidFill>
                <a:schemeClr val="dk1"/>
              </a:solidFill>
              <a:latin typeface="Calibri"/>
              <a:ea typeface="Calibri"/>
              <a:cs typeface="Calibri"/>
              <a:sym typeface="Calibri"/>
            </a:endParaRPr>
          </a:p>
        </p:txBody>
      </p:sp>
      <p:sp>
        <p:nvSpPr>
          <p:cNvPr id="404" name="Google Shape;404;p24"/>
          <p:cNvSpPr txBox="1"/>
          <p:nvPr/>
        </p:nvSpPr>
        <p:spPr>
          <a:xfrm>
            <a:off x="1417320" y="33832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The most sensitive knob in LoRA training</a:t>
            </a:r>
            <a:endParaRPr sz="1400" b="0" i="0" u="none" strike="noStrike" cap="none">
              <a:solidFill>
                <a:schemeClr val="dk1"/>
              </a:solidFill>
              <a:latin typeface="Calibri"/>
              <a:ea typeface="Calibri"/>
              <a:cs typeface="Calibri"/>
              <a:sym typeface="Calibri"/>
            </a:endParaRPr>
          </a:p>
        </p:txBody>
      </p:sp>
      <p:sp>
        <p:nvSpPr>
          <p:cNvPr id="405" name="Google Shape;405;p24"/>
          <p:cNvSpPr/>
          <p:nvPr/>
        </p:nvSpPr>
        <p:spPr>
          <a:xfrm>
            <a:off x="4663440" y="2788920"/>
            <a:ext cx="4023360" cy="1371600"/>
          </a:xfrm>
          <a:prstGeom prst="roundRect">
            <a:avLst>
              <a:gd name="adj" fmla="val 5333"/>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4"/>
          <p:cNvSpPr/>
          <p:nvPr/>
        </p:nvSpPr>
        <p:spPr>
          <a:xfrm>
            <a:off x="4892040" y="3017520"/>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7" name="Google Shape;407;p24" descr="icon"/>
          <p:cNvPicPr preferRelativeResize="0"/>
          <p:nvPr/>
        </p:nvPicPr>
        <p:blipFill rotWithShape="1">
          <a:blip r:embed="rId6">
            <a:alphaModFix/>
          </a:blip>
          <a:srcRect/>
          <a:stretch/>
        </p:blipFill>
        <p:spPr>
          <a:xfrm>
            <a:off x="5012741" y="3138221"/>
            <a:ext cx="307238" cy="307238"/>
          </a:xfrm>
          <a:prstGeom prst="rect">
            <a:avLst/>
          </a:prstGeom>
          <a:noFill/>
          <a:ln>
            <a:noFill/>
          </a:ln>
        </p:spPr>
      </p:pic>
      <p:sp>
        <p:nvSpPr>
          <p:cNvPr id="408" name="Google Shape;408;p24"/>
          <p:cNvSpPr txBox="1"/>
          <p:nvPr/>
        </p:nvSpPr>
        <p:spPr>
          <a:xfrm>
            <a:off x="5623560" y="3017520"/>
            <a:ext cx="292608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Clean pairs, held-out eval</a:t>
            </a:r>
            <a:endParaRPr sz="1600" b="0" i="0" u="none" strike="noStrike" cap="none">
              <a:solidFill>
                <a:schemeClr val="dk1"/>
              </a:solidFill>
              <a:latin typeface="Calibri"/>
              <a:ea typeface="Calibri"/>
              <a:cs typeface="Calibri"/>
              <a:sym typeface="Calibri"/>
            </a:endParaRPr>
          </a:p>
        </p:txBody>
      </p:sp>
      <p:sp>
        <p:nvSpPr>
          <p:cNvPr id="409" name="Google Shape;409;p24"/>
          <p:cNvSpPr txBox="1"/>
          <p:nvPr/>
        </p:nvSpPr>
        <p:spPr>
          <a:xfrm>
            <a:off x="5623560" y="3383280"/>
            <a:ext cx="292608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Training pairs must be schema-valid; test programs stay unseen</a:t>
            </a:r>
            <a:endParaRPr sz="1400" b="0" i="0" u="none" strike="noStrike" cap="none">
              <a:solidFill>
                <a:schemeClr val="dk1"/>
              </a:solidFill>
              <a:latin typeface="Calibri"/>
              <a:ea typeface="Calibri"/>
              <a:cs typeface="Calibri"/>
              <a:sym typeface="Calibri"/>
            </a:endParaRPr>
          </a:p>
        </p:txBody>
      </p:sp>
      <p:sp>
        <p:nvSpPr>
          <p:cNvPr id="410" name="Google Shape;410;p24"/>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18</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5"/>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Config 3: a frontier model, grounded</a:t>
            </a:r>
            <a:endParaRPr sz="3000"/>
          </a:p>
        </p:txBody>
      </p:sp>
      <p:sp>
        <p:nvSpPr>
          <p:cNvPr id="417" name="Google Shape;417;p25"/>
          <p:cNvSpPr/>
          <p:nvPr/>
        </p:nvSpPr>
        <p:spPr>
          <a:xfrm>
            <a:off x="3200400" y="1234440"/>
            <a:ext cx="2743200" cy="1097280"/>
          </a:xfrm>
          <a:prstGeom prst="roundRect">
            <a:avLst>
              <a:gd name="adj" fmla="val 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5"/>
          <p:cNvSpPr txBox="1"/>
          <p:nvPr/>
        </p:nvSpPr>
        <p:spPr>
          <a:xfrm>
            <a:off x="3291840" y="1234440"/>
            <a:ext cx="256032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Claude Opus 5</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lt1"/>
              </a:buClr>
              <a:buSzPts val="1300"/>
              <a:buFont typeface="Calibri"/>
              <a:buNone/>
            </a:pPr>
            <a:r>
              <a:rPr lang="en-US" sz="1300" b="0" i="0" u="none" strike="noStrike" cap="none">
                <a:solidFill>
                  <a:schemeClr val="lt1"/>
                </a:solidFill>
                <a:latin typeface="Calibri"/>
                <a:ea typeface="Calibri"/>
                <a:cs typeface="Calibri"/>
                <a:sym typeface="Calibri"/>
              </a:rPr>
              <a:t>query → parse → only then write</a:t>
            </a:r>
            <a:endParaRPr sz="1400" b="0" i="0" u="none" strike="noStrike" cap="none">
              <a:solidFill>
                <a:schemeClr val="dk1"/>
              </a:solidFill>
              <a:latin typeface="Calibri"/>
              <a:ea typeface="Calibri"/>
              <a:cs typeface="Calibri"/>
              <a:sym typeface="Calibri"/>
            </a:endParaRPr>
          </a:p>
        </p:txBody>
      </p:sp>
      <p:sp>
        <p:nvSpPr>
          <p:cNvPr id="419" name="Google Shape;419;p25"/>
          <p:cNvSpPr/>
          <p:nvPr/>
        </p:nvSpPr>
        <p:spPr>
          <a:xfrm>
            <a:off x="457200" y="2697480"/>
            <a:ext cx="3931920" cy="1554480"/>
          </a:xfrm>
          <a:prstGeom prst="roundRect">
            <a:avLst>
              <a:gd name="adj" fmla="val 470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5"/>
          <p:cNvSpPr/>
          <p:nvPr/>
        </p:nvSpPr>
        <p:spPr>
          <a:xfrm>
            <a:off x="685800" y="288036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1" name="Google Shape;421;p25" descr="icon"/>
          <p:cNvPicPr preferRelativeResize="0"/>
          <p:nvPr/>
        </p:nvPicPr>
        <p:blipFill rotWithShape="1">
          <a:blip r:embed="rId3">
            <a:alphaModFix/>
          </a:blip>
          <a:srcRect/>
          <a:stretch/>
        </p:blipFill>
        <p:spPr>
          <a:xfrm>
            <a:off x="796442" y="2991002"/>
            <a:ext cx="281635" cy="281635"/>
          </a:xfrm>
          <a:prstGeom prst="rect">
            <a:avLst/>
          </a:prstGeom>
          <a:noFill/>
          <a:ln>
            <a:noFill/>
          </a:ln>
        </p:spPr>
      </p:pic>
      <p:sp>
        <p:nvSpPr>
          <p:cNvPr id="422" name="Google Shape;422;p25"/>
          <p:cNvSpPr txBox="1"/>
          <p:nvPr/>
        </p:nvSpPr>
        <p:spPr>
          <a:xfrm>
            <a:off x="1325880" y="2880360"/>
            <a:ext cx="29260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DICTIONARY tables via PROC SQL</a:t>
            </a:r>
            <a:endParaRPr sz="1500" b="0" i="0" u="none" strike="noStrike" cap="none">
              <a:solidFill>
                <a:schemeClr val="dk1"/>
              </a:solidFill>
              <a:latin typeface="Calibri"/>
              <a:ea typeface="Calibri"/>
              <a:cs typeface="Calibri"/>
              <a:sym typeface="Calibri"/>
            </a:endParaRPr>
          </a:p>
        </p:txBody>
      </p:sp>
      <p:sp>
        <p:nvSpPr>
          <p:cNvPr id="423" name="Google Shape;423;p25"/>
          <p:cNvSpPr txBox="1"/>
          <p:nvPr/>
        </p:nvSpPr>
        <p:spPr>
          <a:xfrm>
            <a:off x="685800" y="3474720"/>
            <a:ext cx="35204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Which data sets exist, shared keys, names reused with different attributes</a:t>
            </a:r>
            <a:endParaRPr sz="1400" b="0" i="0" u="none" strike="noStrike" cap="none">
              <a:solidFill>
                <a:schemeClr val="dk1"/>
              </a:solidFill>
              <a:latin typeface="Calibri"/>
              <a:ea typeface="Calibri"/>
              <a:cs typeface="Calibri"/>
              <a:sym typeface="Calibri"/>
            </a:endParaRPr>
          </a:p>
        </p:txBody>
      </p:sp>
      <p:sp>
        <p:nvSpPr>
          <p:cNvPr id="424" name="Google Shape;424;p25"/>
          <p:cNvSpPr/>
          <p:nvPr/>
        </p:nvSpPr>
        <p:spPr>
          <a:xfrm>
            <a:off x="4754880" y="2697480"/>
            <a:ext cx="3931920" cy="1554480"/>
          </a:xfrm>
          <a:prstGeom prst="roundRect">
            <a:avLst>
              <a:gd name="adj" fmla="val 470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5"/>
          <p:cNvSpPr/>
          <p:nvPr/>
        </p:nvSpPr>
        <p:spPr>
          <a:xfrm>
            <a:off x="4983480" y="2880360"/>
            <a:ext cx="502920" cy="50292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6" name="Google Shape;426;p25" descr="icon"/>
          <p:cNvPicPr preferRelativeResize="0"/>
          <p:nvPr/>
        </p:nvPicPr>
        <p:blipFill rotWithShape="1">
          <a:blip r:embed="rId4">
            <a:alphaModFix/>
          </a:blip>
          <a:srcRect/>
          <a:stretch/>
        </p:blipFill>
        <p:spPr>
          <a:xfrm>
            <a:off x="5094122" y="2991002"/>
            <a:ext cx="281635" cy="281635"/>
          </a:xfrm>
          <a:prstGeom prst="rect">
            <a:avLst/>
          </a:prstGeom>
          <a:noFill/>
          <a:ln>
            <a:noFill/>
          </a:ln>
        </p:spPr>
      </p:pic>
      <p:sp>
        <p:nvSpPr>
          <p:cNvPr id="427" name="Google Shape;427;p25"/>
          <p:cNvSpPr txBox="1"/>
          <p:nvPr/>
        </p:nvSpPr>
        <p:spPr>
          <a:xfrm>
            <a:off x="5623560" y="2880360"/>
            <a:ext cx="2926080" cy="5029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1" i="0" u="none" strike="noStrike" cap="none">
                <a:solidFill>
                  <a:schemeClr val="dk1"/>
                </a:solidFill>
                <a:latin typeface="Calibri"/>
                <a:ea typeface="Calibri"/>
                <a:cs typeface="Calibri"/>
                <a:sym typeface="Calibri"/>
              </a:rPr>
              <a:t>Custom Python source parser</a:t>
            </a:r>
            <a:endParaRPr sz="1500" b="0" i="0" u="none" strike="noStrike" cap="none">
              <a:solidFill>
                <a:schemeClr val="dk1"/>
              </a:solidFill>
              <a:latin typeface="Calibri"/>
              <a:ea typeface="Calibri"/>
              <a:cs typeface="Calibri"/>
              <a:sym typeface="Calibri"/>
            </a:endParaRPr>
          </a:p>
        </p:txBody>
      </p:sp>
      <p:sp>
        <p:nvSpPr>
          <p:cNvPr id="428" name="Google Shape;428;p25"/>
          <p:cNvSpPr txBox="1"/>
          <p:nvPr/>
        </p:nvSpPr>
        <p:spPr>
          <a:xfrm>
            <a:off x="4983480" y="3474720"/>
            <a:ext cx="35204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Macro definitions, parameter lists, %LET assignments, line numbers of each assignment</a:t>
            </a:r>
            <a:endParaRPr sz="1400" b="0" i="0" u="none" strike="noStrike" cap="none">
              <a:solidFill>
                <a:schemeClr val="dk1"/>
              </a:solidFill>
              <a:latin typeface="Calibri"/>
              <a:ea typeface="Calibri"/>
              <a:cs typeface="Calibri"/>
              <a:sym typeface="Calibri"/>
            </a:endParaRPr>
          </a:p>
        </p:txBody>
      </p:sp>
      <p:cxnSp>
        <p:nvCxnSpPr>
          <p:cNvPr id="429" name="Google Shape;429;p25"/>
          <p:cNvCxnSpPr/>
          <p:nvPr/>
        </p:nvCxnSpPr>
        <p:spPr>
          <a:xfrm flipH="1">
            <a:off x="2423160" y="2331720"/>
            <a:ext cx="1097280" cy="365760"/>
          </a:xfrm>
          <a:prstGeom prst="straightConnector1">
            <a:avLst/>
          </a:prstGeom>
          <a:noFill/>
          <a:ln w="19050" cap="flat" cmpd="sng">
            <a:solidFill>
              <a:schemeClr val="accent3"/>
            </a:solidFill>
            <a:prstDash val="solid"/>
            <a:round/>
            <a:headEnd type="none" w="sm" len="sm"/>
            <a:tailEnd type="none" w="sm" len="sm"/>
          </a:ln>
        </p:spPr>
      </p:cxnSp>
      <p:cxnSp>
        <p:nvCxnSpPr>
          <p:cNvPr id="430" name="Google Shape;430;p25"/>
          <p:cNvCxnSpPr/>
          <p:nvPr/>
        </p:nvCxnSpPr>
        <p:spPr>
          <a:xfrm>
            <a:off x="5623560" y="2331720"/>
            <a:ext cx="1097280" cy="365760"/>
          </a:xfrm>
          <a:prstGeom prst="straightConnector1">
            <a:avLst/>
          </a:prstGeom>
          <a:noFill/>
          <a:ln w="19050" cap="flat" cmpd="sng">
            <a:solidFill>
              <a:schemeClr val="accent3"/>
            </a:solidFill>
            <a:prstDash val="solid"/>
            <a:round/>
            <a:headEnd type="none" w="sm" len="sm"/>
            <a:tailEnd type="none" w="sm" len="sm"/>
          </a:ln>
        </p:spPr>
      </p:cxnSp>
      <p:sp>
        <p:nvSpPr>
          <p:cNvPr id="431" name="Google Shape;431;p25"/>
          <p:cNvSpPr txBox="1"/>
          <p:nvPr/>
        </p:nvSpPr>
        <p:spPr>
          <a:xfrm>
            <a:off x="457200" y="1417320"/>
            <a:ext cx="2560320"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0" i="1" u="none" strike="noStrike" cap="none">
                <a:solidFill>
                  <a:schemeClr val="accent6"/>
                </a:solidFill>
                <a:latin typeface="Calibri"/>
                <a:ea typeface="Calibri"/>
                <a:cs typeface="Calibri"/>
                <a:sym typeface="Calibri"/>
              </a:rPr>
              <a:t>Two read-only tools. Every claim must trace to one of them.</a:t>
            </a:r>
            <a:endParaRPr sz="1400" b="0" i="0" u="none" strike="noStrike" cap="none">
              <a:solidFill>
                <a:schemeClr val="dk1"/>
              </a:solidFill>
              <a:latin typeface="Calibri"/>
              <a:ea typeface="Calibri"/>
              <a:cs typeface="Calibri"/>
              <a:sym typeface="Calibri"/>
            </a:endParaRPr>
          </a:p>
        </p:txBody>
      </p:sp>
      <p:sp>
        <p:nvSpPr>
          <p:cNvPr id="432" name="Google Shape;432;p25"/>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19</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26"/>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DICTIONARY tables, not PROC CONTENTS</a:t>
            </a:r>
            <a:endParaRPr sz="3000"/>
          </a:p>
        </p:txBody>
      </p:sp>
      <p:sp>
        <p:nvSpPr>
          <p:cNvPr id="439" name="Google Shape;439;p26"/>
          <p:cNvSpPr/>
          <p:nvPr/>
        </p:nvSpPr>
        <p:spPr>
          <a:xfrm>
            <a:off x="457200" y="1188720"/>
            <a:ext cx="4754880" cy="3200400"/>
          </a:xfrm>
          <a:prstGeom prst="roundRect">
            <a:avLst>
              <a:gd name="adj" fmla="val 228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6"/>
          <p:cNvSpPr txBox="1"/>
          <p:nvPr/>
        </p:nvSpPr>
        <p:spPr>
          <a:xfrm>
            <a:off x="640080" y="1325880"/>
            <a:ext cx="4389120" cy="2926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proc sql noprint;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create table work._sdgcols as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select memname, name, type, length,</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format, informat, label, varnum</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from dictionary.columns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where libname='WORK'</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order by memname, varnum;</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create table work._sdgtabs as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select memname, nobs, nvar,</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memlabel as table_label</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from dictionary.tables</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where libname='WORK' and memtype='DATA';</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quit;</a:t>
            </a:r>
            <a:endParaRPr sz="1200" b="0" i="0" u="none" strike="noStrike" cap="none">
              <a:solidFill>
                <a:schemeClr val="dk1"/>
              </a:solidFill>
              <a:latin typeface="Calibri"/>
              <a:ea typeface="Calibri"/>
              <a:cs typeface="Calibri"/>
              <a:sym typeface="Calibri"/>
            </a:endParaRPr>
          </a:p>
        </p:txBody>
      </p:sp>
      <p:sp>
        <p:nvSpPr>
          <p:cNvPr id="441" name="Google Shape;441;p26"/>
          <p:cNvSpPr/>
          <p:nvPr/>
        </p:nvSpPr>
        <p:spPr>
          <a:xfrm>
            <a:off x="5486400" y="1188720"/>
            <a:ext cx="457200" cy="45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2" name="Google Shape;442;p26" descr="icon"/>
          <p:cNvPicPr preferRelativeResize="0"/>
          <p:nvPr/>
        </p:nvPicPr>
        <p:blipFill rotWithShape="1">
          <a:blip r:embed="rId3">
            <a:alphaModFix/>
          </a:blip>
          <a:srcRect/>
          <a:stretch/>
        </p:blipFill>
        <p:spPr>
          <a:xfrm>
            <a:off x="5586984" y="1289304"/>
            <a:ext cx="256032" cy="256032"/>
          </a:xfrm>
          <a:prstGeom prst="rect">
            <a:avLst/>
          </a:prstGeom>
          <a:noFill/>
          <a:ln>
            <a:noFill/>
          </a:ln>
        </p:spPr>
      </p:pic>
      <p:sp>
        <p:nvSpPr>
          <p:cNvPr id="443" name="Google Shape;443;p26"/>
          <p:cNvSpPr txBox="1"/>
          <p:nvPr/>
        </p:nvSpPr>
        <p:spPr>
          <a:xfrm>
            <a:off x="6080760" y="1170432"/>
            <a:ext cx="26060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PROC CONTENTS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Built to be read by people</a:t>
            </a:r>
            <a:endParaRPr sz="1400" b="0" i="0" u="none" strike="noStrike" cap="none">
              <a:solidFill>
                <a:schemeClr val="dk1"/>
              </a:solidFill>
              <a:latin typeface="Calibri"/>
              <a:ea typeface="Calibri"/>
              <a:cs typeface="Calibri"/>
              <a:sym typeface="Calibri"/>
            </a:endParaRPr>
          </a:p>
        </p:txBody>
      </p:sp>
      <p:sp>
        <p:nvSpPr>
          <p:cNvPr id="444" name="Google Shape;444;p26"/>
          <p:cNvSpPr/>
          <p:nvPr/>
        </p:nvSpPr>
        <p:spPr>
          <a:xfrm>
            <a:off x="5486400" y="2267712"/>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5" name="Google Shape;445;p26" descr="icon"/>
          <p:cNvPicPr preferRelativeResize="0"/>
          <p:nvPr/>
        </p:nvPicPr>
        <p:blipFill rotWithShape="1">
          <a:blip r:embed="rId4">
            <a:alphaModFix/>
          </a:blip>
          <a:srcRect/>
          <a:stretch/>
        </p:blipFill>
        <p:spPr>
          <a:xfrm>
            <a:off x="5586984" y="2368296"/>
            <a:ext cx="256032" cy="256032"/>
          </a:xfrm>
          <a:prstGeom prst="rect">
            <a:avLst/>
          </a:prstGeom>
          <a:noFill/>
          <a:ln>
            <a:noFill/>
          </a:ln>
        </p:spPr>
      </p:pic>
      <p:sp>
        <p:nvSpPr>
          <p:cNvPr id="446" name="Google Shape;446;p26"/>
          <p:cNvSpPr txBox="1"/>
          <p:nvPr/>
        </p:nvSpPr>
        <p:spPr>
          <a:xfrm>
            <a:off x="6080760" y="2249424"/>
            <a:ext cx="26060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DICTIONARY views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Already tables: SASPy .sd2df() drops them straight into a pandas data frame</a:t>
            </a:r>
            <a:endParaRPr sz="1400" b="0" i="0" u="none" strike="noStrike" cap="none">
              <a:solidFill>
                <a:schemeClr val="dk1"/>
              </a:solidFill>
              <a:latin typeface="Calibri"/>
              <a:ea typeface="Calibri"/>
              <a:cs typeface="Calibri"/>
              <a:sym typeface="Calibri"/>
            </a:endParaRPr>
          </a:p>
        </p:txBody>
      </p:sp>
      <p:sp>
        <p:nvSpPr>
          <p:cNvPr id="447" name="Google Shape;447;p26"/>
          <p:cNvSpPr/>
          <p:nvPr/>
        </p:nvSpPr>
        <p:spPr>
          <a:xfrm>
            <a:off x="5486400" y="3346704"/>
            <a:ext cx="457200" cy="4572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8" name="Google Shape;448;p26" descr="icon"/>
          <p:cNvPicPr preferRelativeResize="0"/>
          <p:nvPr/>
        </p:nvPicPr>
        <p:blipFill rotWithShape="1">
          <a:blip r:embed="rId5">
            <a:alphaModFix/>
          </a:blip>
          <a:srcRect/>
          <a:stretch/>
        </p:blipFill>
        <p:spPr>
          <a:xfrm>
            <a:off x="5586984" y="3447288"/>
            <a:ext cx="256032" cy="256032"/>
          </a:xfrm>
          <a:prstGeom prst="rect">
            <a:avLst/>
          </a:prstGeom>
          <a:noFill/>
          <a:ln>
            <a:noFill/>
          </a:ln>
        </p:spPr>
      </p:pic>
      <p:sp>
        <p:nvSpPr>
          <p:cNvPr id="449" name="Google Shape;449;p26"/>
          <p:cNvSpPr txBox="1"/>
          <p:nvPr/>
        </p:nvSpPr>
        <p:spPr>
          <a:xfrm>
            <a:off x="6080760" y="3328416"/>
            <a:ext cx="260604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Portability</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Skills follow Claude's format; other providers need adaptation</a:t>
            </a:r>
            <a:endParaRPr sz="1400" b="0" i="0" u="none" strike="noStrike" cap="none">
              <a:solidFill>
                <a:schemeClr val="dk1"/>
              </a:solidFill>
              <a:latin typeface="Calibri"/>
              <a:ea typeface="Calibri"/>
              <a:cs typeface="Calibri"/>
              <a:sym typeface="Calibri"/>
            </a:endParaRPr>
          </a:p>
        </p:txBody>
      </p:sp>
      <p:sp>
        <p:nvSpPr>
          <p:cNvPr id="450" name="Google Shape;450;p26"/>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20</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27"/>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Evaluation: 20 held-out synthetic programs</a:t>
            </a:r>
            <a:endParaRPr sz="3000"/>
          </a:p>
        </p:txBody>
      </p:sp>
      <p:sp>
        <p:nvSpPr>
          <p:cNvPr id="457" name="Google Shape;457;p27"/>
          <p:cNvSpPr/>
          <p:nvPr/>
        </p:nvSpPr>
        <p:spPr>
          <a:xfrm>
            <a:off x="457200" y="1188720"/>
            <a:ext cx="329184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7"/>
          <p:cNvSpPr txBox="1"/>
          <p:nvPr/>
        </p:nvSpPr>
        <p:spPr>
          <a:xfrm>
            <a:off x="640080" y="1188720"/>
            <a:ext cx="123444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3200"/>
              <a:buFont typeface="Cambria"/>
              <a:buNone/>
            </a:pPr>
            <a:r>
              <a:rPr lang="en-US" sz="3200" b="1" i="0" u="none" strike="noStrike" cap="none">
                <a:solidFill>
                  <a:schemeClr val="accent2"/>
                </a:solidFill>
                <a:latin typeface="Cambria"/>
                <a:ea typeface="Cambria"/>
                <a:cs typeface="Cambria"/>
                <a:sym typeface="Cambria"/>
              </a:rPr>
              <a:t>20</a:t>
            </a:r>
            <a:endParaRPr sz="3200" b="0" i="0" u="none" strike="noStrike" cap="none">
              <a:solidFill>
                <a:schemeClr val="dk1"/>
              </a:solidFill>
              <a:latin typeface="Calibri"/>
              <a:ea typeface="Calibri"/>
              <a:cs typeface="Calibri"/>
              <a:sym typeface="Calibri"/>
            </a:endParaRPr>
          </a:p>
        </p:txBody>
      </p:sp>
      <p:sp>
        <p:nvSpPr>
          <p:cNvPr id="459" name="Google Shape;459;p27"/>
          <p:cNvSpPr txBox="1"/>
          <p:nvPr/>
        </p:nvSpPr>
        <p:spPr>
          <a:xfrm>
            <a:off x="1874520" y="1188720"/>
            <a:ext cx="178308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held-out programs</a:t>
            </a:r>
            <a:endParaRPr sz="1500" b="0" i="0" u="none" strike="noStrike" cap="none">
              <a:solidFill>
                <a:schemeClr val="dk1"/>
              </a:solidFill>
              <a:latin typeface="Calibri"/>
              <a:ea typeface="Calibri"/>
              <a:cs typeface="Calibri"/>
              <a:sym typeface="Calibri"/>
            </a:endParaRPr>
          </a:p>
        </p:txBody>
      </p:sp>
      <p:sp>
        <p:nvSpPr>
          <p:cNvPr id="460" name="Google Shape;460;p27"/>
          <p:cNvSpPr/>
          <p:nvPr/>
        </p:nvSpPr>
        <p:spPr>
          <a:xfrm>
            <a:off x="457200" y="2240280"/>
            <a:ext cx="329184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7"/>
          <p:cNvSpPr txBox="1"/>
          <p:nvPr/>
        </p:nvSpPr>
        <p:spPr>
          <a:xfrm>
            <a:off x="640080" y="2240280"/>
            <a:ext cx="123444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3200"/>
              <a:buFont typeface="Cambria"/>
              <a:buNone/>
            </a:pPr>
            <a:r>
              <a:rPr lang="en-US" sz="3200" b="1" i="0" u="none" strike="noStrike" cap="none">
                <a:solidFill>
                  <a:schemeClr val="accent2"/>
                </a:solidFill>
                <a:latin typeface="Cambria"/>
                <a:ea typeface="Cambria"/>
                <a:cs typeface="Cambria"/>
                <a:sym typeface="Cambria"/>
              </a:rPr>
              <a:t>3</a:t>
            </a:r>
            <a:endParaRPr sz="3200" b="0" i="0" u="none" strike="noStrike" cap="none">
              <a:solidFill>
                <a:schemeClr val="dk1"/>
              </a:solidFill>
              <a:latin typeface="Calibri"/>
              <a:ea typeface="Calibri"/>
              <a:cs typeface="Calibri"/>
              <a:sym typeface="Calibri"/>
            </a:endParaRPr>
          </a:p>
        </p:txBody>
      </p:sp>
      <p:sp>
        <p:nvSpPr>
          <p:cNvPr id="462" name="Google Shape;462;p27"/>
          <p:cNvSpPr txBox="1"/>
          <p:nvPr/>
        </p:nvSpPr>
        <p:spPr>
          <a:xfrm>
            <a:off x="1874520" y="2240280"/>
            <a:ext cx="178308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runs each</a:t>
            </a:r>
            <a:endParaRPr sz="1500" b="0" i="0" u="none" strike="noStrike" cap="none">
              <a:solidFill>
                <a:schemeClr val="dk1"/>
              </a:solidFill>
              <a:latin typeface="Calibri"/>
              <a:ea typeface="Calibri"/>
              <a:cs typeface="Calibri"/>
              <a:sym typeface="Calibri"/>
            </a:endParaRPr>
          </a:p>
        </p:txBody>
      </p:sp>
      <p:sp>
        <p:nvSpPr>
          <p:cNvPr id="463" name="Google Shape;463;p27"/>
          <p:cNvSpPr/>
          <p:nvPr/>
        </p:nvSpPr>
        <p:spPr>
          <a:xfrm>
            <a:off x="457200" y="3291840"/>
            <a:ext cx="329184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7"/>
          <p:cNvSpPr txBox="1"/>
          <p:nvPr/>
        </p:nvSpPr>
        <p:spPr>
          <a:xfrm>
            <a:off x="640080" y="3291840"/>
            <a:ext cx="123444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3200"/>
              <a:buFont typeface="Cambria"/>
              <a:buNone/>
            </a:pPr>
            <a:r>
              <a:rPr lang="en-US" sz="3200" b="1" i="0" u="none" strike="noStrike" cap="none">
                <a:solidFill>
                  <a:schemeClr val="accent2"/>
                </a:solidFill>
                <a:latin typeface="Cambria"/>
                <a:ea typeface="Cambria"/>
                <a:cs typeface="Cambria"/>
                <a:sym typeface="Cambria"/>
              </a:rPr>
              <a:t>Gold</a:t>
            </a:r>
            <a:endParaRPr sz="3200" b="0" i="0" u="none" strike="noStrike" cap="none">
              <a:solidFill>
                <a:schemeClr val="dk1"/>
              </a:solidFill>
              <a:latin typeface="Calibri"/>
              <a:ea typeface="Calibri"/>
              <a:cs typeface="Calibri"/>
              <a:sym typeface="Calibri"/>
            </a:endParaRPr>
          </a:p>
        </p:txBody>
      </p:sp>
      <p:sp>
        <p:nvSpPr>
          <p:cNvPr id="465" name="Google Shape;465;p27"/>
          <p:cNvSpPr txBox="1"/>
          <p:nvPr/>
        </p:nvSpPr>
        <p:spPr>
          <a:xfrm>
            <a:off x="1874520" y="3291840"/>
            <a:ext cx="178308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500"/>
              <a:buFont typeface="Calibri"/>
              <a:buNone/>
            </a:pPr>
            <a:r>
              <a:rPr lang="en-US" sz="1500" b="0" i="0" u="none" strike="noStrike" cap="none">
                <a:solidFill>
                  <a:schemeClr val="dk1"/>
                </a:solidFill>
                <a:latin typeface="Calibri"/>
                <a:ea typeface="Calibri"/>
                <a:cs typeface="Calibri"/>
                <a:sym typeface="Calibri"/>
              </a:rPr>
              <a:t>by construction</a:t>
            </a:r>
            <a:endParaRPr sz="1500" b="0" i="0" u="none" strike="noStrike" cap="none">
              <a:solidFill>
                <a:schemeClr val="dk1"/>
              </a:solidFill>
              <a:latin typeface="Calibri"/>
              <a:ea typeface="Calibri"/>
              <a:cs typeface="Calibri"/>
              <a:sym typeface="Calibri"/>
            </a:endParaRPr>
          </a:p>
        </p:txBody>
      </p:sp>
      <p:sp>
        <p:nvSpPr>
          <p:cNvPr id="466" name="Google Shape;466;p27"/>
          <p:cNvSpPr txBox="1"/>
          <p:nvPr/>
        </p:nvSpPr>
        <p:spPr>
          <a:xfrm>
            <a:off x="4114800" y="1188720"/>
            <a:ext cx="45720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700"/>
              <a:buFont typeface="Calibri"/>
              <a:buNone/>
            </a:pPr>
            <a:r>
              <a:rPr lang="en-US" sz="1700" b="1" i="0" u="none" strike="noStrike" cap="none">
                <a:solidFill>
                  <a:schemeClr val="dk1"/>
                </a:solidFill>
                <a:latin typeface="Calibri"/>
                <a:ea typeface="Calibri"/>
                <a:cs typeface="Calibri"/>
                <a:sym typeface="Calibri"/>
              </a:rPr>
              <a:t>Legacy flaws, on purpose</a:t>
            </a:r>
            <a:endParaRPr sz="1700" b="0" i="0" u="none" strike="noStrike" cap="none">
              <a:solidFill>
                <a:schemeClr val="dk1"/>
              </a:solidFill>
              <a:latin typeface="Calibri"/>
              <a:ea typeface="Calibri"/>
              <a:cs typeface="Calibri"/>
              <a:sym typeface="Calibri"/>
            </a:endParaRPr>
          </a:p>
        </p:txBody>
      </p:sp>
      <p:sp>
        <p:nvSpPr>
          <p:cNvPr id="467" name="Google Shape;467;p27"/>
          <p:cNvSpPr/>
          <p:nvPr/>
        </p:nvSpPr>
        <p:spPr>
          <a:xfrm>
            <a:off x="4114800" y="169164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7"/>
          <p:cNvSpPr txBox="1"/>
          <p:nvPr/>
        </p:nvSpPr>
        <p:spPr>
          <a:xfrm>
            <a:off x="4224528" y="169164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ourier New"/>
              <a:buNone/>
            </a:pPr>
            <a:r>
              <a:rPr lang="en-US" sz="1200" b="0" i="0" u="none" strike="noStrike" cap="none">
                <a:solidFill>
                  <a:schemeClr val="dk1"/>
                </a:solidFill>
                <a:latin typeface="Courier New"/>
                <a:ea typeface="Courier New"/>
                <a:cs typeface="Courier New"/>
                <a:sym typeface="Courier New"/>
              </a:rPr>
              <a:t>EMPL, EM for employment_level</a:t>
            </a:r>
            <a:endParaRPr sz="1200" b="0" i="0" u="none" strike="noStrike" cap="none">
              <a:solidFill>
                <a:schemeClr val="dk1"/>
              </a:solidFill>
              <a:latin typeface="Calibri"/>
              <a:ea typeface="Calibri"/>
              <a:cs typeface="Calibri"/>
              <a:sym typeface="Calibri"/>
            </a:endParaRPr>
          </a:p>
        </p:txBody>
      </p:sp>
      <p:sp>
        <p:nvSpPr>
          <p:cNvPr id="469" name="Google Shape;469;p27"/>
          <p:cNvSpPr/>
          <p:nvPr/>
        </p:nvSpPr>
        <p:spPr>
          <a:xfrm>
            <a:off x="6446520" y="169164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7"/>
          <p:cNvSpPr txBox="1"/>
          <p:nvPr/>
        </p:nvSpPr>
        <p:spPr>
          <a:xfrm>
            <a:off x="6556248" y="169164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ourier New"/>
              <a:buNone/>
            </a:pPr>
            <a:r>
              <a:rPr lang="en-US" sz="1200" b="0" i="0" u="none" strike="noStrike" cap="none">
                <a:solidFill>
                  <a:schemeClr val="dk1"/>
                </a:solidFill>
                <a:latin typeface="Courier New"/>
                <a:ea typeface="Courier New"/>
                <a:cs typeface="Courier New"/>
                <a:sym typeface="Courier New"/>
              </a:rPr>
              <a:t>%macro x(p, lb, thr, dbg)</a:t>
            </a:r>
            <a:endParaRPr sz="1200" b="0" i="0" u="none" strike="noStrike" cap="none">
              <a:solidFill>
                <a:schemeClr val="dk1"/>
              </a:solidFill>
              <a:latin typeface="Calibri"/>
              <a:ea typeface="Calibri"/>
              <a:cs typeface="Calibri"/>
              <a:sym typeface="Calibri"/>
            </a:endParaRPr>
          </a:p>
        </p:txBody>
      </p:sp>
      <p:sp>
        <p:nvSpPr>
          <p:cNvPr id="471" name="Google Shape;471;p27"/>
          <p:cNvSpPr/>
          <p:nvPr/>
        </p:nvSpPr>
        <p:spPr>
          <a:xfrm>
            <a:off x="4114800" y="242316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7"/>
          <p:cNvSpPr txBox="1"/>
          <p:nvPr/>
        </p:nvSpPr>
        <p:spPr>
          <a:xfrm>
            <a:off x="4224528" y="242316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ourier New"/>
              <a:buNone/>
            </a:pPr>
            <a:r>
              <a:rPr lang="en-US" sz="1200" b="0" i="0" u="none" strike="noStrike" cap="none">
                <a:solidFill>
                  <a:schemeClr val="dk1"/>
                </a:solidFill>
                <a:latin typeface="Courier New"/>
                <a:ea typeface="Courier New"/>
                <a:cs typeface="Courier New"/>
                <a:sym typeface="Courier New"/>
              </a:rPr>
              <a:t>options nomprint nosymbolgen</a:t>
            </a:r>
            <a:endParaRPr sz="1200" b="0" i="0" u="none" strike="noStrike" cap="none">
              <a:solidFill>
                <a:schemeClr val="dk1"/>
              </a:solidFill>
              <a:latin typeface="Calibri"/>
              <a:ea typeface="Calibri"/>
              <a:cs typeface="Calibri"/>
              <a:sym typeface="Calibri"/>
            </a:endParaRPr>
          </a:p>
        </p:txBody>
      </p:sp>
      <p:sp>
        <p:nvSpPr>
          <p:cNvPr id="473" name="Google Shape;473;p27"/>
          <p:cNvSpPr/>
          <p:nvPr/>
        </p:nvSpPr>
        <p:spPr>
          <a:xfrm>
            <a:off x="6446520" y="242316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7"/>
          <p:cNvSpPr txBox="1"/>
          <p:nvPr/>
        </p:nvSpPr>
        <p:spPr>
          <a:xfrm>
            <a:off x="6556248" y="242316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Hardcoded paths and periods</a:t>
            </a:r>
            <a:endParaRPr sz="1200" b="0" i="0" u="none" strike="noStrike" cap="none">
              <a:solidFill>
                <a:schemeClr val="dk1"/>
              </a:solidFill>
              <a:latin typeface="Calibri"/>
              <a:ea typeface="Calibri"/>
              <a:cs typeface="Calibri"/>
              <a:sym typeface="Calibri"/>
            </a:endParaRPr>
          </a:p>
        </p:txBody>
      </p:sp>
      <p:sp>
        <p:nvSpPr>
          <p:cNvPr id="475" name="Google Shape;475;p27"/>
          <p:cNvSpPr/>
          <p:nvPr/>
        </p:nvSpPr>
        <p:spPr>
          <a:xfrm>
            <a:off x="4114800" y="315468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7"/>
          <p:cNvSpPr txBox="1"/>
          <p:nvPr/>
        </p:nvSpPr>
        <p:spPr>
          <a:xfrm>
            <a:off x="4224528" y="315468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No headers, few comments</a:t>
            </a:r>
            <a:endParaRPr sz="1200" b="0" i="0" u="none" strike="noStrike" cap="none">
              <a:solidFill>
                <a:schemeClr val="dk1"/>
              </a:solidFill>
              <a:latin typeface="Calibri"/>
              <a:ea typeface="Calibri"/>
              <a:cs typeface="Calibri"/>
              <a:sym typeface="Calibri"/>
            </a:endParaRPr>
          </a:p>
        </p:txBody>
      </p:sp>
      <p:sp>
        <p:nvSpPr>
          <p:cNvPr id="477" name="Google Shape;477;p27"/>
          <p:cNvSpPr/>
          <p:nvPr/>
        </p:nvSpPr>
        <p:spPr>
          <a:xfrm>
            <a:off x="6446520" y="3154680"/>
            <a:ext cx="2194560" cy="594360"/>
          </a:xfrm>
          <a:prstGeom prst="roundRect">
            <a:avLst>
              <a:gd name="adj" fmla="val 123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7"/>
          <p:cNvSpPr txBox="1"/>
          <p:nvPr/>
        </p:nvSpPr>
        <p:spPr>
          <a:xfrm>
            <a:off x="6556248" y="3154680"/>
            <a:ext cx="1975104"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alibri"/>
              <a:buNone/>
            </a:pPr>
            <a:r>
              <a:rPr lang="en-US" sz="1200" b="0" i="0" u="none" strike="noStrike" cap="none">
                <a:solidFill>
                  <a:schemeClr val="dk1"/>
                </a:solidFill>
                <a:latin typeface="Calibri"/>
                <a:ea typeface="Calibri"/>
                <a:cs typeface="Calibri"/>
                <a:sym typeface="Calibri"/>
              </a:rPr>
              <a:t>Throwaway intermediate data sets</a:t>
            </a:r>
            <a:endParaRPr sz="1200" b="0" i="0" u="none" strike="noStrike" cap="none">
              <a:solidFill>
                <a:schemeClr val="dk1"/>
              </a:solidFill>
              <a:latin typeface="Calibri"/>
              <a:ea typeface="Calibri"/>
              <a:cs typeface="Calibri"/>
              <a:sym typeface="Calibri"/>
            </a:endParaRPr>
          </a:p>
        </p:txBody>
      </p:sp>
      <p:sp>
        <p:nvSpPr>
          <p:cNvPr id="479" name="Google Shape;479;p27"/>
          <p:cNvSpPr txBox="1"/>
          <p:nvPr/>
        </p:nvSpPr>
        <p:spPr>
          <a:xfrm>
            <a:off x="4114800" y="3931920"/>
            <a:ext cx="457200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200"/>
              <a:buFont typeface="Calibri"/>
              <a:buNone/>
            </a:pPr>
            <a:r>
              <a:rPr lang="en-US" sz="1200" b="0" i="1" u="none" strike="noStrike" cap="none">
                <a:solidFill>
                  <a:schemeClr val="accent6"/>
                </a:solidFill>
                <a:latin typeface="Calibri"/>
                <a:ea typeface="Calibri"/>
                <a:cs typeface="Calibri"/>
                <a:sym typeface="Calibri"/>
              </a:rPr>
              <a:t>Generated with Mistral Large 3 (a different provider from the frontier model under test)</a:t>
            </a:r>
            <a:endParaRPr sz="1200" b="0" i="0" u="none" strike="noStrike" cap="none">
              <a:solidFill>
                <a:schemeClr val="dk1"/>
              </a:solidFill>
              <a:latin typeface="Calibri"/>
              <a:ea typeface="Calibri"/>
              <a:cs typeface="Calibri"/>
              <a:sym typeface="Calibri"/>
            </a:endParaRPr>
          </a:p>
        </p:txBody>
      </p:sp>
      <p:sp>
        <p:nvSpPr>
          <p:cNvPr id="480" name="Google Shape;480;p27"/>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21</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28"/>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Fine-tuning closes most of the gap</a:t>
            </a:r>
            <a:endParaRPr sz="3000"/>
          </a:p>
        </p:txBody>
      </p:sp>
      <p:pic>
        <p:nvPicPr>
          <p:cNvPr id="487" name="Google Shape;487;p28"/>
          <p:cNvPicPr preferRelativeResize="0"/>
          <p:nvPr/>
        </p:nvPicPr>
        <p:blipFill rotWithShape="1">
          <a:blip r:embed="rId3">
            <a:alphaModFix/>
          </a:blip>
          <a:srcRect/>
          <a:stretch/>
        </p:blipFill>
        <p:spPr>
          <a:xfrm>
            <a:off x="457200" y="1097280"/>
            <a:ext cx="5852160" cy="3337560"/>
          </a:xfrm>
          <a:prstGeom prst="rect">
            <a:avLst/>
          </a:prstGeom>
          <a:noFill/>
          <a:ln>
            <a:noFill/>
          </a:ln>
        </p:spPr>
      </p:pic>
      <p:sp>
        <p:nvSpPr>
          <p:cNvPr id="488" name="Google Shape;488;p28"/>
          <p:cNvSpPr/>
          <p:nvPr/>
        </p:nvSpPr>
        <p:spPr>
          <a:xfrm>
            <a:off x="6583680" y="1188720"/>
            <a:ext cx="2103120" cy="3154680"/>
          </a:xfrm>
          <a:prstGeom prst="roundRect">
            <a:avLst>
              <a:gd name="adj" fmla="val 347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8"/>
          <p:cNvSpPr txBox="1"/>
          <p:nvPr/>
        </p:nvSpPr>
        <p:spPr>
          <a:xfrm>
            <a:off x="6766560" y="1371600"/>
            <a:ext cx="1783080" cy="2834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2600"/>
              <a:buFont typeface="Cambria"/>
              <a:buNone/>
            </a:pPr>
            <a:r>
              <a:rPr lang="en-US" sz="2600" b="1" i="0" u="none" strike="noStrike" cap="none">
                <a:solidFill>
                  <a:schemeClr val="accent4"/>
                </a:solidFill>
                <a:latin typeface="Cambria"/>
                <a:ea typeface="Cambria"/>
                <a:cs typeface="Cambria"/>
                <a:sym typeface="Cambria"/>
              </a:rPr>
              <a:t>9 of 20</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Config 1 programs with schema-valid output</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800"/>
              <a:buFont typeface="Calibri"/>
              <a:buNone/>
            </a:pPr>
            <a:r>
              <a:rPr lang="en-US" sz="8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2400"/>
              <a:buFont typeface="Calibri"/>
              <a:buNone/>
            </a:pPr>
            <a:r>
              <a:rPr lang="en-US" sz="2400" b="1" i="0" u="none" strike="noStrike" cap="none">
                <a:solidFill>
                  <a:schemeClr val="accent1"/>
                </a:solidFill>
                <a:latin typeface="Calibri"/>
                <a:ea typeface="Calibri"/>
                <a:cs typeface="Calibri"/>
                <a:sym typeface="Calibri"/>
              </a:rPr>
              <a:t>0.01 → 0.92</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Variable F1, same base model, after QLoRA</a:t>
            </a:r>
            <a:endParaRPr sz="1300" b="0" i="0" u="none" strike="noStrike" cap="none">
              <a:solidFill>
                <a:schemeClr val="dk1"/>
              </a:solidFill>
              <a:latin typeface="Calibri"/>
              <a:ea typeface="Calibri"/>
              <a:cs typeface="Calibri"/>
              <a:sym typeface="Calibri"/>
            </a:endParaRPr>
          </a:p>
        </p:txBody>
      </p:sp>
      <p:sp>
        <p:nvSpPr>
          <p:cNvPr id="490" name="Google Shape;490;p28"/>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22</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29"/>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The metric that decides: hallucination</a:t>
            </a:r>
            <a:endParaRPr sz="3000"/>
          </a:p>
        </p:txBody>
      </p:sp>
      <p:sp>
        <p:nvSpPr>
          <p:cNvPr id="497" name="Google Shape;497;p29"/>
          <p:cNvSpPr/>
          <p:nvPr/>
        </p:nvSpPr>
        <p:spPr>
          <a:xfrm>
            <a:off x="45720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9"/>
          <p:cNvSpPr txBox="1"/>
          <p:nvPr/>
        </p:nvSpPr>
        <p:spPr>
          <a:xfrm>
            <a:off x="68580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1" i="0" u="none" strike="noStrike" cap="none">
                <a:solidFill>
                  <a:schemeClr val="accent6"/>
                </a:solidFill>
                <a:latin typeface="Calibri"/>
                <a:ea typeface="Calibri"/>
                <a:cs typeface="Calibri"/>
                <a:sym typeface="Calibri"/>
              </a:rPr>
              <a:t>Config 1  </a:t>
            </a:r>
            <a:r>
              <a:rPr lang="en-US" sz="1400" b="1" i="0" u="none" strike="noStrike" cap="none">
                <a:solidFill>
                  <a:schemeClr val="dk1"/>
                </a:solidFill>
                <a:latin typeface="Calibri"/>
                <a:ea typeface="Calibri"/>
                <a:cs typeface="Calibri"/>
                <a:sym typeface="Calibri"/>
              </a:rPr>
              <a:t>Zero-shot</a:t>
            </a:r>
            <a:endParaRPr sz="1400" b="0" i="0" u="none" strike="noStrike" cap="none">
              <a:solidFill>
                <a:schemeClr val="dk1"/>
              </a:solidFill>
              <a:latin typeface="Calibri"/>
              <a:ea typeface="Calibri"/>
              <a:cs typeface="Calibri"/>
              <a:sym typeface="Calibri"/>
            </a:endParaRPr>
          </a:p>
        </p:txBody>
      </p:sp>
      <p:sp>
        <p:nvSpPr>
          <p:cNvPr id="499" name="Google Shape;499;p29"/>
          <p:cNvSpPr txBox="1"/>
          <p:nvPr/>
        </p:nvSpPr>
        <p:spPr>
          <a:xfrm>
            <a:off x="685800" y="1691640"/>
            <a:ext cx="210312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4"/>
              </a:buClr>
              <a:buSzPts val="5600"/>
              <a:buFont typeface="Cambria"/>
              <a:buNone/>
            </a:pPr>
            <a:r>
              <a:rPr lang="en-US" sz="5600" b="1" i="0" u="none" strike="noStrike" cap="none">
                <a:solidFill>
                  <a:schemeClr val="accent4"/>
                </a:solidFill>
                <a:latin typeface="Cambria"/>
                <a:ea typeface="Cambria"/>
                <a:cs typeface="Cambria"/>
                <a:sym typeface="Cambria"/>
              </a:rPr>
              <a:t>57%</a:t>
            </a:r>
            <a:endParaRPr sz="5600" b="0" i="0" u="none" strike="noStrike" cap="none">
              <a:solidFill>
                <a:schemeClr val="dk1"/>
              </a:solidFill>
              <a:latin typeface="Calibri"/>
              <a:ea typeface="Calibri"/>
              <a:cs typeface="Calibri"/>
              <a:sym typeface="Calibri"/>
            </a:endParaRPr>
          </a:p>
        </p:txBody>
      </p:sp>
      <p:sp>
        <p:nvSpPr>
          <p:cNvPr id="500" name="Google Shape;500;p29"/>
          <p:cNvSpPr txBox="1"/>
          <p:nvPr/>
        </p:nvSpPr>
        <p:spPr>
          <a:xfrm>
            <a:off x="685800" y="260604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hallucination rate</a:t>
            </a:r>
            <a:endParaRPr sz="1300" b="0" i="0" u="none" strike="noStrike" cap="none">
              <a:solidFill>
                <a:schemeClr val="dk1"/>
              </a:solidFill>
              <a:latin typeface="Calibri"/>
              <a:ea typeface="Calibri"/>
              <a:cs typeface="Calibri"/>
              <a:sym typeface="Calibri"/>
            </a:endParaRPr>
          </a:p>
        </p:txBody>
      </p:sp>
      <p:sp>
        <p:nvSpPr>
          <p:cNvPr id="501" name="Google Shape;501;p29"/>
          <p:cNvSpPr txBox="1"/>
          <p:nvPr/>
        </p:nvSpPr>
        <p:spPr>
          <a:xfrm>
            <a:off x="685800" y="288036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range 37–81% across runs</a:t>
            </a:r>
            <a:endParaRPr sz="1200" b="0" i="0" u="none" strike="noStrike" cap="none">
              <a:solidFill>
                <a:schemeClr val="dk1"/>
              </a:solidFill>
              <a:latin typeface="Calibri"/>
              <a:ea typeface="Calibri"/>
              <a:cs typeface="Calibri"/>
              <a:sym typeface="Calibri"/>
            </a:endParaRPr>
          </a:p>
        </p:txBody>
      </p:sp>
      <p:sp>
        <p:nvSpPr>
          <p:cNvPr id="502" name="Google Shape;502;p29"/>
          <p:cNvSpPr txBox="1"/>
          <p:nvPr/>
        </p:nvSpPr>
        <p:spPr>
          <a:xfrm>
            <a:off x="685800" y="3383280"/>
            <a:ext cx="2103120" cy="685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88 sec</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per program</a:t>
            </a:r>
            <a:endParaRPr sz="1400" b="0" i="0" u="none" strike="noStrike" cap="none">
              <a:solidFill>
                <a:schemeClr val="dk1"/>
              </a:solidFill>
              <a:latin typeface="Calibri"/>
              <a:ea typeface="Calibri"/>
              <a:cs typeface="Calibri"/>
              <a:sym typeface="Calibri"/>
            </a:endParaRPr>
          </a:p>
        </p:txBody>
      </p:sp>
      <p:sp>
        <p:nvSpPr>
          <p:cNvPr id="503" name="Google Shape;503;p29"/>
          <p:cNvSpPr/>
          <p:nvPr/>
        </p:nvSpPr>
        <p:spPr>
          <a:xfrm>
            <a:off x="329184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txBox="1"/>
          <p:nvPr/>
        </p:nvSpPr>
        <p:spPr>
          <a:xfrm>
            <a:off x="352044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1" i="0" u="none" strike="noStrike" cap="none">
                <a:solidFill>
                  <a:schemeClr val="accent6"/>
                </a:solidFill>
                <a:latin typeface="Calibri"/>
                <a:ea typeface="Calibri"/>
                <a:cs typeface="Calibri"/>
                <a:sym typeface="Calibri"/>
              </a:rPr>
              <a:t>Config 2  </a:t>
            </a:r>
            <a:r>
              <a:rPr lang="en-US" sz="1400" b="1" i="0" u="none" strike="noStrike" cap="none">
                <a:solidFill>
                  <a:schemeClr val="dk1"/>
                </a:solidFill>
                <a:latin typeface="Calibri"/>
                <a:ea typeface="Calibri"/>
                <a:cs typeface="Calibri"/>
                <a:sym typeface="Calibri"/>
              </a:rPr>
              <a:t>QLoRA</a:t>
            </a:r>
            <a:endParaRPr sz="1400" b="0" i="0" u="none" strike="noStrike" cap="none">
              <a:solidFill>
                <a:schemeClr val="dk1"/>
              </a:solidFill>
              <a:latin typeface="Calibri"/>
              <a:ea typeface="Calibri"/>
              <a:cs typeface="Calibri"/>
              <a:sym typeface="Calibri"/>
            </a:endParaRPr>
          </a:p>
        </p:txBody>
      </p:sp>
      <p:sp>
        <p:nvSpPr>
          <p:cNvPr id="505" name="Google Shape;505;p29"/>
          <p:cNvSpPr txBox="1"/>
          <p:nvPr/>
        </p:nvSpPr>
        <p:spPr>
          <a:xfrm>
            <a:off x="3520440" y="1691640"/>
            <a:ext cx="210312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1"/>
              </a:buClr>
              <a:buSzPts val="5600"/>
              <a:buFont typeface="Cambria"/>
              <a:buNone/>
            </a:pPr>
            <a:r>
              <a:rPr lang="en-US" sz="5600" b="1" i="0" u="none" strike="noStrike" cap="none">
                <a:solidFill>
                  <a:schemeClr val="accent1"/>
                </a:solidFill>
                <a:latin typeface="Cambria"/>
                <a:ea typeface="Cambria"/>
                <a:cs typeface="Cambria"/>
                <a:sym typeface="Cambria"/>
              </a:rPr>
              <a:t>0%</a:t>
            </a:r>
            <a:endParaRPr sz="5600" b="0" i="0" u="none" strike="noStrike" cap="none">
              <a:solidFill>
                <a:schemeClr val="dk1"/>
              </a:solidFill>
              <a:latin typeface="Calibri"/>
              <a:ea typeface="Calibri"/>
              <a:cs typeface="Calibri"/>
              <a:sym typeface="Calibri"/>
            </a:endParaRPr>
          </a:p>
        </p:txBody>
      </p:sp>
      <p:sp>
        <p:nvSpPr>
          <p:cNvPr id="506" name="Google Shape;506;p29"/>
          <p:cNvSpPr txBox="1"/>
          <p:nvPr/>
        </p:nvSpPr>
        <p:spPr>
          <a:xfrm>
            <a:off x="3520440" y="260604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hallucination rate</a:t>
            </a:r>
            <a:endParaRPr sz="1300" b="0" i="0" u="none" strike="noStrike" cap="none">
              <a:solidFill>
                <a:schemeClr val="dk1"/>
              </a:solidFill>
              <a:latin typeface="Calibri"/>
              <a:ea typeface="Calibri"/>
              <a:cs typeface="Calibri"/>
              <a:sym typeface="Calibri"/>
            </a:endParaRPr>
          </a:p>
        </p:txBody>
      </p:sp>
      <p:sp>
        <p:nvSpPr>
          <p:cNvPr id="507" name="Google Shape;507;p29"/>
          <p:cNvSpPr txBox="1"/>
          <p:nvPr/>
        </p:nvSpPr>
        <p:spPr>
          <a:xfrm>
            <a:off x="3520440" y="288036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no invented names</a:t>
            </a:r>
            <a:endParaRPr sz="1200" b="0" i="0" u="none" strike="noStrike" cap="none">
              <a:solidFill>
                <a:schemeClr val="dk1"/>
              </a:solidFill>
              <a:latin typeface="Calibri"/>
              <a:ea typeface="Calibri"/>
              <a:cs typeface="Calibri"/>
              <a:sym typeface="Calibri"/>
            </a:endParaRPr>
          </a:p>
        </p:txBody>
      </p:sp>
      <p:sp>
        <p:nvSpPr>
          <p:cNvPr id="508" name="Google Shape;508;p29"/>
          <p:cNvSpPr txBox="1"/>
          <p:nvPr/>
        </p:nvSpPr>
        <p:spPr>
          <a:xfrm>
            <a:off x="3520440" y="3383280"/>
            <a:ext cx="2103120" cy="685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210 sec</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per program</a:t>
            </a:r>
            <a:endParaRPr sz="1400" b="0" i="0" u="none" strike="noStrike" cap="none">
              <a:solidFill>
                <a:schemeClr val="dk1"/>
              </a:solidFill>
              <a:latin typeface="Calibri"/>
              <a:ea typeface="Calibri"/>
              <a:cs typeface="Calibri"/>
              <a:sym typeface="Calibri"/>
            </a:endParaRPr>
          </a:p>
        </p:txBody>
      </p:sp>
      <p:sp>
        <p:nvSpPr>
          <p:cNvPr id="509" name="Google Shape;509;p29"/>
          <p:cNvSpPr/>
          <p:nvPr/>
        </p:nvSpPr>
        <p:spPr>
          <a:xfrm>
            <a:off x="612648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txBox="1"/>
          <p:nvPr/>
        </p:nvSpPr>
        <p:spPr>
          <a:xfrm>
            <a:off x="635508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1" i="0" u="none" strike="noStrike" cap="none">
                <a:solidFill>
                  <a:schemeClr val="accent6"/>
                </a:solidFill>
                <a:latin typeface="Calibri"/>
                <a:ea typeface="Calibri"/>
                <a:cs typeface="Calibri"/>
                <a:sym typeface="Calibri"/>
              </a:rPr>
              <a:t>Config 3  </a:t>
            </a:r>
            <a:r>
              <a:rPr lang="en-US" sz="1400" b="1" i="0" u="none" strike="noStrike" cap="none">
                <a:solidFill>
                  <a:schemeClr val="dk1"/>
                </a:solidFill>
                <a:latin typeface="Calibri"/>
                <a:ea typeface="Calibri"/>
                <a:cs typeface="Calibri"/>
                <a:sym typeface="Calibri"/>
              </a:rPr>
              <a:t>Frontier + skills</a:t>
            </a:r>
            <a:endParaRPr sz="1400" b="0" i="0" u="none" strike="noStrike" cap="none">
              <a:solidFill>
                <a:schemeClr val="dk1"/>
              </a:solidFill>
              <a:latin typeface="Calibri"/>
              <a:ea typeface="Calibri"/>
              <a:cs typeface="Calibri"/>
              <a:sym typeface="Calibri"/>
            </a:endParaRPr>
          </a:p>
        </p:txBody>
      </p:sp>
      <p:sp>
        <p:nvSpPr>
          <p:cNvPr id="511" name="Google Shape;511;p29"/>
          <p:cNvSpPr txBox="1"/>
          <p:nvPr/>
        </p:nvSpPr>
        <p:spPr>
          <a:xfrm>
            <a:off x="6355080" y="1691640"/>
            <a:ext cx="2103120" cy="9144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accent2"/>
              </a:buClr>
              <a:buSzPts val="5600"/>
              <a:buFont typeface="Cambria"/>
              <a:buNone/>
            </a:pPr>
            <a:r>
              <a:rPr lang="en-US" sz="5600" b="1" i="0" u="none" strike="noStrike" cap="none">
                <a:solidFill>
                  <a:schemeClr val="accent2"/>
                </a:solidFill>
                <a:latin typeface="Cambria"/>
                <a:ea typeface="Cambria"/>
                <a:cs typeface="Cambria"/>
                <a:sym typeface="Cambria"/>
              </a:rPr>
              <a:t>0%</a:t>
            </a:r>
            <a:endParaRPr sz="5600" b="0" i="0" u="none" strike="noStrike" cap="none">
              <a:solidFill>
                <a:schemeClr val="dk1"/>
              </a:solidFill>
              <a:latin typeface="Calibri"/>
              <a:ea typeface="Calibri"/>
              <a:cs typeface="Calibri"/>
              <a:sym typeface="Calibri"/>
            </a:endParaRPr>
          </a:p>
        </p:txBody>
      </p:sp>
      <p:sp>
        <p:nvSpPr>
          <p:cNvPr id="512" name="Google Shape;512;p29"/>
          <p:cNvSpPr txBox="1"/>
          <p:nvPr/>
        </p:nvSpPr>
        <p:spPr>
          <a:xfrm>
            <a:off x="6355080" y="260604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hallucination rate</a:t>
            </a:r>
            <a:endParaRPr sz="1300" b="0" i="0" u="none" strike="noStrike" cap="none">
              <a:solidFill>
                <a:schemeClr val="dk1"/>
              </a:solidFill>
              <a:latin typeface="Calibri"/>
              <a:ea typeface="Calibri"/>
              <a:cs typeface="Calibri"/>
              <a:sym typeface="Calibri"/>
            </a:endParaRPr>
          </a:p>
        </p:txBody>
      </p:sp>
      <p:sp>
        <p:nvSpPr>
          <p:cNvPr id="513" name="Google Shape;513;p29"/>
          <p:cNvSpPr txBox="1"/>
          <p:nvPr/>
        </p:nvSpPr>
        <p:spPr>
          <a:xfrm>
            <a:off x="6355080" y="2880360"/>
            <a:ext cx="2103120" cy="27432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2"/>
              </a:buClr>
              <a:buSzPts val="1200"/>
              <a:buFont typeface="Calibri"/>
              <a:buNone/>
            </a:pPr>
            <a:r>
              <a:rPr lang="en-US" sz="1200" b="0" i="1" u="none" strike="noStrike" cap="none">
                <a:solidFill>
                  <a:schemeClr val="dk2"/>
                </a:solidFill>
                <a:latin typeface="Calibri"/>
                <a:ea typeface="Calibri"/>
                <a:cs typeface="Calibri"/>
                <a:sym typeface="Calibri"/>
              </a:rPr>
              <a:t>no invented names</a:t>
            </a:r>
            <a:endParaRPr sz="1200" b="0" i="0" u="none" strike="noStrike" cap="none">
              <a:solidFill>
                <a:schemeClr val="dk1"/>
              </a:solidFill>
              <a:latin typeface="Calibri"/>
              <a:ea typeface="Calibri"/>
              <a:cs typeface="Calibri"/>
              <a:sym typeface="Calibri"/>
            </a:endParaRPr>
          </a:p>
        </p:txBody>
      </p:sp>
      <p:sp>
        <p:nvSpPr>
          <p:cNvPr id="514" name="Google Shape;514;p29"/>
          <p:cNvSpPr txBox="1"/>
          <p:nvPr/>
        </p:nvSpPr>
        <p:spPr>
          <a:xfrm>
            <a:off x="6355080" y="3383280"/>
            <a:ext cx="2103120" cy="6858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61 sec</a:t>
            </a:r>
            <a:endParaRPr sz="14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per program</a:t>
            </a:r>
            <a:endParaRPr sz="1400" b="0" i="0" u="none" strike="noStrike" cap="none">
              <a:solidFill>
                <a:schemeClr val="dk1"/>
              </a:solidFill>
              <a:latin typeface="Calibri"/>
              <a:ea typeface="Calibri"/>
              <a:cs typeface="Calibri"/>
              <a:sym typeface="Calibri"/>
            </a:endParaRPr>
          </a:p>
        </p:txBody>
      </p:sp>
      <p:sp>
        <p:nvSpPr>
          <p:cNvPr id="515" name="Google Shape;515;p29"/>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Hallucination = any variable, data set or macro-parameter name not found in the source (or, for Config 3, in SASPy-retrieved metadata).</a:t>
            </a:r>
            <a:endParaRPr sz="900" b="0" i="0" u="none" strike="noStrike" cap="none">
              <a:solidFill>
                <a:schemeClr val="dk1"/>
              </a:solidFill>
              <a:latin typeface="Calibri"/>
              <a:ea typeface="Calibri"/>
              <a:cs typeface="Calibri"/>
              <a:sym typeface="Calibri"/>
            </a:endParaRPr>
          </a:p>
        </p:txBody>
      </p:sp>
      <p:sp>
        <p:nvSpPr>
          <p:cNvPr id="516" name="Google Shape;516;p29"/>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23</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0"/>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Reading the results</a:t>
            </a:r>
            <a:endParaRPr sz="3000"/>
          </a:p>
        </p:txBody>
      </p:sp>
      <p:sp>
        <p:nvSpPr>
          <p:cNvPr id="523" name="Google Shape;523;p30"/>
          <p:cNvSpPr/>
          <p:nvPr/>
        </p:nvSpPr>
        <p:spPr>
          <a:xfrm>
            <a:off x="457200" y="1188720"/>
            <a:ext cx="822960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0"/>
          <p:cNvSpPr/>
          <p:nvPr/>
        </p:nvSpPr>
        <p:spPr>
          <a:xfrm>
            <a:off x="640080" y="1353312"/>
            <a:ext cx="548640" cy="54864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5" name="Google Shape;525;p30" descr="icon"/>
          <p:cNvPicPr preferRelativeResize="0"/>
          <p:nvPr/>
        </p:nvPicPr>
        <p:blipFill rotWithShape="1">
          <a:blip r:embed="rId3">
            <a:alphaModFix/>
          </a:blip>
          <a:srcRect/>
          <a:stretch/>
        </p:blipFill>
        <p:spPr>
          <a:xfrm>
            <a:off x="760781" y="1474013"/>
            <a:ext cx="307238" cy="307238"/>
          </a:xfrm>
          <a:prstGeom prst="rect">
            <a:avLst/>
          </a:prstGeom>
          <a:noFill/>
          <a:ln>
            <a:noFill/>
          </a:ln>
        </p:spPr>
      </p:pic>
      <p:sp>
        <p:nvSpPr>
          <p:cNvPr id="526" name="Google Shape;526;p30"/>
          <p:cNvSpPr txBox="1"/>
          <p:nvPr/>
        </p:nvSpPr>
        <p:spPr>
          <a:xfrm>
            <a:off x="1371600" y="1188720"/>
            <a:ext cx="11887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Config 1</a:t>
            </a:r>
            <a:endParaRPr sz="1600" b="0" i="0" u="none" strike="noStrike" cap="none">
              <a:solidFill>
                <a:schemeClr val="dk1"/>
              </a:solidFill>
              <a:latin typeface="Calibri"/>
              <a:ea typeface="Calibri"/>
              <a:cs typeface="Calibri"/>
              <a:sym typeface="Calibri"/>
            </a:endParaRPr>
          </a:p>
        </p:txBody>
      </p:sp>
      <p:sp>
        <p:nvSpPr>
          <p:cNvPr id="527" name="Google Shape;527;p30"/>
          <p:cNvSpPr txBox="1"/>
          <p:nvPr/>
        </p:nvSpPr>
        <p:spPr>
          <a:xfrm>
            <a:off x="2560320" y="1188720"/>
            <a:ext cx="59436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Not viable on its own: invalid output and highly variable hallucination</a:t>
            </a:r>
            <a:r>
              <a:rPr lang="en-US" dirty="0">
                <a:solidFill>
                  <a:schemeClr val="dk1"/>
                </a:solidFill>
                <a:latin typeface="Calibri"/>
                <a:ea typeface="Calibri"/>
                <a:cs typeface="Calibri"/>
                <a:sym typeface="Calibri"/>
              </a:rPr>
              <a:t>. W</a:t>
            </a:r>
            <a:r>
              <a:rPr lang="en-US" sz="1400" b="0" i="0" u="none" strike="noStrike" cap="none" dirty="0">
                <a:solidFill>
                  <a:schemeClr val="dk1"/>
                </a:solidFill>
                <a:latin typeface="Calibri"/>
                <a:ea typeface="Calibri"/>
                <a:cs typeface="Calibri"/>
                <a:sym typeface="Calibri"/>
              </a:rPr>
              <a:t>ould be more viable with higher parameter model.</a:t>
            </a:r>
            <a:endParaRPr sz="1400" b="0" i="0" u="none" strike="noStrike" cap="none" dirty="0">
              <a:solidFill>
                <a:schemeClr val="dk1"/>
              </a:solidFill>
              <a:latin typeface="Calibri"/>
              <a:ea typeface="Calibri"/>
              <a:cs typeface="Calibri"/>
              <a:sym typeface="Calibri"/>
            </a:endParaRPr>
          </a:p>
        </p:txBody>
      </p:sp>
      <p:sp>
        <p:nvSpPr>
          <p:cNvPr id="528" name="Google Shape;528;p30"/>
          <p:cNvSpPr/>
          <p:nvPr/>
        </p:nvSpPr>
        <p:spPr>
          <a:xfrm>
            <a:off x="457200" y="2212848"/>
            <a:ext cx="822960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0"/>
          <p:cNvSpPr/>
          <p:nvPr/>
        </p:nvSpPr>
        <p:spPr>
          <a:xfrm>
            <a:off x="640080" y="2377440"/>
            <a:ext cx="548640" cy="54864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0" name="Google Shape;530;p30" descr="icon"/>
          <p:cNvPicPr preferRelativeResize="0"/>
          <p:nvPr/>
        </p:nvPicPr>
        <p:blipFill rotWithShape="1">
          <a:blip r:embed="rId4">
            <a:alphaModFix/>
          </a:blip>
          <a:srcRect/>
          <a:stretch/>
        </p:blipFill>
        <p:spPr>
          <a:xfrm>
            <a:off x="760781" y="2498141"/>
            <a:ext cx="307238" cy="307238"/>
          </a:xfrm>
          <a:prstGeom prst="rect">
            <a:avLst/>
          </a:prstGeom>
          <a:noFill/>
          <a:ln>
            <a:noFill/>
          </a:ln>
        </p:spPr>
      </p:pic>
      <p:sp>
        <p:nvSpPr>
          <p:cNvPr id="531" name="Google Shape;531;p30"/>
          <p:cNvSpPr txBox="1"/>
          <p:nvPr/>
        </p:nvSpPr>
        <p:spPr>
          <a:xfrm>
            <a:off x="1371600" y="2212848"/>
            <a:ext cx="11887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Config 2</a:t>
            </a:r>
            <a:endParaRPr sz="1600" b="0" i="0" u="none" strike="noStrike" cap="none">
              <a:solidFill>
                <a:schemeClr val="dk1"/>
              </a:solidFill>
              <a:latin typeface="Calibri"/>
              <a:ea typeface="Calibri"/>
              <a:cs typeface="Calibri"/>
              <a:sym typeface="Calibri"/>
            </a:endParaRPr>
          </a:p>
        </p:txBody>
      </p:sp>
      <p:sp>
        <p:nvSpPr>
          <p:cNvPr id="532" name="Google Shape;532;p30"/>
          <p:cNvSpPr txBox="1"/>
          <p:nvPr/>
        </p:nvSpPr>
        <p:spPr>
          <a:xfrm>
            <a:off x="2560320" y="2212848"/>
            <a:ext cx="59436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A practical, locally deployable option. More data or a larger Gemma-class base could narrow the remaining gap</a:t>
            </a:r>
            <a:endParaRPr sz="1400" b="0" i="0" u="none" strike="noStrike" cap="none" dirty="0">
              <a:solidFill>
                <a:schemeClr val="dk1"/>
              </a:solidFill>
              <a:latin typeface="Calibri"/>
              <a:ea typeface="Calibri"/>
              <a:cs typeface="Calibri"/>
              <a:sym typeface="Calibri"/>
            </a:endParaRPr>
          </a:p>
        </p:txBody>
      </p:sp>
      <p:sp>
        <p:nvSpPr>
          <p:cNvPr id="533" name="Google Shape;533;p30"/>
          <p:cNvSpPr/>
          <p:nvPr/>
        </p:nvSpPr>
        <p:spPr>
          <a:xfrm>
            <a:off x="457200" y="3236976"/>
            <a:ext cx="8229600" cy="868680"/>
          </a:xfrm>
          <a:prstGeom prst="roundRect">
            <a:avLst>
              <a:gd name="adj" fmla="val 8421"/>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0"/>
          <p:cNvSpPr/>
          <p:nvPr/>
        </p:nvSpPr>
        <p:spPr>
          <a:xfrm>
            <a:off x="640080" y="3401568"/>
            <a:ext cx="548640" cy="5486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5" name="Google Shape;535;p30" descr="icon"/>
          <p:cNvPicPr preferRelativeResize="0"/>
          <p:nvPr/>
        </p:nvPicPr>
        <p:blipFill rotWithShape="1">
          <a:blip r:embed="rId5">
            <a:alphaModFix/>
          </a:blip>
          <a:srcRect/>
          <a:stretch/>
        </p:blipFill>
        <p:spPr>
          <a:xfrm>
            <a:off x="760781" y="3522269"/>
            <a:ext cx="307238" cy="307238"/>
          </a:xfrm>
          <a:prstGeom prst="rect">
            <a:avLst/>
          </a:prstGeom>
          <a:noFill/>
          <a:ln>
            <a:noFill/>
          </a:ln>
        </p:spPr>
      </p:pic>
      <p:sp>
        <p:nvSpPr>
          <p:cNvPr id="536" name="Google Shape;536;p30"/>
          <p:cNvSpPr txBox="1"/>
          <p:nvPr/>
        </p:nvSpPr>
        <p:spPr>
          <a:xfrm>
            <a:off x="1371600" y="3236976"/>
            <a:ext cx="118872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Config 3</a:t>
            </a:r>
            <a:endParaRPr sz="1600" b="0" i="0" u="none" strike="noStrike" cap="none">
              <a:solidFill>
                <a:schemeClr val="dk1"/>
              </a:solidFill>
              <a:latin typeface="Calibri"/>
              <a:ea typeface="Calibri"/>
              <a:cs typeface="Calibri"/>
              <a:sym typeface="Calibri"/>
            </a:endParaRPr>
          </a:p>
        </p:txBody>
      </p:sp>
      <p:sp>
        <p:nvSpPr>
          <p:cNvPr id="537" name="Google Shape;537;p30"/>
          <p:cNvSpPr txBox="1"/>
          <p:nvPr/>
        </p:nvSpPr>
        <p:spPr>
          <a:xfrm>
            <a:off x="2560320" y="3236976"/>
            <a:ext cx="594360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Strongest headline scores, but positional-vs-keyword parameter usage averaged only 0.64</a:t>
            </a:r>
            <a:endParaRPr sz="1400" b="0" i="0" u="none" strike="noStrike" cap="none" dirty="0">
              <a:solidFill>
                <a:schemeClr val="dk1"/>
              </a:solidFill>
              <a:latin typeface="Calibri"/>
              <a:ea typeface="Calibri"/>
              <a:cs typeface="Calibri"/>
              <a:sym typeface="Calibri"/>
            </a:endParaRPr>
          </a:p>
        </p:txBody>
      </p:sp>
      <p:sp>
        <p:nvSpPr>
          <p:cNvPr id="538" name="Google Shape;538;p30"/>
          <p:cNvSpPr txBox="1"/>
          <p:nvPr/>
        </p:nvSpPr>
        <p:spPr>
          <a:xfrm>
            <a:off x="457200" y="4297680"/>
            <a:ext cx="8229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1400"/>
              <a:buFont typeface="Calibri"/>
              <a:buNone/>
            </a:pPr>
            <a:r>
              <a:rPr lang="en-US" sz="1400" b="0" i="1" u="none" strike="noStrike" cap="none">
                <a:solidFill>
                  <a:schemeClr val="accent6"/>
                </a:solidFill>
                <a:latin typeface="Calibri"/>
                <a:ea typeface="Calibri"/>
                <a:cs typeface="Calibri"/>
                <a:sym typeface="Calibri"/>
              </a:rPr>
              <a:t>Human review remains essential in every configuration</a:t>
            </a:r>
            <a:endParaRPr sz="1400" b="0" i="0" u="none" strike="noStrike" cap="none">
              <a:solidFill>
                <a:schemeClr val="dk1"/>
              </a:solidFill>
              <a:latin typeface="Calibri"/>
              <a:ea typeface="Calibri"/>
              <a:cs typeface="Calibri"/>
              <a:sym typeface="Calibri"/>
            </a:endParaRPr>
          </a:p>
        </p:txBody>
      </p:sp>
      <p:sp>
        <p:nvSpPr>
          <p:cNvPr id="539" name="Google Shape;539;p30"/>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24</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31"/>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Limitations</a:t>
            </a:r>
            <a:endParaRPr sz="3000"/>
          </a:p>
        </p:txBody>
      </p:sp>
      <p:sp>
        <p:nvSpPr>
          <p:cNvPr id="546" name="Google Shape;546;p31"/>
          <p:cNvSpPr/>
          <p:nvPr/>
        </p:nvSpPr>
        <p:spPr>
          <a:xfrm>
            <a:off x="45720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p:cNvSpPr/>
          <p:nvPr/>
        </p:nvSpPr>
        <p:spPr>
          <a:xfrm>
            <a:off x="731520" y="1417320"/>
            <a:ext cx="594360" cy="59436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48" name="Google Shape;548;p31" descr="icon"/>
          <p:cNvPicPr preferRelativeResize="0"/>
          <p:nvPr/>
        </p:nvPicPr>
        <p:blipFill rotWithShape="1">
          <a:blip r:embed="rId3">
            <a:alphaModFix/>
          </a:blip>
          <a:srcRect/>
          <a:stretch/>
        </p:blipFill>
        <p:spPr>
          <a:xfrm>
            <a:off x="862279" y="1548079"/>
            <a:ext cx="332842" cy="332842"/>
          </a:xfrm>
          <a:prstGeom prst="rect">
            <a:avLst/>
          </a:prstGeom>
          <a:noFill/>
          <a:ln>
            <a:noFill/>
          </a:ln>
        </p:spPr>
      </p:pic>
      <p:sp>
        <p:nvSpPr>
          <p:cNvPr id="549" name="Google Shape;549;p31"/>
          <p:cNvSpPr txBox="1"/>
          <p:nvPr/>
        </p:nvSpPr>
        <p:spPr>
          <a:xfrm>
            <a:off x="731520" y="2194560"/>
            <a:ext cx="21031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Synthetic by design</a:t>
            </a:r>
            <a:endParaRPr sz="1600" b="0" i="0" u="none" strike="noStrike" cap="none">
              <a:solidFill>
                <a:schemeClr val="dk1"/>
              </a:solidFill>
              <a:latin typeface="Calibri"/>
              <a:ea typeface="Calibri"/>
              <a:cs typeface="Calibri"/>
              <a:sym typeface="Calibri"/>
            </a:endParaRPr>
          </a:p>
        </p:txBody>
      </p:sp>
      <p:sp>
        <p:nvSpPr>
          <p:cNvPr id="550" name="Google Shape;550;p31"/>
          <p:cNvSpPr txBox="1"/>
          <p:nvPr/>
        </p:nvSpPr>
        <p:spPr>
          <a:xfrm>
            <a:off x="731520" y="2606040"/>
            <a:ext cx="210312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Exact automated scoring, but real code has conventions and interdependencies a synthetic set may miss</a:t>
            </a:r>
            <a:endParaRPr sz="1400" b="0" i="0" u="none" strike="noStrike" cap="none">
              <a:solidFill>
                <a:schemeClr val="dk1"/>
              </a:solidFill>
              <a:latin typeface="Calibri"/>
              <a:ea typeface="Calibri"/>
              <a:cs typeface="Calibri"/>
              <a:sym typeface="Calibri"/>
            </a:endParaRPr>
          </a:p>
        </p:txBody>
      </p:sp>
      <p:sp>
        <p:nvSpPr>
          <p:cNvPr id="551" name="Google Shape;551;p31"/>
          <p:cNvSpPr/>
          <p:nvPr/>
        </p:nvSpPr>
        <p:spPr>
          <a:xfrm>
            <a:off x="329184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p:cNvSpPr/>
          <p:nvPr/>
        </p:nvSpPr>
        <p:spPr>
          <a:xfrm>
            <a:off x="3566160" y="1417320"/>
            <a:ext cx="594360" cy="59436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3" name="Google Shape;553;p31" descr="icon"/>
          <p:cNvPicPr preferRelativeResize="0"/>
          <p:nvPr/>
        </p:nvPicPr>
        <p:blipFill rotWithShape="1">
          <a:blip r:embed="rId4">
            <a:alphaModFix/>
          </a:blip>
          <a:srcRect/>
          <a:stretch/>
        </p:blipFill>
        <p:spPr>
          <a:xfrm>
            <a:off x="3696919" y="1548079"/>
            <a:ext cx="332842" cy="332842"/>
          </a:xfrm>
          <a:prstGeom prst="rect">
            <a:avLst/>
          </a:prstGeom>
          <a:noFill/>
          <a:ln>
            <a:noFill/>
          </a:ln>
        </p:spPr>
      </p:pic>
      <p:sp>
        <p:nvSpPr>
          <p:cNvPr id="554" name="Google Shape;554;p31"/>
          <p:cNvSpPr txBox="1"/>
          <p:nvPr/>
        </p:nvSpPr>
        <p:spPr>
          <a:xfrm>
            <a:off x="3566160" y="2194560"/>
            <a:ext cx="21031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Not like-for-like</a:t>
            </a:r>
            <a:endParaRPr sz="1600" b="0" i="0" u="none" strike="noStrike" cap="none">
              <a:solidFill>
                <a:schemeClr val="dk1"/>
              </a:solidFill>
              <a:latin typeface="Calibri"/>
              <a:ea typeface="Calibri"/>
              <a:cs typeface="Calibri"/>
              <a:sym typeface="Calibri"/>
            </a:endParaRPr>
          </a:p>
        </p:txBody>
      </p:sp>
      <p:sp>
        <p:nvSpPr>
          <p:cNvPr id="555" name="Google Shape;555;p31"/>
          <p:cNvSpPr txBox="1"/>
          <p:nvPr/>
        </p:nvSpPr>
        <p:spPr>
          <a:xfrm>
            <a:off x="3566160" y="2606040"/>
            <a:ext cx="210312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dirty="0">
                <a:solidFill>
                  <a:schemeClr val="dk2"/>
                </a:solidFill>
                <a:latin typeface="Calibri"/>
                <a:ea typeface="Calibri"/>
                <a:cs typeface="Calibri"/>
                <a:sym typeface="Calibri"/>
              </a:rPr>
              <a:t>Config 3 is a practical alternative, not a controlled ablation of Configs 1 and 2.</a:t>
            </a:r>
          </a:p>
          <a:p>
            <a:pPr marL="0" marR="0" lvl="0" indent="0" algn="l" rtl="0">
              <a:spcBef>
                <a:spcPts val="0"/>
              </a:spcBef>
              <a:spcAft>
                <a:spcPts val="0"/>
              </a:spcAft>
              <a:buClr>
                <a:schemeClr val="dk2"/>
              </a:buClr>
              <a:buSzPts val="1400"/>
              <a:buFont typeface="Calibri"/>
              <a:buNone/>
            </a:pPr>
            <a:endParaRPr lang="en-US" dirty="0">
              <a:solidFill>
                <a:schemeClr val="dk2"/>
              </a:solidFill>
              <a:highlight>
                <a:srgbClr val="FFFF00"/>
              </a:highlight>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dirty="0" err="1">
                <a:solidFill>
                  <a:schemeClr val="dk2"/>
                </a:solidFill>
                <a:highlight>
                  <a:srgbClr val="FFFF00"/>
                </a:highlight>
                <a:latin typeface="Calibri"/>
                <a:ea typeface="Calibri"/>
                <a:cs typeface="Calibri"/>
                <a:sym typeface="Calibri"/>
              </a:rPr>
              <a:t>Empasize</a:t>
            </a:r>
            <a:r>
              <a:rPr lang="en-US" sz="1400" b="0" i="0" u="none" strike="noStrike" cap="none" dirty="0">
                <a:solidFill>
                  <a:schemeClr val="dk2"/>
                </a:solidFill>
                <a:highlight>
                  <a:srgbClr val="FFFF00"/>
                </a:highlight>
                <a:latin typeface="Calibri"/>
                <a:ea typeface="Calibri"/>
                <a:cs typeface="Calibri"/>
                <a:sym typeface="Calibri"/>
              </a:rPr>
              <a:t> in notes</a:t>
            </a:r>
            <a:endParaRPr sz="1400" b="0" i="0" u="none" strike="noStrike" cap="none" dirty="0">
              <a:solidFill>
                <a:schemeClr val="dk1"/>
              </a:solidFill>
              <a:highlight>
                <a:srgbClr val="FFFF00"/>
              </a:highlight>
              <a:latin typeface="Calibri"/>
              <a:ea typeface="Calibri"/>
              <a:cs typeface="Calibri"/>
              <a:sym typeface="Calibri"/>
            </a:endParaRPr>
          </a:p>
        </p:txBody>
      </p:sp>
      <p:sp>
        <p:nvSpPr>
          <p:cNvPr id="556" name="Google Shape;556;p31"/>
          <p:cNvSpPr/>
          <p:nvPr/>
        </p:nvSpPr>
        <p:spPr>
          <a:xfrm>
            <a:off x="6126480" y="1188720"/>
            <a:ext cx="2560320" cy="3017520"/>
          </a:xfrm>
          <a:prstGeom prst="roundRect">
            <a:avLst>
              <a:gd name="adj" fmla="val 285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p:cNvSpPr/>
          <p:nvPr/>
        </p:nvSpPr>
        <p:spPr>
          <a:xfrm>
            <a:off x="6400800" y="1417320"/>
            <a:ext cx="594360" cy="59436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8" name="Google Shape;558;p31" descr="icon"/>
          <p:cNvPicPr preferRelativeResize="0"/>
          <p:nvPr/>
        </p:nvPicPr>
        <p:blipFill rotWithShape="1">
          <a:blip r:embed="rId5">
            <a:alphaModFix/>
          </a:blip>
          <a:srcRect/>
          <a:stretch/>
        </p:blipFill>
        <p:spPr>
          <a:xfrm>
            <a:off x="6531559" y="1548079"/>
            <a:ext cx="332842" cy="332842"/>
          </a:xfrm>
          <a:prstGeom prst="rect">
            <a:avLst/>
          </a:prstGeom>
          <a:noFill/>
          <a:ln>
            <a:noFill/>
          </a:ln>
        </p:spPr>
      </p:pic>
      <p:sp>
        <p:nvSpPr>
          <p:cNvPr id="559" name="Google Shape;559;p31"/>
          <p:cNvSpPr txBox="1"/>
          <p:nvPr/>
        </p:nvSpPr>
        <p:spPr>
          <a:xfrm>
            <a:off x="6400800" y="2194560"/>
            <a:ext cx="21031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Names, not meaning</a:t>
            </a:r>
            <a:endParaRPr sz="1600" b="0" i="0" u="none" strike="noStrike" cap="none">
              <a:solidFill>
                <a:schemeClr val="dk1"/>
              </a:solidFill>
              <a:latin typeface="Calibri"/>
              <a:ea typeface="Calibri"/>
              <a:cs typeface="Calibri"/>
              <a:sym typeface="Calibri"/>
            </a:endParaRPr>
          </a:p>
        </p:txBody>
      </p:sp>
      <p:sp>
        <p:nvSpPr>
          <p:cNvPr id="560" name="Google Shape;560;p31"/>
          <p:cNvSpPr txBox="1"/>
          <p:nvPr/>
        </p:nvSpPr>
        <p:spPr>
          <a:xfrm>
            <a:off x="6400800" y="2606040"/>
            <a:ext cx="2103120" cy="1463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Hallucination metric catches invented names, not a real variable described wrongly</a:t>
            </a:r>
            <a:endParaRPr sz="1400" b="0" i="0" u="none" strike="noStrike" cap="none">
              <a:solidFill>
                <a:schemeClr val="dk1"/>
              </a:solidFill>
              <a:latin typeface="Calibri"/>
              <a:ea typeface="Calibri"/>
              <a:cs typeface="Calibri"/>
              <a:sym typeface="Calibri"/>
            </a:endParaRPr>
          </a:p>
        </p:txBody>
      </p:sp>
      <p:sp>
        <p:nvSpPr>
          <p:cNvPr id="561" name="Google Shape;561;p31"/>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25</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32"/>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The LoRA family keeps growing</a:t>
            </a:r>
            <a:endParaRPr sz="3000"/>
          </a:p>
        </p:txBody>
      </p:sp>
      <p:sp>
        <p:nvSpPr>
          <p:cNvPr id="568" name="Google Shape;568;p32"/>
          <p:cNvSpPr/>
          <p:nvPr/>
        </p:nvSpPr>
        <p:spPr>
          <a:xfrm>
            <a:off x="457200" y="1188720"/>
            <a:ext cx="242316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2"/>
          <p:cNvSpPr txBox="1"/>
          <p:nvPr/>
        </p:nvSpPr>
        <p:spPr>
          <a:xfrm>
            <a:off x="64008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500" b="1" i="0" u="none" strike="noStrike" cap="none">
                <a:solidFill>
                  <a:schemeClr val="accent2"/>
                </a:solidFill>
                <a:latin typeface="Calibri"/>
                <a:ea typeface="Calibri"/>
                <a:cs typeface="Calibri"/>
                <a:sym typeface="Calibri"/>
              </a:rPr>
              <a:t>Rank</a:t>
            </a:r>
            <a:endParaRPr sz="1500" b="0" i="0" u="none" strike="noStrike" cap="none">
              <a:solidFill>
                <a:schemeClr val="dk1"/>
              </a:solidFill>
              <a:latin typeface="Calibri"/>
              <a:ea typeface="Calibri"/>
              <a:cs typeface="Calibri"/>
              <a:sym typeface="Calibri"/>
            </a:endParaRPr>
          </a:p>
        </p:txBody>
      </p:sp>
      <p:sp>
        <p:nvSpPr>
          <p:cNvPr id="570" name="Google Shape;570;p32"/>
          <p:cNvSpPr txBox="1"/>
          <p:nvPr/>
        </p:nvSpPr>
        <p:spPr>
          <a:xfrm>
            <a:off x="640080" y="166420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AdaLoRA, rsLoRA, VeRA, VB-LoRA</a:t>
            </a:r>
            <a:endParaRPr sz="1300" b="0" i="0" u="none" strike="noStrike" cap="none">
              <a:solidFill>
                <a:schemeClr val="dk1"/>
              </a:solidFill>
              <a:latin typeface="Calibri"/>
              <a:ea typeface="Calibri"/>
              <a:cs typeface="Calibri"/>
              <a:sym typeface="Calibri"/>
            </a:endParaRPr>
          </a:p>
        </p:txBody>
      </p:sp>
      <p:sp>
        <p:nvSpPr>
          <p:cNvPr id="571" name="Google Shape;571;p32"/>
          <p:cNvSpPr/>
          <p:nvPr/>
        </p:nvSpPr>
        <p:spPr>
          <a:xfrm>
            <a:off x="3063240" y="1188720"/>
            <a:ext cx="242316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2"/>
          <p:cNvSpPr txBox="1"/>
          <p:nvPr/>
        </p:nvSpPr>
        <p:spPr>
          <a:xfrm>
            <a:off x="3246120" y="132588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500" b="1" i="0" u="none" strike="noStrike" cap="none">
                <a:solidFill>
                  <a:schemeClr val="accent2"/>
                </a:solidFill>
                <a:latin typeface="Calibri"/>
                <a:ea typeface="Calibri"/>
                <a:cs typeface="Calibri"/>
                <a:sym typeface="Calibri"/>
              </a:rPr>
              <a:t>Optimization dynamics</a:t>
            </a:r>
            <a:endParaRPr sz="1500" b="0" i="0" u="none" strike="noStrike" cap="none">
              <a:solidFill>
                <a:schemeClr val="dk1"/>
              </a:solidFill>
              <a:latin typeface="Calibri"/>
              <a:ea typeface="Calibri"/>
              <a:cs typeface="Calibri"/>
              <a:sym typeface="Calibri"/>
            </a:endParaRPr>
          </a:p>
        </p:txBody>
      </p:sp>
      <p:sp>
        <p:nvSpPr>
          <p:cNvPr id="573" name="Google Shape;573;p32"/>
          <p:cNvSpPr txBox="1"/>
          <p:nvPr/>
        </p:nvSpPr>
        <p:spPr>
          <a:xfrm>
            <a:off x="3246120" y="166420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LoRA+, DoRA (magnitude + direction)</a:t>
            </a:r>
            <a:endParaRPr sz="1300" b="0" i="0" u="none" strike="noStrike" cap="none">
              <a:solidFill>
                <a:schemeClr val="dk1"/>
              </a:solidFill>
              <a:latin typeface="Calibri"/>
              <a:ea typeface="Calibri"/>
              <a:cs typeface="Calibri"/>
              <a:sym typeface="Calibri"/>
            </a:endParaRPr>
          </a:p>
        </p:txBody>
      </p:sp>
      <p:sp>
        <p:nvSpPr>
          <p:cNvPr id="574" name="Google Shape;574;p32"/>
          <p:cNvSpPr/>
          <p:nvPr/>
        </p:nvSpPr>
        <p:spPr>
          <a:xfrm>
            <a:off x="457200" y="2606040"/>
            <a:ext cx="2423160" cy="1234440"/>
          </a:xfrm>
          <a:prstGeom prst="roundRect">
            <a:avLst>
              <a:gd name="adj" fmla="val 5926"/>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2"/>
          <p:cNvSpPr txBox="1"/>
          <p:nvPr/>
        </p:nvSpPr>
        <p:spPr>
          <a:xfrm>
            <a:off x="640080" y="274320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500"/>
              <a:buFont typeface="Calibri"/>
              <a:buNone/>
            </a:pPr>
            <a:r>
              <a:rPr lang="en-US" sz="1500" b="1" i="0" u="none" strike="noStrike" cap="none">
                <a:solidFill>
                  <a:schemeClr val="lt1"/>
                </a:solidFill>
                <a:latin typeface="Calibri"/>
                <a:ea typeface="Calibri"/>
                <a:cs typeface="Calibri"/>
                <a:sym typeface="Calibri"/>
              </a:rPr>
              <a:t>Initialization</a:t>
            </a:r>
            <a:endParaRPr sz="1500" b="0" i="0" u="none" strike="noStrike" cap="none">
              <a:solidFill>
                <a:schemeClr val="dk1"/>
              </a:solidFill>
              <a:latin typeface="Calibri"/>
              <a:ea typeface="Calibri"/>
              <a:cs typeface="Calibri"/>
              <a:sym typeface="Calibri"/>
            </a:endParaRPr>
          </a:p>
        </p:txBody>
      </p:sp>
      <p:sp>
        <p:nvSpPr>
          <p:cNvPr id="576" name="Google Shape;576;p32"/>
          <p:cNvSpPr txBox="1"/>
          <p:nvPr/>
        </p:nvSpPr>
        <p:spPr>
          <a:xfrm>
            <a:off x="640080" y="308152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300"/>
              <a:buFont typeface="Calibri"/>
              <a:buNone/>
            </a:pPr>
            <a:r>
              <a:rPr lang="en-US" sz="1300" b="0" i="0" u="none" strike="noStrike" cap="none">
                <a:solidFill>
                  <a:schemeClr val="lt1"/>
                </a:solidFill>
                <a:latin typeface="Calibri"/>
                <a:ea typeface="Calibri"/>
                <a:cs typeface="Calibri"/>
                <a:sym typeface="Calibri"/>
              </a:rPr>
              <a:t>PiSSA, LoftQ (quantization-aware), EVA, LoRA-GA</a:t>
            </a:r>
            <a:endParaRPr sz="1300" b="0" i="0" u="none" strike="noStrike" cap="none">
              <a:solidFill>
                <a:schemeClr val="dk1"/>
              </a:solidFill>
              <a:latin typeface="Calibri"/>
              <a:ea typeface="Calibri"/>
              <a:cs typeface="Calibri"/>
              <a:sym typeface="Calibri"/>
            </a:endParaRPr>
          </a:p>
        </p:txBody>
      </p:sp>
      <p:sp>
        <p:nvSpPr>
          <p:cNvPr id="577" name="Google Shape;577;p32"/>
          <p:cNvSpPr/>
          <p:nvPr/>
        </p:nvSpPr>
        <p:spPr>
          <a:xfrm>
            <a:off x="3063240" y="2606040"/>
            <a:ext cx="2423160" cy="1234440"/>
          </a:xfrm>
          <a:prstGeom prst="roundRect">
            <a:avLst>
              <a:gd name="adj" fmla="val 592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2"/>
          <p:cNvSpPr txBox="1"/>
          <p:nvPr/>
        </p:nvSpPr>
        <p:spPr>
          <a:xfrm>
            <a:off x="3246120" y="2743200"/>
            <a:ext cx="21031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500"/>
              <a:buFont typeface="Calibri"/>
              <a:buNone/>
            </a:pPr>
            <a:r>
              <a:rPr lang="en-US" sz="1500" b="1" i="0" u="none" strike="noStrike" cap="none">
                <a:solidFill>
                  <a:schemeClr val="accent2"/>
                </a:solidFill>
                <a:latin typeface="Calibri"/>
                <a:ea typeface="Calibri"/>
                <a:cs typeface="Calibri"/>
                <a:sym typeface="Calibri"/>
              </a:rPr>
              <a:t>Mixture of experts</a:t>
            </a:r>
            <a:endParaRPr sz="1500" b="0" i="0" u="none" strike="noStrike" cap="none">
              <a:solidFill>
                <a:schemeClr val="dk1"/>
              </a:solidFill>
              <a:latin typeface="Calibri"/>
              <a:ea typeface="Calibri"/>
              <a:cs typeface="Calibri"/>
              <a:sym typeface="Calibri"/>
            </a:endParaRPr>
          </a:p>
        </p:txBody>
      </p:sp>
      <p:sp>
        <p:nvSpPr>
          <p:cNvPr id="579" name="Google Shape;579;p32"/>
          <p:cNvSpPr txBox="1"/>
          <p:nvPr/>
        </p:nvSpPr>
        <p:spPr>
          <a:xfrm>
            <a:off x="3246120" y="3081528"/>
            <a:ext cx="210312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300"/>
              <a:buFont typeface="Calibri"/>
              <a:buNone/>
            </a:pPr>
            <a:r>
              <a:rPr lang="en-US" sz="1300" b="0" i="0" u="none" strike="noStrike" cap="none">
                <a:solidFill>
                  <a:schemeClr val="dk1"/>
                </a:solidFill>
                <a:latin typeface="Calibri"/>
                <a:ea typeface="Calibri"/>
                <a:cs typeface="Calibri"/>
                <a:sym typeface="Calibri"/>
              </a:rPr>
              <a:t>X-LoRA and LoRA-expert routing</a:t>
            </a:r>
            <a:endParaRPr sz="1300" b="0" i="0" u="none" strike="noStrike" cap="none">
              <a:solidFill>
                <a:schemeClr val="dk1"/>
              </a:solidFill>
              <a:latin typeface="Calibri"/>
              <a:ea typeface="Calibri"/>
              <a:cs typeface="Calibri"/>
              <a:sym typeface="Calibri"/>
            </a:endParaRPr>
          </a:p>
        </p:txBody>
      </p:sp>
      <p:sp>
        <p:nvSpPr>
          <p:cNvPr id="580" name="Google Shape;580;p32"/>
          <p:cNvSpPr txBox="1"/>
          <p:nvPr/>
        </p:nvSpPr>
        <p:spPr>
          <a:xfrm>
            <a:off x="5806440" y="1188720"/>
            <a:ext cx="283464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Calibri"/>
              <a:buNone/>
            </a:pPr>
            <a:r>
              <a:rPr lang="en-US" sz="1600" b="1" i="0" u="none" strike="noStrike" cap="none">
                <a:solidFill>
                  <a:schemeClr val="dk1"/>
                </a:solidFill>
                <a:latin typeface="Calibri"/>
                <a:ea typeface="Calibri"/>
                <a:cs typeface="Calibri"/>
                <a:sym typeface="Calibri"/>
              </a:rPr>
              <a:t>2026 so far</a:t>
            </a:r>
            <a:endParaRPr sz="1600" b="0" i="0" u="none" strike="noStrike" cap="none">
              <a:solidFill>
                <a:schemeClr val="dk1"/>
              </a:solidFill>
              <a:latin typeface="Calibri"/>
              <a:ea typeface="Calibri"/>
              <a:cs typeface="Calibri"/>
              <a:sym typeface="Calibri"/>
            </a:endParaRPr>
          </a:p>
        </p:txBody>
      </p:sp>
      <p:sp>
        <p:nvSpPr>
          <p:cNvPr id="581" name="Google Shape;581;p32"/>
          <p:cNvSpPr/>
          <p:nvPr/>
        </p:nvSpPr>
        <p:spPr>
          <a:xfrm>
            <a:off x="5806440" y="16916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2"/>
          <p:cNvSpPr txBox="1"/>
          <p:nvPr/>
        </p:nvSpPr>
        <p:spPr>
          <a:xfrm>
            <a:off x="5806440" y="16916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83" name="Google Shape;583;p32"/>
          <p:cNvSpPr txBox="1"/>
          <p:nvPr/>
        </p:nvSpPr>
        <p:spPr>
          <a:xfrm>
            <a:off x="6035040" y="16459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Jan  </a:t>
            </a:r>
            <a:r>
              <a:rPr lang="en-US" sz="1200" b="0" i="0" u="none" strike="noStrike" cap="none">
                <a:solidFill>
                  <a:schemeClr val="dk1"/>
                </a:solidFill>
                <a:latin typeface="Calibri"/>
                <a:ea typeface="Calibri"/>
                <a:cs typeface="Calibri"/>
                <a:sym typeface="Calibri"/>
              </a:rPr>
              <a:t>Unified study of LoRA variants: four-axis taxonomy, LoRAFactory codebase</a:t>
            </a:r>
            <a:endParaRPr sz="1200" b="0" i="0" u="none" strike="noStrike" cap="none">
              <a:solidFill>
                <a:schemeClr val="dk1"/>
              </a:solidFill>
              <a:latin typeface="Calibri"/>
              <a:ea typeface="Calibri"/>
              <a:cs typeface="Calibri"/>
              <a:sym typeface="Calibri"/>
            </a:endParaRPr>
          </a:p>
        </p:txBody>
      </p:sp>
      <p:sp>
        <p:nvSpPr>
          <p:cNvPr id="584" name="Google Shape;584;p32"/>
          <p:cNvSpPr/>
          <p:nvPr/>
        </p:nvSpPr>
        <p:spPr>
          <a:xfrm>
            <a:off x="5806440" y="23774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2"/>
          <p:cNvSpPr txBox="1"/>
          <p:nvPr/>
        </p:nvSpPr>
        <p:spPr>
          <a:xfrm>
            <a:off x="5806440" y="23774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86" name="Google Shape;586;p32"/>
          <p:cNvSpPr txBox="1"/>
          <p:nvPr/>
        </p:nvSpPr>
        <p:spPr>
          <a:xfrm>
            <a:off x="6035040" y="23317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Apr  </a:t>
            </a:r>
            <a:r>
              <a:rPr lang="en-US" sz="1200" b="0" i="0" u="none" strike="noStrike" cap="none">
                <a:solidFill>
                  <a:schemeClr val="dk1"/>
                </a:solidFill>
                <a:latin typeface="Calibri"/>
                <a:ea typeface="Calibri"/>
                <a:cs typeface="Calibri"/>
                <a:sym typeface="Calibri"/>
              </a:rPr>
              <a:t>peft v0.19: nine new methods incl. Lily, AdaMSS, LoRA-GA; non-LoRA → LoRA conversion</a:t>
            </a:r>
            <a:endParaRPr sz="1200" b="0" i="0" u="none" strike="noStrike" cap="none">
              <a:solidFill>
                <a:schemeClr val="dk1"/>
              </a:solidFill>
              <a:latin typeface="Calibri"/>
              <a:ea typeface="Calibri"/>
              <a:cs typeface="Calibri"/>
              <a:sym typeface="Calibri"/>
            </a:endParaRPr>
          </a:p>
        </p:txBody>
      </p:sp>
      <p:sp>
        <p:nvSpPr>
          <p:cNvPr id="587" name="Google Shape;587;p32"/>
          <p:cNvSpPr/>
          <p:nvPr/>
        </p:nvSpPr>
        <p:spPr>
          <a:xfrm>
            <a:off x="5806440" y="30632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2"/>
          <p:cNvSpPr txBox="1"/>
          <p:nvPr/>
        </p:nvSpPr>
        <p:spPr>
          <a:xfrm>
            <a:off x="5806440" y="30632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89" name="Google Shape;589;p32"/>
          <p:cNvSpPr txBox="1"/>
          <p:nvPr/>
        </p:nvSpPr>
        <p:spPr>
          <a:xfrm>
            <a:off x="6035040" y="30175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Jun  </a:t>
            </a:r>
            <a:r>
              <a:rPr lang="en-US" sz="1200" b="0" i="0" u="none" strike="noStrike" cap="none">
                <a:solidFill>
                  <a:schemeClr val="dk1"/>
                </a:solidFill>
                <a:latin typeface="Calibri"/>
                <a:ea typeface="Calibri"/>
                <a:cs typeface="Calibri"/>
                <a:sym typeface="Calibri"/>
              </a:rPr>
              <a:t>Hugging Face “Beyond LoRA”: OFT, BEFT, Lily beat LoRA on some tasks</a:t>
            </a:r>
            <a:endParaRPr sz="1200" b="0" i="0" u="none" strike="noStrike" cap="none">
              <a:solidFill>
                <a:schemeClr val="dk1"/>
              </a:solidFill>
              <a:latin typeface="Calibri"/>
              <a:ea typeface="Calibri"/>
              <a:cs typeface="Calibri"/>
              <a:sym typeface="Calibri"/>
            </a:endParaRPr>
          </a:p>
        </p:txBody>
      </p:sp>
      <p:sp>
        <p:nvSpPr>
          <p:cNvPr id="590" name="Google Shape;590;p32"/>
          <p:cNvSpPr/>
          <p:nvPr/>
        </p:nvSpPr>
        <p:spPr>
          <a:xfrm>
            <a:off x="5806440" y="3749040"/>
            <a:ext cx="109728" cy="10972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2"/>
          <p:cNvSpPr txBox="1"/>
          <p:nvPr/>
        </p:nvSpPr>
        <p:spPr>
          <a:xfrm>
            <a:off x="5806440" y="3749040"/>
            <a:ext cx="109728" cy="10972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592" name="Google Shape;592;p32"/>
          <p:cNvSpPr txBox="1"/>
          <p:nvPr/>
        </p:nvSpPr>
        <p:spPr>
          <a:xfrm>
            <a:off x="6035040" y="3703320"/>
            <a:ext cx="2651760" cy="6583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Jul  </a:t>
            </a:r>
            <a:r>
              <a:rPr lang="en-US" sz="1200" b="0" i="0" u="none" strike="noStrike" cap="none">
                <a:solidFill>
                  <a:schemeClr val="dk1"/>
                </a:solidFill>
                <a:latin typeface="Calibri"/>
                <a:ea typeface="Calibri"/>
                <a:cs typeface="Calibri"/>
                <a:sym typeface="Calibri"/>
              </a:rPr>
              <a:t>peft v0.20: nine more methods incl. HiRA, GLoRA</a:t>
            </a:r>
            <a:endParaRPr sz="1200" b="0" i="0" u="none" strike="noStrike" cap="none">
              <a:solidFill>
                <a:schemeClr val="dk1"/>
              </a:solidFill>
              <a:latin typeface="Calibri"/>
              <a:ea typeface="Calibri"/>
              <a:cs typeface="Calibri"/>
              <a:sym typeface="Calibri"/>
            </a:endParaRPr>
          </a:p>
        </p:txBody>
      </p:sp>
      <p:sp>
        <p:nvSpPr>
          <p:cNvPr id="593" name="Google Shape;593;p32"/>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He et al. 2026, arXiv:2601.22708; Hugging Face peft release notes v0.19.0 and v0.20.0; Hugging Face “Beyond LoRA” (June 2026)</a:t>
            </a:r>
            <a:endParaRPr sz="900" b="0" i="0" u="none" strike="noStrike" cap="none">
              <a:solidFill>
                <a:schemeClr val="dk1"/>
              </a:solidFill>
              <a:latin typeface="Calibri"/>
              <a:ea typeface="Calibri"/>
              <a:cs typeface="Calibri"/>
              <a:sym typeface="Calibri"/>
            </a:endParaRPr>
          </a:p>
        </p:txBody>
      </p:sp>
      <p:sp>
        <p:nvSpPr>
          <p:cNvPr id="594" name="Google Shape;594;p32"/>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26</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33"/>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3000"/>
              <a:buFont typeface="Cambria"/>
              <a:buNone/>
            </a:pPr>
            <a:r>
              <a:rPr lang="en-US" sz="3000" b="1">
                <a:solidFill>
                  <a:schemeClr val="dk1"/>
                </a:solidFill>
                <a:latin typeface="Cambria"/>
                <a:ea typeface="Cambria"/>
                <a:cs typeface="Cambria"/>
                <a:sym typeface="Cambria"/>
              </a:rPr>
              <a:t>Worth exploring for SAS documentation</a:t>
            </a:r>
            <a:endParaRPr sz="3000"/>
          </a:p>
        </p:txBody>
      </p:sp>
      <p:sp>
        <p:nvSpPr>
          <p:cNvPr id="601" name="Google Shape;601;p33"/>
          <p:cNvSpPr/>
          <p:nvPr/>
        </p:nvSpPr>
        <p:spPr>
          <a:xfrm>
            <a:off x="457200" y="1188720"/>
            <a:ext cx="4480560" cy="2514600"/>
          </a:xfrm>
          <a:prstGeom prst="roundRect">
            <a:avLst>
              <a:gd name="adj" fmla="val 2909"/>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3"/>
          <p:cNvSpPr txBox="1"/>
          <p:nvPr/>
        </p:nvSpPr>
        <p:spPr>
          <a:xfrm>
            <a:off x="640080" y="1325880"/>
            <a:ext cx="4114800" cy="2240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0. Sweep the learning rate first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1. DoRA: magnitude + direction</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LoraConfig(r=32, lora_alpha=64,</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           use_dora=True, ...)</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2. rsLoRA: stable at higher rank</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LoraConfig(r=64, use_rslora=True, ...)</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3. Smarter starting point</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2"/>
              </a:buClr>
              <a:buSzPts val="1200"/>
              <a:buFont typeface="Courier New"/>
              <a:buNone/>
            </a:pPr>
            <a:r>
              <a:rPr lang="en-US" sz="1200" b="0" i="0" u="none" strike="noStrike" cap="none">
                <a:solidFill>
                  <a:schemeClr val="lt2"/>
                </a:solidFill>
                <a:latin typeface="Courier New"/>
                <a:ea typeface="Courier New"/>
                <a:cs typeface="Courier New"/>
                <a:sym typeface="Courier New"/>
              </a:rPr>
              <a:t>LoraConfig(..., init_lora_weights="pissa")</a:t>
            </a:r>
            <a:endParaRPr sz="1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1"/>
              </a:buClr>
              <a:buSzPts val="1200"/>
              <a:buFont typeface="Courier New"/>
              <a:buNone/>
            </a:pPr>
            <a:r>
              <a:rPr lang="en-US" sz="1200" b="0" i="0" u="none" strike="noStrike" cap="none">
                <a:solidFill>
                  <a:schemeClr val="accent1"/>
                </a:solidFill>
                <a:latin typeface="Courier New"/>
                <a:ea typeface="Courier New"/>
                <a:cs typeface="Courier New"/>
                <a:sym typeface="Courier New"/>
              </a:rPr>
              <a:t>#    also "loftq", "eva", "olora"</a:t>
            </a:r>
            <a:endParaRPr sz="1200" b="0" i="0" u="none" strike="noStrike" cap="none">
              <a:solidFill>
                <a:schemeClr val="dk1"/>
              </a:solidFill>
              <a:latin typeface="Calibri"/>
              <a:ea typeface="Calibri"/>
              <a:cs typeface="Calibri"/>
              <a:sym typeface="Calibri"/>
            </a:endParaRPr>
          </a:p>
        </p:txBody>
      </p:sp>
      <p:sp>
        <p:nvSpPr>
          <p:cNvPr id="603" name="Google Shape;603;p33"/>
          <p:cNvSpPr/>
          <p:nvPr/>
        </p:nvSpPr>
        <p:spPr>
          <a:xfrm>
            <a:off x="5212080" y="1188720"/>
            <a:ext cx="411480" cy="41148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4" name="Google Shape;604;p33" descr="icon"/>
          <p:cNvPicPr preferRelativeResize="0"/>
          <p:nvPr/>
        </p:nvPicPr>
        <p:blipFill rotWithShape="1">
          <a:blip r:embed="rId3">
            <a:alphaModFix/>
          </a:blip>
          <a:srcRect/>
          <a:stretch/>
        </p:blipFill>
        <p:spPr>
          <a:xfrm>
            <a:off x="5302606" y="1279246"/>
            <a:ext cx="230429" cy="230429"/>
          </a:xfrm>
          <a:prstGeom prst="rect">
            <a:avLst/>
          </a:prstGeom>
          <a:noFill/>
          <a:ln>
            <a:noFill/>
          </a:ln>
        </p:spPr>
      </p:pic>
      <p:sp>
        <p:nvSpPr>
          <p:cNvPr id="605" name="Google Shape;605;p33"/>
          <p:cNvSpPr txBox="1"/>
          <p:nvPr/>
        </p:nvSpPr>
        <p:spPr>
          <a:xfrm>
            <a:off x="5760720" y="115214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Learning rate before variants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Tuned vanilla LoRA matches or beats most variants (He et al. 2026)</a:t>
            </a:r>
            <a:endParaRPr sz="1400" b="0" i="0" u="none" strike="noStrike" cap="none">
              <a:solidFill>
                <a:schemeClr val="dk1"/>
              </a:solidFill>
              <a:latin typeface="Calibri"/>
              <a:ea typeface="Calibri"/>
              <a:cs typeface="Calibri"/>
              <a:sym typeface="Calibri"/>
            </a:endParaRPr>
          </a:p>
        </p:txBody>
      </p:sp>
      <p:sp>
        <p:nvSpPr>
          <p:cNvPr id="606" name="Google Shape;606;p33"/>
          <p:cNvSpPr/>
          <p:nvPr/>
        </p:nvSpPr>
        <p:spPr>
          <a:xfrm>
            <a:off x="5212080" y="196596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7" name="Google Shape;607;p33" descr="icon"/>
          <p:cNvPicPr preferRelativeResize="0"/>
          <p:nvPr/>
        </p:nvPicPr>
        <p:blipFill rotWithShape="1">
          <a:blip r:embed="rId4">
            <a:alphaModFix/>
          </a:blip>
          <a:srcRect/>
          <a:stretch/>
        </p:blipFill>
        <p:spPr>
          <a:xfrm>
            <a:off x="5302606" y="2056486"/>
            <a:ext cx="230429" cy="230429"/>
          </a:xfrm>
          <a:prstGeom prst="rect">
            <a:avLst/>
          </a:prstGeom>
          <a:noFill/>
          <a:ln>
            <a:noFill/>
          </a:ln>
        </p:spPr>
      </p:pic>
      <p:sp>
        <p:nvSpPr>
          <p:cNvPr id="608" name="Google Shape;608;p33"/>
          <p:cNvSpPr txBox="1"/>
          <p:nvPr/>
        </p:nvSpPr>
        <p:spPr>
          <a:xfrm>
            <a:off x="5760720" y="192938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LoftQ fits our setting</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Initialization designed for quantized base models</a:t>
            </a:r>
            <a:endParaRPr sz="1400" b="0" i="0" u="none" strike="noStrike" cap="none">
              <a:solidFill>
                <a:schemeClr val="dk1"/>
              </a:solidFill>
              <a:latin typeface="Calibri"/>
              <a:ea typeface="Calibri"/>
              <a:cs typeface="Calibri"/>
              <a:sym typeface="Calibri"/>
            </a:endParaRPr>
          </a:p>
        </p:txBody>
      </p:sp>
      <p:sp>
        <p:nvSpPr>
          <p:cNvPr id="609" name="Google Shape;609;p33"/>
          <p:cNvSpPr/>
          <p:nvPr/>
        </p:nvSpPr>
        <p:spPr>
          <a:xfrm>
            <a:off x="5212080" y="274320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0" name="Google Shape;610;p33" descr="icon"/>
          <p:cNvPicPr preferRelativeResize="0"/>
          <p:nvPr/>
        </p:nvPicPr>
        <p:blipFill rotWithShape="1">
          <a:blip r:embed="rId5">
            <a:alphaModFix/>
          </a:blip>
          <a:srcRect/>
          <a:stretch/>
        </p:blipFill>
        <p:spPr>
          <a:xfrm>
            <a:off x="5302606" y="2833726"/>
            <a:ext cx="230429" cy="230429"/>
          </a:xfrm>
          <a:prstGeom prst="rect">
            <a:avLst/>
          </a:prstGeom>
          <a:noFill/>
          <a:ln>
            <a:noFill/>
          </a:ln>
        </p:spPr>
      </p:pic>
      <p:sp>
        <p:nvSpPr>
          <p:cNvPr id="611" name="Google Shape;611;p33"/>
          <p:cNvSpPr txBox="1"/>
          <p:nvPr/>
        </p:nvSpPr>
        <p:spPr>
          <a:xfrm>
            <a:off x="5760720" y="270662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Serve anywhere</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peft converts many adapters to LoRA format for vLLM</a:t>
            </a:r>
            <a:endParaRPr sz="1400" b="0" i="0" u="none" strike="noStrike" cap="none">
              <a:solidFill>
                <a:schemeClr val="dk1"/>
              </a:solidFill>
              <a:latin typeface="Calibri"/>
              <a:ea typeface="Calibri"/>
              <a:cs typeface="Calibri"/>
              <a:sym typeface="Calibri"/>
            </a:endParaRPr>
          </a:p>
        </p:txBody>
      </p:sp>
      <p:sp>
        <p:nvSpPr>
          <p:cNvPr id="612" name="Google Shape;612;p33"/>
          <p:cNvSpPr/>
          <p:nvPr/>
        </p:nvSpPr>
        <p:spPr>
          <a:xfrm>
            <a:off x="5212080" y="3520440"/>
            <a:ext cx="411480" cy="4114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3" name="Google Shape;613;p33" descr="icon"/>
          <p:cNvPicPr preferRelativeResize="0"/>
          <p:nvPr/>
        </p:nvPicPr>
        <p:blipFill rotWithShape="1">
          <a:blip r:embed="rId6">
            <a:alphaModFix/>
          </a:blip>
          <a:srcRect/>
          <a:stretch/>
        </p:blipFill>
        <p:spPr>
          <a:xfrm>
            <a:off x="5302606" y="3610966"/>
            <a:ext cx="230429" cy="230429"/>
          </a:xfrm>
          <a:prstGeom prst="rect">
            <a:avLst/>
          </a:prstGeom>
          <a:noFill/>
          <a:ln>
            <a:noFill/>
          </a:ln>
        </p:spPr>
      </p:pic>
      <p:sp>
        <p:nvSpPr>
          <p:cNvPr id="614" name="Google Shape;614;p33"/>
          <p:cNvSpPr txBox="1"/>
          <p:nvPr/>
        </p:nvSpPr>
        <p:spPr>
          <a:xfrm>
            <a:off x="5760720" y="3483864"/>
            <a:ext cx="2926080" cy="7498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Rerun the harness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200"/>
              <a:buFont typeface="Calibri"/>
              <a:buNone/>
            </a:pPr>
            <a:r>
              <a:rPr lang="en-US" sz="1200" b="0" i="0" u="none" strike="noStrike" cap="none">
                <a:solidFill>
                  <a:schemeClr val="dk2"/>
                </a:solidFill>
                <a:latin typeface="Calibri"/>
                <a:ea typeface="Calibri"/>
                <a:cs typeface="Calibri"/>
                <a:sym typeface="Calibri"/>
              </a:rPr>
              <a:t>Same 20 held-out programs: each variant is an afternoon</a:t>
            </a:r>
            <a:endParaRPr sz="1400" b="0" i="0" u="none" strike="noStrike" cap="none">
              <a:solidFill>
                <a:schemeClr val="dk1"/>
              </a:solidFill>
              <a:latin typeface="Calibri"/>
              <a:ea typeface="Calibri"/>
              <a:cs typeface="Calibri"/>
              <a:sym typeface="Calibri"/>
            </a:endParaRPr>
          </a:p>
        </p:txBody>
      </p:sp>
      <p:sp>
        <p:nvSpPr>
          <p:cNvPr id="615" name="Google Shape;615;p33"/>
          <p:cNvSpPr txBox="1"/>
          <p:nvPr/>
        </p:nvSpPr>
        <p:spPr>
          <a:xfrm>
            <a:off x="457200" y="4498848"/>
            <a:ext cx="768096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6"/>
              </a:buClr>
              <a:buSzPts val="900"/>
              <a:buFont typeface="Calibri"/>
              <a:buNone/>
            </a:pPr>
            <a:r>
              <a:rPr lang="en-US" sz="900" b="0" i="1" u="none" strike="noStrike" cap="none">
                <a:solidFill>
                  <a:schemeClr val="accent6"/>
                </a:solidFill>
                <a:latin typeface="Calibri"/>
                <a:ea typeface="Calibri"/>
                <a:cs typeface="Calibri"/>
                <a:sym typeface="Calibri"/>
              </a:rPr>
              <a:t>Parameter names from the Hugging Face peft LoraConfig API; check your installed version.</a:t>
            </a:r>
            <a:endParaRPr sz="900" b="0" i="0" u="none" strike="noStrike" cap="none">
              <a:solidFill>
                <a:schemeClr val="dk1"/>
              </a:solidFill>
              <a:latin typeface="Calibri"/>
              <a:ea typeface="Calibri"/>
              <a:cs typeface="Calibri"/>
              <a:sym typeface="Calibri"/>
            </a:endParaRPr>
          </a:p>
        </p:txBody>
      </p:sp>
      <p:sp>
        <p:nvSpPr>
          <p:cNvPr id="616" name="Google Shape;616;p33"/>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6"/>
                </a:solidFill>
                <a:latin typeface="Calibri"/>
                <a:ea typeface="Calibri"/>
                <a:cs typeface="Calibri"/>
                <a:sym typeface="Calibri"/>
              </a:rPr>
              <a:t>27</a:t>
            </a:fld>
            <a:endParaRPr sz="900" b="0" i="0" u="none" strike="noStrike" cap="none">
              <a:solidFill>
                <a:schemeClr val="accent6"/>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34"/>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3000"/>
              <a:buFont typeface="Cambria"/>
              <a:buNone/>
            </a:pPr>
            <a:r>
              <a:rPr lang="en-US" sz="3000" b="1">
                <a:solidFill>
                  <a:schemeClr val="lt1"/>
                </a:solidFill>
                <a:latin typeface="Cambria"/>
                <a:ea typeface="Cambria"/>
                <a:cs typeface="Cambria"/>
                <a:sym typeface="Cambria"/>
              </a:rPr>
              <a:t>Takeaways</a:t>
            </a:r>
            <a:endParaRPr sz="3000"/>
          </a:p>
        </p:txBody>
      </p:sp>
      <p:sp>
        <p:nvSpPr>
          <p:cNvPr id="623" name="Google Shape;623;p34"/>
          <p:cNvSpPr/>
          <p:nvPr/>
        </p:nvSpPr>
        <p:spPr>
          <a:xfrm>
            <a:off x="548640" y="11430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4"/>
          <p:cNvSpPr txBox="1"/>
          <p:nvPr/>
        </p:nvSpPr>
        <p:spPr>
          <a:xfrm>
            <a:off x="548640" y="11430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625" name="Google Shape;625;p34"/>
          <p:cNvSpPr txBox="1"/>
          <p:nvPr/>
        </p:nvSpPr>
        <p:spPr>
          <a:xfrm>
            <a:off x="1234440" y="11430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Require a source for every field; make UNKNOWN a correct answer</a:t>
            </a:r>
            <a:endParaRPr sz="1700" b="0" i="0" u="none" strike="noStrike" cap="none">
              <a:solidFill>
                <a:schemeClr val="dk1"/>
              </a:solidFill>
              <a:latin typeface="Calibri"/>
              <a:ea typeface="Calibri"/>
              <a:cs typeface="Calibri"/>
              <a:sym typeface="Calibri"/>
            </a:endParaRPr>
          </a:p>
        </p:txBody>
      </p:sp>
      <p:sp>
        <p:nvSpPr>
          <p:cNvPr id="626" name="Google Shape;626;p34"/>
          <p:cNvSpPr/>
          <p:nvPr/>
        </p:nvSpPr>
        <p:spPr>
          <a:xfrm>
            <a:off x="548640" y="18288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4"/>
          <p:cNvSpPr txBox="1"/>
          <p:nvPr/>
        </p:nvSpPr>
        <p:spPr>
          <a:xfrm>
            <a:off x="548640" y="18288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628" name="Google Shape;628;p34"/>
          <p:cNvSpPr txBox="1"/>
          <p:nvPr/>
        </p:nvSpPr>
        <p:spPr>
          <a:xfrm>
            <a:off x="1234440" y="18288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Keep SAS as the system of record: model writes JSON, SAS stores it</a:t>
            </a:r>
            <a:endParaRPr sz="1700" b="0" i="0" u="none" strike="noStrike" cap="none">
              <a:solidFill>
                <a:schemeClr val="dk1"/>
              </a:solidFill>
              <a:latin typeface="Calibri"/>
              <a:ea typeface="Calibri"/>
              <a:cs typeface="Calibri"/>
              <a:sym typeface="Calibri"/>
            </a:endParaRPr>
          </a:p>
        </p:txBody>
      </p:sp>
      <p:sp>
        <p:nvSpPr>
          <p:cNvPr id="629" name="Google Shape;629;p34"/>
          <p:cNvSpPr/>
          <p:nvPr/>
        </p:nvSpPr>
        <p:spPr>
          <a:xfrm>
            <a:off x="548640" y="25146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4"/>
          <p:cNvSpPr txBox="1"/>
          <p:nvPr/>
        </p:nvSpPr>
        <p:spPr>
          <a:xfrm>
            <a:off x="548640" y="25146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631" name="Google Shape;631;p34"/>
          <p:cNvSpPr txBox="1"/>
          <p:nvPr/>
        </p:nvSpPr>
        <p:spPr>
          <a:xfrm>
            <a:off x="1234440" y="25146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QLoRA on a small open model is a practical, air-gapped option</a:t>
            </a:r>
            <a:endParaRPr sz="1700" b="0" i="0" u="none" strike="noStrike" cap="none">
              <a:solidFill>
                <a:schemeClr val="dk1"/>
              </a:solidFill>
              <a:latin typeface="Calibri"/>
              <a:ea typeface="Calibri"/>
              <a:cs typeface="Calibri"/>
              <a:sym typeface="Calibri"/>
            </a:endParaRPr>
          </a:p>
        </p:txBody>
      </p:sp>
      <p:sp>
        <p:nvSpPr>
          <p:cNvPr id="632" name="Google Shape;632;p34"/>
          <p:cNvSpPr/>
          <p:nvPr/>
        </p:nvSpPr>
        <p:spPr>
          <a:xfrm>
            <a:off x="548640" y="32004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4"/>
          <p:cNvSpPr txBox="1"/>
          <p:nvPr/>
        </p:nvSpPr>
        <p:spPr>
          <a:xfrm>
            <a:off x="548640" y="32004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634" name="Google Shape;634;p34"/>
          <p:cNvSpPr txBox="1"/>
          <p:nvPr/>
        </p:nvSpPr>
        <p:spPr>
          <a:xfrm>
            <a:off x="1234440" y="32004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Grounding a frontier model in DICTIONARY tables gave the strongest scores</a:t>
            </a:r>
            <a:endParaRPr sz="1700" b="0" i="0" u="none" strike="noStrike" cap="none">
              <a:solidFill>
                <a:schemeClr val="dk1"/>
              </a:solidFill>
              <a:latin typeface="Calibri"/>
              <a:ea typeface="Calibri"/>
              <a:cs typeface="Calibri"/>
              <a:sym typeface="Calibri"/>
            </a:endParaRPr>
          </a:p>
        </p:txBody>
      </p:sp>
      <p:sp>
        <p:nvSpPr>
          <p:cNvPr id="635" name="Google Shape;635;p34"/>
          <p:cNvSpPr/>
          <p:nvPr/>
        </p:nvSpPr>
        <p:spPr>
          <a:xfrm>
            <a:off x="548640" y="3886200"/>
            <a:ext cx="457200" cy="457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4"/>
          <p:cNvSpPr txBox="1"/>
          <p:nvPr/>
        </p:nvSpPr>
        <p:spPr>
          <a:xfrm>
            <a:off x="548640" y="388620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1" i="0" u="none" strike="noStrike" cap="none">
                <a:solidFill>
                  <a:schemeClr val="dk1"/>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637" name="Google Shape;637;p34"/>
          <p:cNvSpPr txBox="1"/>
          <p:nvPr/>
        </p:nvSpPr>
        <p:spPr>
          <a:xfrm>
            <a:off x="1234440" y="3886200"/>
            <a:ext cx="740664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Human review stays, but starts from a draft, not a blank page</a:t>
            </a:r>
            <a:endParaRPr sz="1700" b="0" i="0" u="none" strike="noStrike" cap="none">
              <a:solidFill>
                <a:schemeClr val="dk1"/>
              </a:solidFill>
              <a:latin typeface="Calibri"/>
              <a:ea typeface="Calibri"/>
              <a:cs typeface="Calibri"/>
              <a:sym typeface="Calibri"/>
            </a:endParaRPr>
          </a:p>
        </p:txBody>
      </p:sp>
      <p:sp>
        <p:nvSpPr>
          <p:cNvPr id="638" name="Google Shape;638;p34"/>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3"/>
                </a:solidFill>
                <a:latin typeface="Calibri"/>
                <a:ea typeface="Calibri"/>
                <a:cs typeface="Calibri"/>
                <a:sym typeface="Calibri"/>
              </a:rPr>
              <a:t>28</a:t>
            </a:fld>
            <a:endParaRPr sz="900" b="0" i="0" u="none" strike="noStrike" cap="none">
              <a:solidFill>
                <a:schemeClr val="accent3"/>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35"/>
          <p:cNvSpPr txBox="1">
            <a:spLocks noGrp="1"/>
          </p:cNvSpPr>
          <p:nvPr>
            <p:ph type="title"/>
          </p:nvPr>
        </p:nvSpPr>
        <p:spPr>
          <a:xfrm>
            <a:off x="457200" y="274320"/>
            <a:ext cx="8229600" cy="6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lt1"/>
              </a:buClr>
              <a:buSzPts val="3000"/>
              <a:buFont typeface="Cambria"/>
              <a:buNone/>
            </a:pPr>
            <a:r>
              <a:rPr lang="en-US" sz="3000" b="1">
                <a:solidFill>
                  <a:schemeClr val="lt1"/>
                </a:solidFill>
                <a:latin typeface="Cambria"/>
                <a:ea typeface="Cambria"/>
                <a:cs typeface="Cambria"/>
                <a:sym typeface="Cambria"/>
              </a:rPr>
              <a:t>Questions?</a:t>
            </a:r>
            <a:endParaRPr sz="3000"/>
          </a:p>
        </p:txBody>
      </p:sp>
      <p:sp>
        <p:nvSpPr>
          <p:cNvPr id="645" name="Google Shape;645;p35"/>
          <p:cNvSpPr/>
          <p:nvPr/>
        </p:nvSpPr>
        <p:spPr>
          <a:xfrm>
            <a:off x="548640" y="137160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6" name="Google Shape;646;p35" descr="icon"/>
          <p:cNvPicPr preferRelativeResize="0"/>
          <p:nvPr/>
        </p:nvPicPr>
        <p:blipFill rotWithShape="1">
          <a:blip r:embed="rId3">
            <a:alphaModFix/>
          </a:blip>
          <a:srcRect/>
          <a:stretch/>
        </p:blipFill>
        <p:spPr>
          <a:xfrm>
            <a:off x="689458" y="1512418"/>
            <a:ext cx="358445" cy="358445"/>
          </a:xfrm>
          <a:prstGeom prst="rect">
            <a:avLst/>
          </a:prstGeom>
          <a:noFill/>
          <a:ln>
            <a:noFill/>
          </a:ln>
        </p:spPr>
      </p:pic>
      <p:sp>
        <p:nvSpPr>
          <p:cNvPr id="647" name="Google Shape;647;p35"/>
          <p:cNvSpPr txBox="1"/>
          <p:nvPr/>
        </p:nvSpPr>
        <p:spPr>
          <a:xfrm>
            <a:off x="1417320" y="1371600"/>
            <a:ext cx="68580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1"/>
              </a:buClr>
              <a:buSzPts val="1800"/>
              <a:buFont typeface="Calibri"/>
              <a:buNone/>
            </a:pPr>
            <a:r>
              <a:rPr lang="en-US" sz="1800" b="1" i="0" u="none" strike="noStrike" cap="none">
                <a:solidFill>
                  <a:schemeClr val="accent1"/>
                </a:solidFill>
                <a:latin typeface="Calibri"/>
                <a:ea typeface="Calibri"/>
                <a:cs typeface="Calibri"/>
                <a:sym typeface="Calibri"/>
              </a:rPr>
              <a:t>Full source code</a:t>
            </a:r>
            <a:endParaRPr sz="1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1"/>
              </a:buClr>
              <a:buSzPts val="1800"/>
              <a:buFont typeface="Courier New"/>
              <a:buNone/>
            </a:pPr>
            <a:r>
              <a:rPr lang="en-US" sz="1800" b="0" i="0" u="none" strike="noStrike" cap="none">
                <a:solidFill>
                  <a:schemeClr val="lt1"/>
                </a:solidFill>
                <a:latin typeface="Courier New"/>
                <a:ea typeface="Courier New"/>
                <a:cs typeface="Courier New"/>
                <a:sym typeface="Courier New"/>
              </a:rPr>
              <a:t>github.com/patrickjlong1/sas-llm-paper</a:t>
            </a:r>
            <a:endParaRPr sz="1800" b="0" i="0" u="none" strike="noStrike" cap="none">
              <a:solidFill>
                <a:schemeClr val="dk1"/>
              </a:solidFill>
              <a:latin typeface="Calibri"/>
              <a:ea typeface="Calibri"/>
              <a:cs typeface="Calibri"/>
              <a:sym typeface="Calibri"/>
            </a:endParaRPr>
          </a:p>
        </p:txBody>
      </p:sp>
      <p:sp>
        <p:nvSpPr>
          <p:cNvPr id="648" name="Google Shape;648;p35"/>
          <p:cNvSpPr/>
          <p:nvPr/>
        </p:nvSpPr>
        <p:spPr>
          <a:xfrm>
            <a:off x="548640" y="251460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9" name="Google Shape;649;p35" descr="icon"/>
          <p:cNvPicPr preferRelativeResize="0"/>
          <p:nvPr/>
        </p:nvPicPr>
        <p:blipFill rotWithShape="1">
          <a:blip r:embed="rId4">
            <a:alphaModFix/>
          </a:blip>
          <a:srcRect/>
          <a:stretch/>
        </p:blipFill>
        <p:spPr>
          <a:xfrm>
            <a:off x="689458" y="2655418"/>
            <a:ext cx="358445" cy="358445"/>
          </a:xfrm>
          <a:prstGeom prst="rect">
            <a:avLst/>
          </a:prstGeom>
          <a:noFill/>
          <a:ln>
            <a:noFill/>
          </a:ln>
        </p:spPr>
      </p:pic>
      <p:sp>
        <p:nvSpPr>
          <p:cNvPr id="650" name="Google Shape;650;p35"/>
          <p:cNvSpPr txBox="1"/>
          <p:nvPr/>
        </p:nvSpPr>
        <p:spPr>
          <a:xfrm>
            <a:off x="1417320" y="2514600"/>
            <a:ext cx="68580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Patrick Long</a:t>
            </a:r>
            <a:r>
              <a:rPr lang="en-US" sz="1600" b="0" i="0" u="none" strike="noStrike" cap="none">
                <a:solidFill>
                  <a:schemeClr val="lt1"/>
                </a:solidFill>
                <a:latin typeface="Calibri"/>
                <a:ea typeface="Calibri"/>
                <a:cs typeface="Calibri"/>
                <a:sym typeface="Calibri"/>
              </a:rPr>
              <a:t>   long.patrick@bls.gov</a:t>
            </a:r>
            <a:endParaRPr sz="16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1"/>
              </a:buClr>
              <a:buSzPts val="1600"/>
              <a:buFont typeface="Calibri"/>
              <a:buNone/>
            </a:pPr>
            <a:r>
              <a:rPr lang="en-US" sz="1600" b="1" i="0" u="none" strike="noStrike" cap="none">
                <a:solidFill>
                  <a:schemeClr val="lt1"/>
                </a:solidFill>
                <a:latin typeface="Calibri"/>
                <a:ea typeface="Calibri"/>
                <a:cs typeface="Calibri"/>
                <a:sym typeface="Calibri"/>
              </a:rPr>
              <a:t>Brandon Harris</a:t>
            </a:r>
            <a:r>
              <a:rPr lang="en-US" sz="1600" b="0" i="0" u="none" strike="noStrike" cap="none">
                <a:solidFill>
                  <a:schemeClr val="lt1"/>
                </a:solidFill>
                <a:latin typeface="Calibri"/>
                <a:ea typeface="Calibri"/>
                <a:cs typeface="Calibri"/>
                <a:sym typeface="Calibri"/>
              </a:rPr>
              <a:t>   harris.brandon@bls.gov</a:t>
            </a:r>
            <a:endParaRPr sz="1600" b="0" i="0" u="none" strike="noStrike" cap="none">
              <a:solidFill>
                <a:schemeClr val="dk1"/>
              </a:solidFill>
              <a:latin typeface="Calibri"/>
              <a:ea typeface="Calibri"/>
              <a:cs typeface="Calibri"/>
              <a:sym typeface="Calibri"/>
            </a:endParaRPr>
          </a:p>
        </p:txBody>
      </p:sp>
      <p:sp>
        <p:nvSpPr>
          <p:cNvPr id="651" name="Google Shape;651;p35"/>
          <p:cNvSpPr txBox="1"/>
          <p:nvPr/>
        </p:nvSpPr>
        <p:spPr>
          <a:xfrm>
            <a:off x="548640" y="3931920"/>
            <a:ext cx="81381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200"/>
              <a:buFont typeface="Calibri"/>
              <a:buNone/>
            </a:pPr>
            <a:r>
              <a:rPr lang="en-US" sz="1200" b="0" i="0" u="none" strike="noStrike" cap="none">
                <a:solidFill>
                  <a:schemeClr val="accent3"/>
                </a:solidFill>
                <a:latin typeface="Calibri"/>
                <a:ea typeface="Calibri"/>
                <a:cs typeface="Calibri"/>
                <a:sym typeface="Calibri"/>
              </a:rPr>
              <a:t>U.S. Bureau of Labor Statistics · Office of Employment and Unemployment Statistics</a:t>
            </a:r>
            <a:endParaRPr sz="1200" b="0" i="0" u="none" strike="noStrike" cap="none">
              <a:solidFill>
                <a:schemeClr val="dk1"/>
              </a:solidFill>
              <a:latin typeface="Calibri"/>
              <a:ea typeface="Calibri"/>
              <a:cs typeface="Calibri"/>
              <a:sym typeface="Calibri"/>
            </a:endParaRPr>
          </a:p>
        </p:txBody>
      </p:sp>
      <p:sp>
        <p:nvSpPr>
          <p:cNvPr id="652" name="Google Shape;652;p35"/>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900" b="0" i="0" u="none" strike="noStrike" cap="none">
                <a:solidFill>
                  <a:schemeClr val="accent3"/>
                </a:solidFill>
                <a:latin typeface="Calibri"/>
                <a:ea typeface="Calibri"/>
                <a:cs typeface="Calibri"/>
                <a:sym typeface="Calibri"/>
              </a:rPr>
              <a:t>29</a:t>
            </a:fld>
            <a:endParaRPr sz="900" b="0" i="0" u="none" strike="noStrike" cap="none">
              <a:solidFill>
                <a:schemeClr val="accent3"/>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Legacy Amber">
  <a:themeElements>
    <a:clrScheme name="Legacy Amber">
      <a:dk1>
        <a:srgbClr val="1B2A2F"/>
      </a:dk1>
      <a:lt1>
        <a:srgbClr val="FFFFFF"/>
      </a:lt1>
      <a:dk2>
        <a:srgbClr val="3E5A62"/>
      </a:dk2>
      <a:lt2>
        <a:srgbClr val="EEF3F2"/>
      </a:lt2>
      <a:accent1>
        <a:srgbClr val="E89B2E"/>
      </a:accent1>
      <a:accent2>
        <a:srgbClr val="2E7D7A"/>
      </a:accent2>
      <a:accent3>
        <a:srgbClr val="9AA5A8"/>
      </a:accent3>
      <a:accent4>
        <a:srgbClr val="C8553D"/>
      </a:accent4>
      <a:accent5>
        <a:srgbClr val="4E8A4C"/>
      </a:accent5>
      <a:accent6>
        <a:srgbClr val="5C6B73"/>
      </a:accent6>
      <a:hlink>
        <a:srgbClr val="2E7D7A"/>
      </a:hlink>
      <a:folHlink>
        <a:srgbClr val="5C6B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egacy Amber">
  <a:themeElements>
    <a:clrScheme name="Legacy Amber">
      <a:dk1>
        <a:srgbClr val="1B2A2F"/>
      </a:dk1>
      <a:lt1>
        <a:srgbClr val="FFFFFF"/>
      </a:lt1>
      <a:dk2>
        <a:srgbClr val="3E5A62"/>
      </a:dk2>
      <a:lt2>
        <a:srgbClr val="EEF3F2"/>
      </a:lt2>
      <a:accent1>
        <a:srgbClr val="E89B2E"/>
      </a:accent1>
      <a:accent2>
        <a:srgbClr val="2E7D7A"/>
      </a:accent2>
      <a:accent3>
        <a:srgbClr val="9AA5A8"/>
      </a:accent3>
      <a:accent4>
        <a:srgbClr val="C8553D"/>
      </a:accent4>
      <a:accent5>
        <a:srgbClr val="4E8A4C"/>
      </a:accent5>
      <a:accent6>
        <a:srgbClr val="5C6B73"/>
      </a:accent6>
      <a:hlink>
        <a:srgbClr val="2E7D7A"/>
      </a:hlink>
      <a:folHlink>
        <a:srgbClr val="5C6B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7947</Words>
  <Application>Microsoft Office PowerPoint</Application>
  <PresentationFormat>On-screen Show (16:9)</PresentationFormat>
  <Paragraphs>654</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vt:lpstr>
      <vt:lpstr>Courier New</vt:lpstr>
      <vt:lpstr>Legacy Amber</vt:lpstr>
      <vt:lpstr>Reviving Institutional Knowledge</vt:lpstr>
      <vt:lpstr>Code we run but no longer understand</vt:lpstr>
      <vt:lpstr>Roadmap</vt:lpstr>
      <vt:lpstr>Fluent is not the same as grounded (fix)</vt:lpstr>
      <vt:lpstr>Three artifacts, each with a fixed JSON schema</vt:lpstr>
      <vt:lpstr>One rule does most of the work</vt:lpstr>
      <vt:lpstr>Two ways to wire a model into SAS</vt:lpstr>
      <vt:lpstr>SAS stays the system of record (maybe just change the notes - emphasize that the orange is the largest part of pipeline and this paper)</vt:lpstr>
      <vt:lpstr>Three configurations, one schema</vt:lpstr>
      <vt:lpstr>Config 1: zero-shot, plus a guardrail</vt:lpstr>
      <vt:lpstr>Deep dive: QLoRA</vt:lpstr>
      <vt:lpstr>LoRA: freeze W, learn a low-rank update</vt:lpstr>
      <vt:lpstr>What the “Q” adds (change dark highlight)</vt:lpstr>
      <vt:lpstr>Teaching the format: the training corpus</vt:lpstr>
      <vt:lpstr>Hyperparameters</vt:lpstr>
      <vt:lpstr>The fine-tune in a dozen lines</vt:lpstr>
      <vt:lpstr>Fine-tuning teaches shape, not knowledge</vt:lpstr>
      <vt:lpstr>Practical lessons</vt:lpstr>
      <vt:lpstr>Config 3: a frontier model, grounded</vt:lpstr>
      <vt:lpstr>DICTIONARY tables, not PROC CONTENTS</vt:lpstr>
      <vt:lpstr>Evaluation: 20 held-out synthetic programs</vt:lpstr>
      <vt:lpstr>Fine-tuning closes most of the gap</vt:lpstr>
      <vt:lpstr>The metric that decides: hallucination</vt:lpstr>
      <vt:lpstr>Reading the results</vt:lpstr>
      <vt:lpstr>Limitations</vt:lpstr>
      <vt:lpstr>The LoRA family keeps growing</vt:lpstr>
      <vt:lpstr>Worth exploring for SAS documentation</vt:lpstr>
      <vt:lpstr>Takeaways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Long, Patrick - BLS</dc:creator>
  <cp:lastModifiedBy>Long, Patrick - BLS</cp:lastModifiedBy>
  <cp:revision>2</cp:revision>
  <dcterms:modified xsi:type="dcterms:W3CDTF">2026-10-20T20:29:14Z</dcterms:modified>
</cp:coreProperties>
</file>