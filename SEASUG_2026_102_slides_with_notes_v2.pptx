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32"/>
  </p:notes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177DDE-F969-50E9-E727-ECF1689051A7}" v="22" dt="2026-10-21T14:12:25.519"/>
    <p1510:client id="{8352FF76-1B56-413B-AFC1-32423891A3E1}" v="1" dt="2026-10-20T13:35:34.842"/>
  </p1510:revLst>
</p1510:revInfo>
</file>

<file path=ppt/tableStyles.xml><?xml version="1.0" encoding="utf-8"?>
<a:tblStyleLst xmlns:a="http://schemas.openxmlformats.org/drawingml/2006/main" def="{E3FAFB85-15B4-4D02-8765-A39C6FE7A2AA}">
  <a:tblStyle styleId="{E3FAFB85-15B4-4D02-8765-A39C6FE7A2A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1186" y="29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22BA5F9F-BA7C-47F1-A65B-F2B2865A01E8}" type="datetimeFigureOut">
              <a:t>10/21/2026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BBF093E5-CF79-42BC-A47F-E86F1ABD5C67}" type="slidenum">
              <a:t>‹#›</a:t>
            </a:fld>
            <a:endParaRPr lang="en-US"/>
          </a:p>
        </p:txBody>
      </p:sp>
    </p:spTree>
    <p:extLst>
      <p:ext uri="{BB962C8B-B14F-4D97-AF65-F5344CB8AC3E}">
        <p14:creationId xmlns:p14="http://schemas.microsoft.com/office/powerpoint/2010/main" val="3581694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
        <p:cNvGrpSpPr/>
        <p:nvPr/>
      </p:nvGrpSpPr>
      <p:grpSpPr>
        <a:xfrm>
          <a:off x="0" y="0"/>
          <a:ext cx="0" cy="0"/>
          <a:chOff x="0" y="0"/>
          <a:chExt cx="0" cy="0"/>
        </a:xfrm>
      </p:grpSpPr>
      <p:sp>
        <p:nvSpPr>
          <p:cNvPr id="27" name="Google Shape;2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 name="Google Shape;2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 min · 0:00–1:00] Good afternoon, everyone. I'm Patrick Long, and my co-author is Brandon Harris. We're both in the Office of Employment and Unemployment Statistics at the Bureau of Labor Statistics, and today we're talking about a problem I suspect a lot of you have in your own shops: production SAS code that still runs perfectly, but that nobody fully understands anymore.</a:t>
            </a:r>
          </a:p>
          <a:p>
            <a:endParaRPr/>
          </a:p>
          <a:p>
            <a:r>
              <a:t>The title is "Reviving Institutional Knowledge," and the subtitle says what we actually did. We used large language models, or LLMs, the technology behind tools like ChatGPT and Claude, to generate documentation for legacy SAS production code. Not to rewrite it, not to migrate it, just to explain it, in a form that a human can check.</a:t>
            </a:r>
          </a:p>
          <a:p>
            <a:endParaRPr/>
          </a:p>
          <a:p>
            <a:r>
              <a:t>Over the next forty minutes I'll show you three ways to do that, from a small model running on a CPU to a frontier model with tools. I'll show you how they did on a test set we built, and I'll be honest about where each one falls short.</a:t>
            </a:r>
          </a:p>
        </p:txBody>
      </p:sp>
      <p:sp>
        <p:nvSpPr>
          <p:cNvPr id="29" name="Google Shape;29;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 name="Google Shape;38;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[1.5 min · 1:00–2:30] Let me start with the problem. Show of hands: how many of you maintain a SAS program that's older than your tenure on the team? [Pause.] Yeah. That's most of the room.</a:t>
            </a:r>
          </a:p>
          <a:p>
            <a:endParaRPr/>
          </a:p>
          <a:p>
            <a:r>
              <a:t>Here's what that looks like in practice. First, macro variables. You find a %LET at the top of a program, and the only way to figure out what it does is to trace where it ends up and work backwards. The purpose is inferable only from its downstream effect.</a:t>
            </a:r>
          </a:p>
          <a:p>
            <a:endParaRPr/>
          </a:p>
          <a:p>
            <a:r>
              <a:t>Second, names and lineage. You have a data set called EMPL, a variable called EM, and an intermediate table called underscore-t2. Somebody knew exactly what those meant in 2006. Today, that knowledge lives as folklore. You ask the person two desks over, and they say, "I think Linda set that up."</a:t>
            </a:r>
          </a:p>
          <a:p>
            <a:endParaRPr/>
          </a:p>
          <a:p>
            <a:r>
              <a:t>Third, and this is the one that keeps managers up at night: the last expert retires. At that point, the code becomes something we operate, not something we understand.</a:t>
            </a:r>
          </a:p>
          <a:p>
            <a:endParaRPr/>
          </a:p>
          <a:p>
            <a:r>
              <a:t>And the irony is on the right side of the slide. Twenty years of monthly production runs. The macros still work. The output still validates. Nothing is broken, which is exactly why nobody ever had a reason to document it.</a:t>
            </a:r>
          </a:p>
          <a:p>
            <a:endParaRPr/>
          </a:p>
          <a:p>
            <a:r>
              <a:t>So here's what we did about it.</a:t>
            </a:r>
          </a:p>
        </p:txBody>
      </p:sp>
      <p:sp>
        <p:nvSpPr>
          <p:cNvPr id="39" name="Google Shape;39;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 name="Google Shape;8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 min · 2:30–3:30] Here's where we're going. First, what we mean by "documentation," because we had to pin that down before we could measure anything. Second, the architecture, and how we kept SAS as the system of record. Third, the three model configurations we tested, with a deep dive on QLoRA fine-tuning. That's highlighted because it's where we'll spend the most time. Fourth, how we evaluated them and what we found. And fifth, a quick look at where the fine-tuning research is heading and what's worth trying next.</a:t>
            </a:r>
          </a:p>
          <a:p>
            <a:endParaRPr/>
          </a:p>
          <a:p>
            <a:r>
              <a:t>But before any of that, one idea frames the whole talk.</a:t>
            </a:r>
          </a:p>
        </p:txBody>
      </p:sp>
      <p:sp>
        <p:nvSpPr>
          <p:cNvPr id="82" name="Google Shape;8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 name="Google Shape;6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[1.5 min · 3:30–5:00] The obvious idea is: point an LLM at the code and ask it to explain. A quick definition, since I'll use the term a lot: an LLM, a large language model, is a program trained on huge amounts of text, including code, to predict and generate text. It doesn't look things up; it writes what sounds most likely.</a:t>
            </a:r>
          </a:p>
          <a:p>
            <a:endParaRPr/>
          </a:p>
          <a:p>
            <a:r>
              <a:t>So ask it about a SAS program and it'll give you something like the box on the left. "EMPL: Total employment level, seasonally adjusted, used as the denominator for rates."</a:t>
            </a:r>
          </a:p>
          <a:p>
            <a:endParaRPr/>
          </a:p>
          <a:p>
            <a:r>
              <a:t>Notice we've colored that amber, not red. It's not wrong to want this. It reads well, it's quick, and it may even be right. That's useful. But there's no line number, no derivation, no source. Nobody can check it. Useful, but not all we want.</a:t>
            </a:r>
          </a:p>
          <a:p>
            <a:endParaRPr/>
          </a:p>
          <a:p>
            <a:r>
              <a:t>Now the box on the right. "EMPL: Num 8. Derivation: the sum of e1, e2, e3, divided by three. Source: est.sas, line 142. Label: UNKNOWN." Less pleasant to read. But every claim points somewhere you can go look, and where the model didn't know, it said so.</a:t>
            </a:r>
          </a:p>
          <a:p>
            <a:endParaRPr/>
          </a:p>
          <a:p>
            <a:r>
              <a:t>That's the whole paper in one slide. For a statistical agency, the metric that matters isn't how good the documentation sounds. It's the rate of confident, unsupported claims. A fluent wrong answer is worse than no answer, because someone will believe it.</a:t>
            </a:r>
          </a:p>
        </p:txBody>
      </p:sp>
      <p:sp>
        <p:nvSpPr>
          <p:cNvPr id="61" name="Google Shape;6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 name="Google Shape;10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[2 min · 5:00–7:00] "Document the code" is too vague to evaluate. So we broke it into three concrete artifacts, and each one has a fixed JSON schema.</a:t>
            </a:r>
          </a:p>
          <a:p>
            <a:endParaRPr/>
          </a:p>
          <a:p>
            <a:r>
              <a:t>The first is a variable dictionary. For every variable: name, type, length, format, label, how it's derived, what values are valid, and where in the source we found it. If you've ever filled out a data dictionary template for a data release, this is that, generated from the code.</a:t>
            </a:r>
          </a:p>
          <a:p>
            <a:endParaRPr/>
          </a:p>
          <a:p>
            <a:r>
              <a:t>The second is a macro parameter reference. For every macro: its positional and keyword parameters, their defaults, and which programs call it. This is the one people ask for most often, because macros are where the undocumented logic tends to hide.</a:t>
            </a:r>
          </a:p>
          <a:p>
            <a:endParaRPr/>
          </a:p>
          <a:p>
            <a:r>
              <a:t>The third is a program summary. What does this program do, what does it read, and what does it write.</a:t>
            </a:r>
          </a:p>
          <a:p>
            <a:endParaRPr/>
          </a:p>
          <a:p>
            <a:r>
              <a:t>The note at the bottom matters for the evaluation later. All three configurations we tested produce exactly the same schema. So when we compare them, the differences come from the model and how it's grounded, not from one of them being asked an easier question.</a:t>
            </a:r>
          </a:p>
          <a:p>
            <a:endParaRPr/>
          </a:p>
          <a:p>
            <a:r>
              <a:t>And a practical point: because the output is JSON with a fixed shape, it's machine-checkable. You can validate it, load it into a data set, diff it month over month. A paragraph of prose can't do any of that.</a:t>
            </a:r>
          </a:p>
        </p:txBody>
      </p:sp>
      <p:sp>
        <p:nvSpPr>
          <p:cNvPr id="105" name="Google Shape;10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 name="Google Shape;127;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[2 min · 7:00–9:00] If you remember one thing from this talk, make it this slide. Every field carries a required source. If the model has no defensible source for a field, it must write UNKNOWN.</a:t>
            </a:r>
          </a:p>
          <a:p>
            <a:endParaRPr/>
          </a:p>
          <a:p>
            <a:r>
              <a:t>Look at the example on the left. Variable EM, numeric, length 8. Derivation: EM equals the sum of e1 through e3. Source: est.sas, line 142. And then label: UNKNOWN. Valid values: UNKNOWN. The code never assigns a label, and nothing in the program constrains the values, so the honest answer is that we don't know.</a:t>
            </a:r>
          </a:p>
          <a:p>
            <a:endParaRPr/>
          </a:p>
          <a:p>
            <a:r>
              <a:t>That one rule buys you three things.</a:t>
            </a:r>
          </a:p>
          <a:p>
            <a:endParaRPr/>
          </a:p>
          <a:p>
            <a:r>
              <a:t>First, it's detectable. Guessing becomes visible. If a field has content but no source, or a source that doesn't contain what's claimed, a script can flag it.</a:t>
            </a:r>
          </a:p>
          <a:p>
            <a:endParaRPr/>
          </a:p>
          <a:p>
            <a:r>
              <a:t>Second, it's reviewable. A reviewer doesn't have to read the whole dictionary with suspicion. They get a short list of UNKNOWNs, which is exactly where a human with institutional memory should spend their time.</a:t>
            </a:r>
          </a:p>
          <a:p>
            <a:endParaRPr/>
          </a:p>
          <a:p>
            <a:r>
              <a:t>Third, it's honest. In our scoring, UNKNOWN is a correct answer. A confident guess is an error. That flips the incentive that makes language models dangerous for this kind of work: by default, they're rewarded for always having something to say.</a:t>
            </a:r>
          </a:p>
        </p:txBody>
      </p:sp>
      <p:sp>
        <p:nvSpPr>
          <p:cNvPr id="128" name="Google Shape;128;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6" name="Google Shape;14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[2 min · 9:00–11:00] Once you know what you want out, the next question is plumbing. How does a model, which lives in the Python world, talk to SAS? There are two main options.</a:t>
            </a:r>
          </a:p>
          <a:p>
            <a:endParaRPr/>
          </a:p>
          <a:p>
            <a:r>
              <a:t>On the left is PROC PYTHON. SAS is in control. Your SAS program submits Python code, that Python calls the model, and the response comes back into your DATA step. It's elegant if you want this to look like any other step in a SAS job. The catch is that on SAS 9.4 it requires maintenance release 9 or later, and many of us are not on M9 yet, or can't count on every environment being on it.</a:t>
            </a:r>
          </a:p>
          <a:p>
            <a:endParaRPr/>
          </a:p>
          <a:p>
            <a:r>
              <a:t>On the right is SASPy, which is what we chose. Here Python is in control. A Python orchestrator opens a SAS session, submits code, pulls results back, and writes SAS data sets directly. It works with whatever SAS engine you already have. No M9 requirement, which for us meant the pipeline is more reproducible: anyone in the room can run it, including on SAS OnDemand for Academics.</a:t>
            </a:r>
          </a:p>
          <a:p>
            <a:endParaRPr/>
          </a:p>
          <a:p>
            <a:r>
              <a:t>I want to be clear that this is a deployment choice, not a judgment. If your shop is on M9 and you want everything inside a SAS job, PROC PYTHON is a perfectly good route, and the rest of the design carries over.</a:t>
            </a:r>
          </a:p>
        </p:txBody>
      </p:sp>
      <p:sp>
        <p:nvSpPr>
          <p:cNvPr id="147" name="Google Shape;147;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[2 min · 11:00–13:00] Here's the full pipeline, left to right. Python orchestrates, but SAS stays the system of record.</a:t>
            </a:r>
          </a:p>
          <a:p>
            <a:endParaRPr/>
          </a:p>
          <a:p>
            <a:r>
              <a:t>We start with the legacy .sas source plus whatever metadata SAS can tell us. The SASPy orchestrator gathers that up and hands it to the model. Then human review at the end, which is never optional.</a:t>
            </a:r>
          </a:p>
          <a:p>
            <a:endParaRPr/>
          </a:p>
          <a:p>
            <a:r>
              <a:t>But look at the orange box in the middle: the model fills in the JSON schema. That box is the hardest part of the pipeline and the subject of almost the entire rest of this paper. Everything around it is plumbing you mostly already know: reading files, writing data sets. The open question is what goes inside the orange box, and whether you can trust what comes out of it.</a:t>
            </a:r>
          </a:p>
          <a:p>
            <a:endParaRPr/>
          </a:p>
          <a:p>
            <a:r>
              <a:t>The governance point: the model never writes to production and never changes your code. It produces a draft that lands in SAS, where your existing controls and reviewers already live.</a:t>
            </a:r>
          </a:p>
          <a:p>
            <a:endParaRPr/>
          </a:p>
          <a:p>
            <a:r>
              <a:t>Everything today runs in Google Colab against SAS OnDemand for Academics, so anyone can reproduce it without a site license; the full source is on GitHub.</a:t>
            </a:r>
          </a:p>
          <a:p>
            <a:endParaRPr/>
          </a:p>
          <a:p>
            <a:r>
              <a:t>So what should go in that orange box? We tried three different answers.</a:t>
            </a:r>
          </a:p>
        </p:txBody>
      </p:sp>
      <p:sp>
        <p:nvSpPr>
          <p:cNvPr id="166" name="Google Shape;166;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 name="Google Shape;197;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[2 min · 13:00–15:00] Here are the three answers, set up like an experiment.</a:t>
            </a:r>
          </a:p>
          <a:p>
            <a:endParaRPr/>
          </a:p>
          <a:p>
            <a:r>
              <a:t>Config 1 is the control case. It's what most analysts could improvise today: a small open model, Gemma 4 E2B. "E2B" means about 2 billion effective parameters, roughly 2.3 billion. Parameters are the numbers inside the model that it learned during training; more parameters generally means more capable, and more memory. We ask it zero-shot, meaning with no examples, and it runs on a CPU only.</a:t>
            </a:r>
          </a:p>
          <a:p>
            <a:endParaRPr/>
          </a:p>
          <a:p>
            <a:r>
              <a:t>Quick aside, because someone always asks: CPU versus GPU. A CPU is your computer's general-purpose processor: a few very smart workers doing tasks one after another. A GPU, a graphics card, is thousands of simpler workers doing the same small math in parallel. LLMs are almost all that kind of math, so GPUs make them dramatically faster, and training basically requires one.</a:t>
            </a:r>
          </a:p>
          <a:p>
            <a:endParaRPr/>
          </a:p>
          <a:p>
            <a:r>
              <a:t>Config 2 is the experiment. Same small Gemma model, plus fine-tuned add-ons called adapters. Note the compute line: we need a GPU only temporarily, to train. Once trained, the model runs without one.</a:t>
            </a:r>
          </a:p>
          <a:p>
            <a:endParaRPr/>
          </a:p>
          <a:p>
            <a:r>
              <a:t>Config 3 is the benchmark: a frontier model, Claude Opus 5, which is many times larger and runs on the provider's hardware through a subscription. It also works differently: it's agentic, meaning it calls tools to look up real SAS metadata before it writes. So Config 2 versus Config 3 is a small local model versus a large hosted system with tools, not just small versus big.</a:t>
            </a:r>
          </a:p>
          <a:p>
            <a:endParaRPr/>
          </a:p>
          <a:p>
            <a:r>
              <a:t>Configs 1 and 2 can run air-gapped; nothing leaves the building. Config 3 sends your code to an outside provider, which is a decision for your security and disclosure people.</a:t>
            </a:r>
          </a:p>
        </p:txBody>
      </p:sp>
      <p:sp>
        <p:nvSpPr>
          <p:cNvPr id="198" name="Google Shape;198;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 min · 15:00–16:00] Config 1 is as simple as it gets. We give the model the program text and the target schema, it runs on CPU, and it produces a draft JSON. No tools, no examples, no retrieval.</a:t>
            </a:r>
          </a:p>
          <a:p>
            <a:endParaRPr/>
          </a:p>
          <a:p>
            <a:r>
              <a:t>The one thing we added is guardrail.py, a static scan. It takes every variable name, data set name, and macro parameter name the model emitted, and checks whether it actually appears in the source. Anything it can't find gets flagged.</a:t>
            </a:r>
          </a:p>
          <a:p>
            <a:endParaRPr/>
          </a:p>
          <a:p>
            <a:r>
              <a:t>That's cheap and useful, but notice what it can't do. It can catch an invented name. It can't catch a real variable described wrongly. Hold that thought; it comes back in the limitations.</a:t>
            </a:r>
          </a:p>
          <a:p>
            <a:endParaRPr/>
          </a:p>
          <a:p>
            <a:r>
              <a:t>You could keep adding rules to the guardrail, but you hit diminishing returns fast. If you have access to a GPU, you get more for less effort by fine-tuning.</a:t>
            </a:r>
          </a:p>
        </p:txBody>
      </p:sp>
      <p:sp>
        <p:nvSpPr>
          <p:cNvPr id="224" name="Google Shape;224;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[0.5 min · 16:00–16:30] [Section divider. Pause, take a sip of water.]</a:t>
            </a:r>
          </a:p>
          <a:p>
            <a:endParaRPr/>
          </a:p>
          <a:p>
            <a:r>
              <a:t>Now the part we spent the most time on: fine-tuning a small open model on a single GPU. I'm going to go a bit deeper here than a typical SAS talk, because if you want to try this yourself, these are the details that matter.</a:t>
            </a:r>
          </a:p>
        </p:txBody>
      </p:sp>
      <p:sp>
        <p:nvSpPr>
          <p:cNvPr id="253" name="Google Shape;253;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[2.5 min · 16:30–19:00] Start with plain LoRA, low-rank adaptation, from Hu and colleagues in 2021.</a:t>
            </a:r>
          </a:p>
          <a:p>
            <a:endParaRPr/>
          </a:p>
          <a:p>
            <a:r>
              <a:t>The key idea: we never retrain the original model. Its weights, W on the slide, are frozen. They stay exactly the same size and exactly the same values. Instead, we bolt on a small add-on and train only that.</a:t>
            </a:r>
          </a:p>
          <a:p>
            <a:endParaRPr/>
          </a:p>
          <a:p>
            <a:r>
              <a:t>The add-on is two thin matrices, A and B. Think of A as compressing: it squeezes the input down to a handful of numbers, r of them, the "rank." B expands those few numbers back up to the full size. Multiply them together, B times A, and you get a low-rank update: a small correction added on top of what the frozen model already computes. Alpha over r is a volume knob on that correction.</a:t>
            </a:r>
          </a:p>
          <a:p>
            <a:endParaRPr/>
          </a:p>
          <a:p>
            <a:r>
              <a:t>B starts at zero, so on day one the add-on does nothing and the model is exactly the original. Training nudges it from there.</a:t>
            </a:r>
          </a:p>
          <a:p>
            <a:endParaRPr/>
          </a:p>
          <a:p>
            <a:r>
              <a:t>An analogy: think of the base model as a Mario Kart kart. It already drives. Full fine-tuning is rebuilding the kart from scratch. LoRA is leaving the engine and chassis alone and adding a small handling kit tuned for one track. The kart is the same; it just holds the line better on this course.</a:t>
            </a:r>
          </a:p>
          <a:p>
            <a:endParaRPr/>
          </a:p>
          <a:p>
            <a:r>
              <a:t>For us, that's how the adapters steer the model toward our JSON format and toward writing UNKNOWN instead of guessing. That can reduce errors like invented names, but it doesn't guarantee they disappear, which is why we still measure.</a:t>
            </a:r>
          </a:p>
          <a:p>
            <a:endParaRPr/>
          </a:p>
          <a:p>
            <a:r>
              <a:t>The numbers on the right: for one 2048 by 2048 layer, a full update is about 4.2 million parameters. LoRA at rank 32 is about 131 thousand, around 3 percent.</a:t>
            </a:r>
          </a:p>
        </p:txBody>
      </p:sp>
      <p:sp>
        <p:nvSpPr>
          <p:cNvPr id="263" name="Google Shape;263;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[1.5 min · 19:00–20:30] QLoRA, from Dettmers and colleagues in 2023, is LoRA plus compression. Same idea as before: the original weights stay frozen, and the only things we train are the small adapter matrices. The Q just shrinks the frozen part so it fits in less memory.</a:t>
            </a:r>
          </a:p>
          <a:p>
            <a:endParaRPr/>
          </a:p>
          <a:p>
            <a:r>
              <a:t>That memory is VRAM: the memory on the graphics card itself. The whole model has to fit in VRAM to run fast, and it's usually the bottleneck. Normally each parameter takes 16 bits, 2 bytes. QLoRA stores the frozen model in 4 bits, about a quarter of the space. As a rough guide, a model with about 5 billion stored parameters goes from around 10 gigabytes to around 2 and a half.</a:t>
            </a:r>
          </a:p>
          <a:p>
            <a:endParaRPr/>
          </a:p>
          <a:p>
            <a:r>
              <a:t>Three tricks make that work. NF4 places its 16 possible values where model weights actually cluster, so less is lost in compression. Double quantization compresses the bookkeeping numbers too. And paged optimizers spill to regular memory during spikes instead of crashing.</a:t>
            </a:r>
          </a:p>
          <a:p>
            <a:endParaRPr/>
          </a:p>
          <a:p>
            <a:r>
              <a:t>The bottom line: store in 4-bit, compute in 16-bit. In the original paper, that was enough to fine-tune a 65-billion-parameter model on one 48-gigabyte GPU. For our small model, one GPU is plenty.</a:t>
            </a:r>
          </a:p>
        </p:txBody>
      </p:sp>
      <p:sp>
        <p:nvSpPr>
          <p:cNvPr id="289" name="Google Shape;289;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3" name="Google Shape;313;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[1.5 min · 20:30–22:00] Fine-tuning needs examples, and this is where most of the human effort went.</a:t>
            </a:r>
          </a:p>
          <a:p>
            <a:endParaRPr/>
          </a:p>
          <a:p>
            <a:r>
              <a:t>We wrote 20 deliberately poorly written, production-style SAS programs. Cryptic names, no headers, hardcoded paths, the full catalog of sins. For each one, we hand-wrote the data dictionary that should come out of it.</a:t>
            </a:r>
          </a:p>
          <a:p>
            <a:endParaRPr/>
          </a:p>
          <a:p>
            <a:r>
              <a:t>Then we chunked them into about 580 input-output pairs. Each pair is a slice of SAS code and the schema-valid JSON it should become, complete with sources and UNKNOWNs. That's important: the UNKNOWNs are in the training data. We're teaching the model that "I don't know" is an acceptable answer.</a:t>
            </a:r>
          </a:p>
          <a:p>
            <a:endParaRPr/>
          </a:p>
          <a:p>
            <a:r>
              <a:t>And on the right: the 20 programs we evaluate on are held out. The model never saw them in training. Any score you see later is on unseen code.</a:t>
            </a:r>
          </a:p>
        </p:txBody>
      </p:sp>
      <p:sp>
        <p:nvSpPr>
          <p:cNvPr id="314" name="Google Shape;314;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7" name="Google Shape;337;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[2 min · 22:00–24:00] This is Table 1 in the paper. The arrows show where we started and where we ended. Let me translate each one into plain English.</a:t>
            </a:r>
          </a:p>
          <a:p>
            <a:endParaRPr/>
          </a:p>
          <a:p>
            <a:r>
              <a:t>Rank went from 16 to 32: the add-on got bigger, so it could learn more. Alpha went from 32 to 64: that's the volume knob on the add-on's correction. We kept alpha at twice the rank so the strength stayed steady as capacity grew.</a:t>
            </a:r>
          </a:p>
          <a:p>
            <a:endParaRPr/>
          </a:p>
          <a:p>
            <a:r>
              <a:t>Learning rate, 2e-4, is how big a step the model takes each time it corrects a mistake. Cosine decay means the steps start bigger and shrink smoothly toward the end, like slowing down as you park.</a:t>
            </a:r>
          </a:p>
          <a:p>
            <a:endParaRPr/>
          </a:p>
          <a:p>
            <a:r>
              <a:t>An epoch is one full pass through all 580 training examples. We went from three passes to two. More passes can help, but too many leads to overfitting: the model memorizes the training examples and does worse on code it hasn't seen, like a student who memorized the practice test.</a:t>
            </a:r>
          </a:p>
          <a:p>
            <a:endParaRPr/>
          </a:p>
          <a:p>
            <a:r>
              <a:t>Batch size is how many examples the model studies before it adjusts. We dropped from 4 to 1 to save memory, but accumulated 8 examples before each update, so it learns as if the batch were 8.</a:t>
            </a:r>
          </a:p>
          <a:p>
            <a:endParaRPr/>
          </a:p>
          <a:p>
            <a:r>
              <a:t>Training time was about an hour and a half on one A100 data-center GPU. That's training. Runtime, or inference, is different: that's how long the finished model takes to document one program, which we'll see on the results slide.</a:t>
            </a:r>
          </a:p>
        </p:txBody>
      </p:sp>
      <p:sp>
        <p:nvSpPr>
          <p:cNvPr id="338" name="Google Shape;338;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6" name="Google Shape;346;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[1.5 min · 24:00–25:30] Here's the core of qlora_finetune.py, and it's genuinely about a dozen lines, using Hugging Face's peft library. Follow the numbered callouts.</a:t>
            </a:r>
          </a:p>
          <a:p>
            <a:endParaRPr/>
          </a:p>
          <a:p>
            <a:r>
              <a:t>One: we load the model with a bitsandbytes config, which is what sets NF4 4-bit storage.</a:t>
            </a:r>
          </a:p>
          <a:p>
            <a:endParaRPr/>
          </a:p>
          <a:p>
            <a:r>
              <a:t>Two: we turn the key-value cache off. It speeds up generation, but it isn't used in training and it conflicts with gradient checkpointing. Then prepare_model_for_kbit_training gets the quantized model ready to take gradients.</a:t>
            </a:r>
          </a:p>
          <a:p>
            <a:endParaRPr/>
          </a:p>
          <a:p>
            <a:r>
              <a:t>Three: the LoRA config. Rank 32, alpha 64, a little dropout, and the target modules: q, k, v, and o for attention, and gate, up, and down for the MLP. That's every linear layer.</a:t>
            </a:r>
          </a:p>
          <a:p>
            <a:endParaRPr/>
          </a:p>
          <a:p>
            <a:r>
              <a:t>Four: get_peft_model wraps the model. The base is frozen, only the adapters train, and the saved adapter is tens of megabytes. You can version it in Git next to your SAS code.</a:t>
            </a:r>
          </a:p>
          <a:p>
            <a:endParaRPr/>
          </a:p>
          <a:p>
            <a:r>
              <a:t>Keep this LoraConfig in mind; at the end I'll show how one-line changes here let you try newer variants.</a:t>
            </a:r>
          </a:p>
        </p:txBody>
      </p:sp>
      <p:sp>
        <p:nvSpPr>
          <p:cNvPr id="347" name="Google Shape;347;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7" name="Google Shape;367;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[1.5 min · 25:30–27:00] This slide is the one I most want people to take back to their managers, because it's where expectations go wrong.</a:t>
            </a:r>
          </a:p>
          <a:p>
            <a:endParaRPr/>
          </a:p>
          <a:p>
            <a:r>
              <a:t>What adapters change: output format and field ordering, style and terminology, and, crucially, the habit of writing UNKNOWN instead of guessing.</a:t>
            </a:r>
          </a:p>
          <a:p>
            <a:endParaRPr/>
          </a:p>
          <a:p>
            <a:r>
              <a:t>What they do not change: knowledge of your code base. The model hasn't learned what your agency's EMPL means. They don't raise the base model's reasoning ceiling. And they don't make it better at inferring what an unfamiliar, convoluted macro does.</a:t>
            </a:r>
          </a:p>
          <a:p>
            <a:endParaRPr/>
          </a:p>
          <a:p>
            <a:r>
              <a:t>Which leads to the line at the bottom: a small model with adapters is still a small model. Fine-tuning made it disciplined. It didn't make it smart. As we'll see, on this task, discipline turns out to be most of the battle.</a:t>
            </a:r>
          </a:p>
        </p:txBody>
      </p:sp>
      <p:sp>
        <p:nvSpPr>
          <p:cNvPr id="368" name="Google Shape;368;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6" name="Google Shape;386;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[1.5 min · 27:00–28:30] Four practical lessons if you try this yourself, and one theme behind them: tune, don't max out. Bigger rank, more epochs, and bigger batches all cost memory and time, and past a point they make results worse, not better.</a:t>
            </a:r>
          </a:p>
          <a:p>
            <a:endParaRPr/>
          </a:p>
          <a:p>
            <a:r>
              <a:t>Target all linear layers. Early LoRA work adapted attention only; adding the MLP layers is now the common recommendation.</a:t>
            </a:r>
          </a:p>
          <a:p>
            <a:endParaRPr/>
          </a:p>
          <a:p>
            <a:r>
              <a:t>Start with alpha around 2r, and scale them together.</a:t>
            </a:r>
          </a:p>
          <a:p>
            <a:endParaRPr/>
          </a:p>
          <a:p>
            <a:r>
              <a:t>Tune learning rate first. It's the most sensitive knob in LoRA training, by a wide margin.</a:t>
            </a:r>
          </a:p>
          <a:p>
            <a:endParaRPr/>
          </a:p>
          <a:p>
            <a:r>
              <a:t>Clean pairs, held-out eval. Training pairs must be schema-valid, and test programs must stay unseen. The standard way to pick among several training runs is to score each saved checkpoint on held-out examples and keep the best one, not just the last one.</a:t>
            </a:r>
          </a:p>
        </p:txBody>
      </p:sp>
      <p:sp>
        <p:nvSpPr>
          <p:cNvPr id="387" name="Google Shape;387;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3" name="Google Shape;413;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 min · 28:30–29:30] Now the other end of the spectrum. Config 3 is Claude Opus 5, and the key design choice is how it's grounded.</a:t>
            </a:r>
          </a:p>
          <a:p>
            <a:endParaRPr/>
          </a:p>
          <a:p>
            <a:r>
              <a:t>It gets two read-only tools, and the instruction is that every claim must trace to one of them. Its workflow is query, parse, and only then write.</a:t>
            </a:r>
          </a:p>
          <a:p>
            <a:endParaRPr/>
          </a:p>
          <a:p>
            <a:r>
              <a:t>Tool one is SAS's DICTIONARY tables, queried through PROC SQL. That tells the model which data sets actually exist, what keys they share, and where a name is reused with different attributes, which in legacy code happens more than anyone admits.</a:t>
            </a:r>
          </a:p>
          <a:p>
            <a:endParaRPr/>
          </a:p>
          <a:p>
            <a:r>
              <a:t>Tool two is a custom Python source parser. It extracts macro definitions, parameter lists, every %LET assignment, and the line number of each one. That's where those "est.sas line 142" citations come from.</a:t>
            </a:r>
          </a:p>
          <a:p>
            <a:endParaRPr/>
          </a:p>
          <a:p>
            <a:r>
              <a:t>Both tools are read-only. The model can look at anything; it can change nothing.</a:t>
            </a:r>
          </a:p>
        </p:txBody>
      </p:sp>
      <p:sp>
        <p:nvSpPr>
          <p:cNvPr id="414" name="Google Shape;414;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5" name="Google Shape;435;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[0.5 min · 29:30–30:00] Why DICTIONARY tables rather than PROC CONTENTS? PROC CONTENTS is a report built for people. DICTIONARY views are already tables, so SASPy's sd2df drops them straight into a pandas data frame the model can work with. One portability note: these tools are packaged as skills in Claude's format, so another provider's model needs some adaptation.</a:t>
            </a:r>
          </a:p>
        </p:txBody>
      </p:sp>
      <p:sp>
        <p:nvSpPr>
          <p:cNvPr id="436" name="Google Shape;436;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[1.5 min · 30:00–31:30] So how do you score documentation? The hard part is knowing the right answer. For real legacy code, the person who knew the right answer is the one who retired.</a:t>
            </a:r>
          </a:p>
          <a:p>
            <a:endParaRPr/>
          </a:p>
          <a:p>
            <a:r>
              <a:t>Our solution was to build the test set ourselves: 20 held-out programs, each run 3 times per configuration to capture run-to-run variability. Each program and its gold documentation were generated from the same specification, so the gold answer is correct by construction. Every variable, every derivation, every macro parameter.</a:t>
            </a:r>
          </a:p>
          <a:p>
            <a:endParaRPr/>
          </a:p>
          <a:p>
            <a:r>
              <a:t>We made them bad on purpose, in the ways real legacy code is bad. Names like EMPL and EM for employment level. A macro called x with parameters p, lb, thr, and dbg. Options nomprint and nosymbolgen, so the log tells you nothing. Hardcoded paths and periods. No headers, few comments. Throwaway intermediate data sets. If you laughed at any of those, it's because you've seen them.</a:t>
            </a:r>
          </a:p>
          <a:p>
            <a:endParaRPr/>
          </a:p>
          <a:p>
            <a:r>
              <a:t>One methodological note. The test programs were generated with Mistral Large 3, a model from a different provider than the frontier model we were testing. We didn't want Claude grading code that looked like code Claude would write.</a:t>
            </a:r>
          </a:p>
        </p:txBody>
      </p:sp>
      <p:sp>
        <p:nvSpPr>
          <p:cNvPr id="454" name="Google Shape;454;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3" name="Google Shape;483;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[2 min · 31:30–33:30] Here are the structural scores, across 20 programs and 3 runs each. Gray is the zero-shot baseline, orange is QLoRA, teal is the frontier model with skills.</a:t>
            </a:r>
          </a:p>
          <a:p>
            <a:endParaRPr/>
          </a:p>
          <a:p>
            <a:r>
              <a:t>[Walk left to right:] group 1 is schema validity, group 2 is variable F1, group 3 is macro-parameter F1, group 4 is program input/output F1.</a:t>
            </a:r>
          </a:p>
          <a:p>
            <a:endParaRPr/>
          </a:p>
          <a:p>
            <a:r>
              <a:t>The gray bars tell the story of Config 1. Only 9 of its 20 programs produced schema-valid output at all; that's the 0.45. On variable F1, how well it identified the variables, it scored 0.01. Essentially zero.</a:t>
            </a:r>
          </a:p>
          <a:p>
            <a:endParaRPr/>
          </a:p>
          <a:p>
            <a:r>
              <a:t>Now look at orange. Same base model. Same tiny Gemma. After QLoRA, variable F1 goes from 0.01 to 0.92, and it hits 1.0 on the other three measures. That's what the title means: fine-tuning closes most of the gap, with about 580 training pairs. One careful qualifier: that's on this task, on our synthetic benchmark. It doesn't mean a fine-tuned small model matches a frontier model in general.</a:t>
            </a:r>
          </a:p>
          <a:p>
            <a:endParaRPr/>
          </a:p>
          <a:p>
            <a:r>
              <a:t>Teal, the frontier model, scores 1.0 across the board. So there is a remaining gap, on variable F1, and it's eight points.</a:t>
            </a:r>
          </a:p>
        </p:txBody>
      </p:sp>
      <p:sp>
        <p:nvSpPr>
          <p:cNvPr id="484" name="Google Shape;484;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[2 min · 33:30–35:30] But remember slide 3. The metric that decides production use isn't structure. It's hallucination.</a:t>
            </a:r>
          </a:p>
          <a:p>
            <a:endParaRPr/>
          </a:p>
          <a:p>
            <a:r>
              <a:t>Our definition is strict and mechanical: any variable, data set, or macro parameter name that isn't found in the source, or for Config 3, in the metadata it retrieved through SASPy.</a:t>
            </a:r>
          </a:p>
          <a:p>
            <a:endParaRPr/>
          </a:p>
          <a:p>
            <a:r>
              <a:t>Config 1: 57 percent hallucination rate. And look at the range: 37 to 81 percent across runs. So not only is it wrong more than half the time, you can't even predict how wrong it'll be on a given program. About 88 seconds per program.</a:t>
            </a:r>
          </a:p>
          <a:p>
            <a:endParaRPr/>
          </a:p>
          <a:p>
            <a:r>
              <a:t>Config 2: zero percent. No invented names. About 210 seconds per program.</a:t>
            </a:r>
          </a:p>
          <a:p>
            <a:endParaRPr/>
          </a:p>
          <a:p>
            <a:r>
              <a:t>Config 3: zero percent. No invented names. About 61 seconds per program, the fastest of the three. Treat the times as hardware-dependent; with a frontier API you're borrowing someone else's very large GPUs.</a:t>
            </a:r>
          </a:p>
          <a:p>
            <a:endParaRPr/>
          </a:p>
          <a:p>
            <a:r>
              <a:t>That zero for Config 2 is the result I'm proudest of. A model small enough to run in a locked-down environment learned, from 580 examples, to stop making things up.</a:t>
            </a:r>
          </a:p>
        </p:txBody>
      </p:sp>
      <p:sp>
        <p:nvSpPr>
          <p:cNvPr id="494" name="Google Shape;494;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9" name="Google Shape;519;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[1.5 min · 35:30–37:00] So what do we actually recommend?</a:t>
            </a:r>
          </a:p>
          <a:p>
            <a:endParaRPr/>
          </a:p>
          <a:p>
            <a:r>
              <a:t>Config 1 is not viable on its own. Invalid output for more than half the programs and highly variable hallucination. A guardrail can flag the damage, but it can't prevent it.</a:t>
            </a:r>
          </a:p>
          <a:p>
            <a:endParaRPr/>
          </a:p>
          <a:p>
            <a:r>
              <a:t>Config 2 is a practical, locally deployable option. If your code can't leave your network, this is the one to look at. More training data, or a larger Gemma-class base model, could likely narrow the remaining gap.</a:t>
            </a:r>
          </a:p>
          <a:p>
            <a:endParaRPr/>
          </a:p>
          <a:p>
            <a:r>
              <a:t>Config 3 had the strongest headline scores. But I want to call out one weakness that doesn't show on the chart: on distinguishing positional from keyword parameter usage, it averaged only 0.64. Telling whether a macro is called with x(a, b) versus x(p=a, lb=b) turns out to be harder than it looks, even for a frontier model with a parser.</a:t>
            </a:r>
          </a:p>
          <a:p>
            <a:endParaRPr/>
          </a:p>
          <a:p>
            <a:r>
              <a:t>And the line at the bottom applies to all three: human review remains essential in every configuration.</a:t>
            </a:r>
          </a:p>
        </p:txBody>
      </p:sp>
      <p:sp>
        <p:nvSpPr>
          <p:cNvPr id="520" name="Google Shape;520;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2" name="Google Shape;542;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[1.5 min · 37:00–38:30] Before anyone else raises them, three limitations, and I want to spend a moment on the middle one.</a:t>
            </a:r>
          </a:p>
          <a:p>
            <a:endParaRPr/>
          </a:p>
          <a:p>
            <a:r>
              <a:t>Synthetic by design. That's what lets us score exactly and automatically. But real code has conventions and interdependencies, call chains across dozens of programs and shared formats catalogs, that a synthetic set may miss.</a:t>
            </a:r>
          </a:p>
          <a:p>
            <a:endParaRPr/>
          </a:p>
          <a:p>
            <a:r>
              <a:t>Not like-for-like. This is the one to be careful with. Config 3 differs from Configs 1 and 2 in everything at once: a much bigger model, a different provider, tools that look up metadata, and someone else's hardware. So when Config 3 scores higher, we can't tell you which of those differences caused it. Configs 1 and 2 are a clean experiment: same model, only the fine-tune changed. Config 3 is a practical benchmark, what you can get today with a frontier subscription, not a controlled comparison. Please don't take away "small models are almost as good as frontier models." Take away "on this task, fine-tuning got a small model most of the way there."</a:t>
            </a:r>
          </a:p>
          <a:p>
            <a:endParaRPr/>
          </a:p>
          <a:p>
            <a:r>
              <a:t>Names, not meaning. Our hallucination metric catches invented names. It does not catch a real variable described wrongly. That's the gap the required-source rule and human review cover.</a:t>
            </a:r>
          </a:p>
        </p:txBody>
      </p:sp>
      <p:sp>
        <p:nvSpPr>
          <p:cNvPr id="543" name="Google Shape;543;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4" name="Google Shape;564;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[0.5 min · 38:30–39:00] Last section, and it's short. We used plain LoRA, and the research has moved fast since. The variants group into four families: how rank is chosen, how training behaves, how the adapter starts, and mixtures of several adapters. In 2026 alone, the peft library added eighteen new methods, and Hugging Face showed some non-LoRA methods beating LoRA on certain tasks. The point isn't the names; it's that what we did is one point in a fast-moving toolbox.</a:t>
            </a:r>
          </a:p>
        </p:txBody>
      </p:sp>
      <p:sp>
        <p:nvSpPr>
          <p:cNvPr id="565" name="Google Shape;565;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7" name="Google Shape;597;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 min · 39:00–40:00] If you're picking up where we left off, here's the order we'd try things in.</a:t>
            </a:r>
          </a:p>
          <a:p>
            <a:endParaRPr/>
          </a:p>
          <a:p>
            <a:r>
              <a:t>Step zero: sweep the learning rate. A 2026 study found a well-tuned vanilla LoRA matches or beats most of the fancy variants.</a:t>
            </a:r>
          </a:p>
          <a:p>
            <a:endParaRPr/>
          </a:p>
          <a:p>
            <a:r>
              <a:t>Then DoRA, which in peft is one flag; rsLoRA, to try higher ranks stably; and LoftQ initialization, which is designed for quantized models like ours. Because the evaluation harness is built, each one is an afternoon: retrain, rerun the same 20 programs, compare.</a:t>
            </a:r>
          </a:p>
        </p:txBody>
      </p:sp>
      <p:sp>
        <p:nvSpPr>
          <p:cNvPr id="598" name="Google Shape;598;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9" name="Google Shape;619;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[1.5 min · 40:00–41:30] Let me leave you with five things.</a:t>
            </a:r>
          </a:p>
          <a:p>
            <a:endParaRPr/>
          </a:p>
          <a:p>
            <a:r>
              <a:t>One. Require a source for every field, and make UNKNOWN a correct answer. That single rule did more for trustworthiness than any model choice.</a:t>
            </a:r>
          </a:p>
          <a:p>
            <a:endParaRPr/>
          </a:p>
          <a:p>
            <a:r>
              <a:t>Two. Keep SAS as the system of record. The model writes JSON; SAS stores it, alongside everything else you already govern.</a:t>
            </a:r>
          </a:p>
          <a:p>
            <a:endParaRPr/>
          </a:p>
          <a:p>
            <a:r>
              <a:t>Three. QLoRA on a small open model is a practical, air-gapped option. On our benchmark: zero hallucinated names, from about 580 training pairs and an hour and a half of GPU time.</a:t>
            </a:r>
          </a:p>
          <a:p>
            <a:endParaRPr/>
          </a:p>
          <a:p>
            <a:r>
              <a:t>Four. Grounding a frontier model in DICTIONARY tables gave the strongest scores, if your data policy allows it.</a:t>
            </a:r>
          </a:p>
          <a:p>
            <a:endParaRPr/>
          </a:p>
          <a:p>
            <a:r>
              <a:t>And five. Human review stays. But your reviewers now start from a sourced draft with the gaps already marked, instead of a blank page and a retirement party.</a:t>
            </a:r>
          </a:p>
        </p:txBody>
      </p:sp>
      <p:sp>
        <p:nvSpPr>
          <p:cNvPr id="620" name="Google Shape;620;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1" name="Google Shape;641;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[3.5 min · 41:30–45:00] Thank you. The full source code, including the QLoRA training script, the guardrail, the skills, and the scoring harness, is on GitHub at github.com/patrickjlong1/sas-llm-paper. Brandon's and my email addresses are on the slide.</a:t>
            </a:r>
          </a:p>
          <a:p>
            <a:endParaRPr/>
          </a:p>
          <a:p>
            <a:r>
              <a:t>We'd be happy to take questions. [Leave about 4 minutes.]</a:t>
            </a:r>
          </a:p>
          <a:p>
            <a:endParaRPr/>
          </a:p>
          <a:p>
            <a:r>
              <a:t>LIKELY QUESTIONS</a:t>
            </a:r>
          </a:p>
          <a:p>
            <a:r>
              <a:t>- CPU vs GPU? CPU = a few smart workers in sequence; GPU = thousands of simple workers in parallel. LLM math is parallel, so GPUs are much faster. We needed one only to train.</a:t>
            </a:r>
          </a:p>
          <a:p>
            <a:r>
              <a:t>- What is VRAM and how much do I need? Memory on the graphics card. Depends on model size, quantization (16-bit = 2 bytes/param, 4-bit ≈ 0.5), context length, and batch size, not parameter count alone.</a:t>
            </a:r>
          </a:p>
          <a:p>
            <a:r>
              <a:t>- We have 128 GB of VRAM; bigger model or more training? Usually a bigger base model first; slide 17: adapters don't raise the reasoning ceiling. But it depends on context length and batch size, so measure on the harness.</a:t>
            </a:r>
          </a:p>
          <a:p>
            <a:r>
              <a:t>- Is QLoRA as good as a frontier model? On this task and benchmark it got close; not a general claim. Config 3 is a different system: larger, hosted, with tools.</a:t>
            </a:r>
          </a:p>
          <a:p>
            <a:r>
              <a:t>- What's overfitting? Great on training examples, worse on new ones, like memorizing the practice test. Why we cut to 2 epochs and hold out all 20 test programs.</a:t>
            </a:r>
          </a:p>
          <a:p>
            <a:r>
              <a:t>- Why is QLoRA slower than zero-shot? Have the cause from your runs ready (inference hardware, longer outputs).</a:t>
            </a:r>
          </a:p>
          <a:p>
            <a:r>
              <a:t>- Can we use Config 3 on confidential code? A security and disclosure decision; Configs 1 and 2 exist for that case.</a:t>
            </a:r>
          </a:p>
          <a:p>
            <a:r>
              <a:t>- How long did the corpus take to build? Give person-hours for the 20 programs and dictionaries.</a:t>
            </a:r>
          </a:p>
        </p:txBody>
      </p:sp>
      <p:sp>
        <p:nvSpPr>
          <p:cNvPr id="642" name="Google Shape;642;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_DARK">
  <p:cSld name="TITLE_DARK">
    <p:bg>
      <p:bgPr>
        <a:solidFill>
          <a:schemeClr val="dk1"/>
        </a:solidFill>
        <a:effectLst/>
      </p:bgPr>
    </p:bg>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548640" y="1143000"/>
            <a:ext cx="5120640" cy="13716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lt1"/>
              </a:buClr>
              <a:buSzPts val="3800"/>
              <a:buFont typeface="Cambria"/>
              <a:buNone/>
              <a:defRPr sz="3800" b="1" i="0" u="none" strike="noStrike" cap="none">
                <a:solidFill>
                  <a:schemeClr val="lt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2"/>
          <p:cNvSpPr txBox="1">
            <a:spLocks noGrp="1"/>
          </p:cNvSpPr>
          <p:nvPr>
            <p:ph type="body" idx="1"/>
          </p:nvPr>
        </p:nvSpPr>
        <p:spPr>
          <a:xfrm>
            <a:off x="548640" y="2651760"/>
            <a:ext cx="5120640" cy="82296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Clr>
                <a:schemeClr val="accent1"/>
              </a:buClr>
              <a:buSzPts val="1800"/>
              <a:buFont typeface="Arial"/>
              <a:buNone/>
              <a:defRPr sz="1800" b="0" i="0" u="none" strike="noStrike" cap="none">
                <a:solidFill>
                  <a:schemeClr val="accent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p:cSld name="CONTENT">
    <p:bg>
      <p:bgPr>
        <a:solidFill>
          <a:schemeClr val="lt1"/>
        </a:solidFill>
        <a:effectLst/>
      </p:bgPr>
    </p:bg>
    <p:spTree>
      <p:nvGrpSpPr>
        <p:cNvPr id="1" name="Shape 14"/>
        <p:cNvGrpSpPr/>
        <p:nvPr/>
      </p:nvGrpSpPr>
      <p:grpSpPr>
        <a:xfrm>
          <a:off x="0" y="0"/>
          <a:ext cx="0" cy="0"/>
          <a:chOff x="0" y="0"/>
          <a:chExt cx="0" cy="0"/>
        </a:xfrm>
      </p:grpSpPr>
      <p:sp>
        <p:nvSpPr>
          <p:cNvPr id="15" name="Google Shape;15;p3"/>
          <p:cNvSpPr/>
          <p:nvPr/>
        </p:nvSpPr>
        <p:spPr>
          <a:xfrm>
            <a:off x="457200" y="4773168"/>
            <a:ext cx="54864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6"/>
              </a:buClr>
              <a:buSzPts val="900"/>
              <a:buFont typeface="Calibri"/>
              <a:buNone/>
            </a:pPr>
            <a:r>
              <a:rPr lang="en-US" sz="900" b="0" i="0" u="none" strike="noStrike" cap="none">
                <a:solidFill>
                  <a:schemeClr val="accent6"/>
                </a:solidFill>
                <a:latin typeface="Calibri"/>
                <a:ea typeface="Calibri"/>
                <a:cs typeface="Calibri"/>
                <a:sym typeface="Calibri"/>
              </a:rPr>
              <a:t>SEASUG 2026 · Paper 102-2026 · Long &amp; Harris</a:t>
            </a:r>
            <a:endParaRPr sz="900" b="0" i="0" u="none" strike="noStrike" cap="none">
              <a:solidFill>
                <a:schemeClr val="dk1"/>
              </a:solidFill>
              <a:latin typeface="Calibri"/>
              <a:ea typeface="Calibri"/>
              <a:cs typeface="Calibri"/>
              <a:sym typeface="Calibri"/>
            </a:endParaRPr>
          </a:p>
        </p:txBody>
      </p:sp>
      <p:sp>
        <p:nvSpPr>
          <p:cNvPr id="16" name="Google Shape;16;p3"/>
          <p:cNvSpPr txBox="1">
            <a:spLocks noGrp="1"/>
          </p:cNvSpPr>
          <p:nvPr>
            <p:ph type="title"/>
          </p:nvPr>
        </p:nvSpPr>
        <p:spPr>
          <a:xfrm>
            <a:off x="457200" y="274320"/>
            <a:ext cx="8229600" cy="6858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000"/>
              <a:buFont typeface="Cambria"/>
              <a:buNone/>
              <a:defRPr sz="3000" b="1" i="0" u="none" strike="noStrike" cap="none">
                <a:solidFill>
                  <a:schemeClr val="dk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 name="Google Shape;17;p3"/>
          <p:cNvSpPr txBox="1">
            <a:spLocks noGrp="1"/>
          </p:cNvSpPr>
          <p:nvPr>
            <p:ph type="sldNum" idx="12"/>
          </p:nvPr>
        </p:nvSpPr>
        <p:spPr>
          <a:xfrm>
            <a:off x="8229600" y="4754880"/>
            <a:ext cx="457200" cy="22860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900" b="0" i="0" u="none" strike="noStrike" cap="none">
                <a:solidFill>
                  <a:schemeClr val="accent6"/>
                </a:solidFill>
                <a:latin typeface="Calibri"/>
                <a:ea typeface="Calibri"/>
                <a:cs typeface="Calibri"/>
                <a:sym typeface="Calibri"/>
              </a:defRPr>
            </a:lvl1pPr>
            <a:lvl2pPr marL="0" marR="0" lvl="1" indent="0" algn="r">
              <a:spcBef>
                <a:spcPts val="0"/>
              </a:spcBef>
              <a:buNone/>
              <a:defRPr sz="900" b="0" i="0" u="none" strike="noStrike" cap="none">
                <a:solidFill>
                  <a:schemeClr val="accent6"/>
                </a:solidFill>
                <a:latin typeface="Calibri"/>
                <a:ea typeface="Calibri"/>
                <a:cs typeface="Calibri"/>
                <a:sym typeface="Calibri"/>
              </a:defRPr>
            </a:lvl2pPr>
            <a:lvl3pPr marL="0" marR="0" lvl="2" indent="0" algn="r">
              <a:spcBef>
                <a:spcPts val="0"/>
              </a:spcBef>
              <a:buNone/>
              <a:defRPr sz="900" b="0" i="0" u="none" strike="noStrike" cap="none">
                <a:solidFill>
                  <a:schemeClr val="accent6"/>
                </a:solidFill>
                <a:latin typeface="Calibri"/>
                <a:ea typeface="Calibri"/>
                <a:cs typeface="Calibri"/>
                <a:sym typeface="Calibri"/>
              </a:defRPr>
            </a:lvl3pPr>
            <a:lvl4pPr marL="0" marR="0" lvl="3" indent="0" algn="r">
              <a:spcBef>
                <a:spcPts val="0"/>
              </a:spcBef>
              <a:buNone/>
              <a:defRPr sz="900" b="0" i="0" u="none" strike="noStrike" cap="none">
                <a:solidFill>
                  <a:schemeClr val="accent6"/>
                </a:solidFill>
                <a:latin typeface="Calibri"/>
                <a:ea typeface="Calibri"/>
                <a:cs typeface="Calibri"/>
                <a:sym typeface="Calibri"/>
              </a:defRPr>
            </a:lvl4pPr>
            <a:lvl5pPr marL="0" marR="0" lvl="4" indent="0" algn="r">
              <a:spcBef>
                <a:spcPts val="0"/>
              </a:spcBef>
              <a:buNone/>
              <a:defRPr sz="900" b="0" i="0" u="none" strike="noStrike" cap="none">
                <a:solidFill>
                  <a:schemeClr val="accent6"/>
                </a:solidFill>
                <a:latin typeface="Calibri"/>
                <a:ea typeface="Calibri"/>
                <a:cs typeface="Calibri"/>
                <a:sym typeface="Calibri"/>
              </a:defRPr>
            </a:lvl5pPr>
            <a:lvl6pPr marL="0" marR="0" lvl="5" indent="0" algn="r">
              <a:spcBef>
                <a:spcPts val="0"/>
              </a:spcBef>
              <a:buNone/>
              <a:defRPr sz="900" b="0" i="0" u="none" strike="noStrike" cap="none">
                <a:solidFill>
                  <a:schemeClr val="accent6"/>
                </a:solidFill>
                <a:latin typeface="Calibri"/>
                <a:ea typeface="Calibri"/>
                <a:cs typeface="Calibri"/>
                <a:sym typeface="Calibri"/>
              </a:defRPr>
            </a:lvl6pPr>
            <a:lvl7pPr marL="0" marR="0" lvl="6" indent="0" algn="r">
              <a:spcBef>
                <a:spcPts val="0"/>
              </a:spcBef>
              <a:buNone/>
              <a:defRPr sz="900" b="0" i="0" u="none" strike="noStrike" cap="none">
                <a:solidFill>
                  <a:schemeClr val="accent6"/>
                </a:solidFill>
                <a:latin typeface="Calibri"/>
                <a:ea typeface="Calibri"/>
                <a:cs typeface="Calibri"/>
                <a:sym typeface="Calibri"/>
              </a:defRPr>
            </a:lvl7pPr>
            <a:lvl8pPr marL="0" marR="0" lvl="7" indent="0" algn="r">
              <a:spcBef>
                <a:spcPts val="0"/>
              </a:spcBef>
              <a:buNone/>
              <a:defRPr sz="900" b="0" i="0" u="none" strike="noStrike" cap="none">
                <a:solidFill>
                  <a:schemeClr val="accent6"/>
                </a:solidFill>
                <a:latin typeface="Calibri"/>
                <a:ea typeface="Calibri"/>
                <a:cs typeface="Calibri"/>
                <a:sym typeface="Calibri"/>
              </a:defRPr>
            </a:lvl8pPr>
            <a:lvl9pPr marL="0" marR="0" lvl="8" indent="0" algn="r">
              <a:spcBef>
                <a:spcPts val="0"/>
              </a:spcBef>
              <a:buNone/>
              <a:defRPr sz="900" b="0" i="0" u="none" strike="noStrike" cap="none">
                <a:solidFill>
                  <a:schemeClr val="accent6"/>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_DARK">
  <p:cSld name="SECTION_DARK">
    <p:bg>
      <p:bgPr>
        <a:solidFill>
          <a:schemeClr val="dk1"/>
        </a:solidFill>
        <a:effectLst/>
      </p:bgPr>
    </p:bg>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548640" y="1645920"/>
            <a:ext cx="6858000" cy="9144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lt1"/>
              </a:buClr>
              <a:buSzPts val="4000"/>
              <a:buFont typeface="Cambria"/>
              <a:buNone/>
              <a:defRPr sz="4000" b="1" i="0" u="none" strike="noStrike" cap="none">
                <a:solidFill>
                  <a:schemeClr val="lt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0" name="Google Shape;20;p4"/>
          <p:cNvSpPr txBox="1">
            <a:spLocks noGrp="1"/>
          </p:cNvSpPr>
          <p:nvPr>
            <p:ph type="body" idx="1"/>
          </p:nvPr>
        </p:nvSpPr>
        <p:spPr>
          <a:xfrm>
            <a:off x="548640" y="2697480"/>
            <a:ext cx="6858000" cy="54864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chemeClr val="accent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1" name="Google Shape;21;p4"/>
          <p:cNvSpPr txBox="1">
            <a:spLocks noGrp="1"/>
          </p:cNvSpPr>
          <p:nvPr>
            <p:ph type="sldNum" idx="12"/>
          </p:nvPr>
        </p:nvSpPr>
        <p:spPr>
          <a:xfrm>
            <a:off x="8229600" y="4754880"/>
            <a:ext cx="457200" cy="22860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900" b="0" i="0" u="none" strike="noStrike" cap="none">
                <a:solidFill>
                  <a:schemeClr val="accent3"/>
                </a:solidFill>
                <a:latin typeface="Calibri"/>
                <a:ea typeface="Calibri"/>
                <a:cs typeface="Calibri"/>
                <a:sym typeface="Calibri"/>
              </a:defRPr>
            </a:lvl1pPr>
            <a:lvl2pPr marL="0" marR="0" lvl="1" indent="0" algn="r">
              <a:spcBef>
                <a:spcPts val="0"/>
              </a:spcBef>
              <a:buNone/>
              <a:defRPr sz="900" b="0" i="0" u="none" strike="noStrike" cap="none">
                <a:solidFill>
                  <a:schemeClr val="accent3"/>
                </a:solidFill>
                <a:latin typeface="Calibri"/>
                <a:ea typeface="Calibri"/>
                <a:cs typeface="Calibri"/>
                <a:sym typeface="Calibri"/>
              </a:defRPr>
            </a:lvl2pPr>
            <a:lvl3pPr marL="0" marR="0" lvl="2" indent="0" algn="r">
              <a:spcBef>
                <a:spcPts val="0"/>
              </a:spcBef>
              <a:buNone/>
              <a:defRPr sz="900" b="0" i="0" u="none" strike="noStrike" cap="none">
                <a:solidFill>
                  <a:schemeClr val="accent3"/>
                </a:solidFill>
                <a:latin typeface="Calibri"/>
                <a:ea typeface="Calibri"/>
                <a:cs typeface="Calibri"/>
                <a:sym typeface="Calibri"/>
              </a:defRPr>
            </a:lvl3pPr>
            <a:lvl4pPr marL="0" marR="0" lvl="3" indent="0" algn="r">
              <a:spcBef>
                <a:spcPts val="0"/>
              </a:spcBef>
              <a:buNone/>
              <a:defRPr sz="900" b="0" i="0" u="none" strike="noStrike" cap="none">
                <a:solidFill>
                  <a:schemeClr val="accent3"/>
                </a:solidFill>
                <a:latin typeface="Calibri"/>
                <a:ea typeface="Calibri"/>
                <a:cs typeface="Calibri"/>
                <a:sym typeface="Calibri"/>
              </a:defRPr>
            </a:lvl4pPr>
            <a:lvl5pPr marL="0" marR="0" lvl="4" indent="0" algn="r">
              <a:spcBef>
                <a:spcPts val="0"/>
              </a:spcBef>
              <a:buNone/>
              <a:defRPr sz="900" b="0" i="0" u="none" strike="noStrike" cap="none">
                <a:solidFill>
                  <a:schemeClr val="accent3"/>
                </a:solidFill>
                <a:latin typeface="Calibri"/>
                <a:ea typeface="Calibri"/>
                <a:cs typeface="Calibri"/>
                <a:sym typeface="Calibri"/>
              </a:defRPr>
            </a:lvl5pPr>
            <a:lvl6pPr marL="0" marR="0" lvl="5" indent="0" algn="r">
              <a:spcBef>
                <a:spcPts val="0"/>
              </a:spcBef>
              <a:buNone/>
              <a:defRPr sz="900" b="0" i="0" u="none" strike="noStrike" cap="none">
                <a:solidFill>
                  <a:schemeClr val="accent3"/>
                </a:solidFill>
                <a:latin typeface="Calibri"/>
                <a:ea typeface="Calibri"/>
                <a:cs typeface="Calibri"/>
                <a:sym typeface="Calibri"/>
              </a:defRPr>
            </a:lvl6pPr>
            <a:lvl7pPr marL="0" marR="0" lvl="6" indent="0" algn="r">
              <a:spcBef>
                <a:spcPts val="0"/>
              </a:spcBef>
              <a:buNone/>
              <a:defRPr sz="900" b="0" i="0" u="none" strike="noStrike" cap="none">
                <a:solidFill>
                  <a:schemeClr val="accent3"/>
                </a:solidFill>
                <a:latin typeface="Calibri"/>
                <a:ea typeface="Calibri"/>
                <a:cs typeface="Calibri"/>
                <a:sym typeface="Calibri"/>
              </a:defRPr>
            </a:lvl7pPr>
            <a:lvl8pPr marL="0" marR="0" lvl="7" indent="0" algn="r">
              <a:spcBef>
                <a:spcPts val="0"/>
              </a:spcBef>
              <a:buNone/>
              <a:defRPr sz="900" b="0" i="0" u="none" strike="noStrike" cap="none">
                <a:solidFill>
                  <a:schemeClr val="accent3"/>
                </a:solidFill>
                <a:latin typeface="Calibri"/>
                <a:ea typeface="Calibri"/>
                <a:cs typeface="Calibri"/>
                <a:sym typeface="Calibri"/>
              </a:defRPr>
            </a:lvl8pPr>
            <a:lvl9pPr marL="0" marR="0" lvl="8" indent="0" algn="r">
              <a:spcBef>
                <a:spcPts val="0"/>
              </a:spcBef>
              <a:buNone/>
              <a:defRPr sz="900" b="0" i="0" u="none" strike="noStrike" cap="none">
                <a:solidFill>
                  <a:schemeClr val="accent3"/>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LOSING_DARK">
  <p:cSld name="CLOSING_DARK">
    <p:bg>
      <p:bgPr>
        <a:solidFill>
          <a:schemeClr val="dk1"/>
        </a:solidFill>
        <a:effectLst/>
      </p:bgPr>
    </p:bg>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457200" y="274320"/>
            <a:ext cx="8229600" cy="6858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lt1"/>
              </a:buClr>
              <a:buSzPts val="3000"/>
              <a:buFont typeface="Cambria"/>
              <a:buNone/>
              <a:defRPr sz="3000" b="1" i="0" u="none" strike="noStrike" cap="none">
                <a:solidFill>
                  <a:schemeClr val="lt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4" name="Google Shape;24;p5"/>
          <p:cNvSpPr txBox="1">
            <a:spLocks noGrp="1"/>
          </p:cNvSpPr>
          <p:nvPr>
            <p:ph type="sldNum" idx="12"/>
          </p:nvPr>
        </p:nvSpPr>
        <p:spPr>
          <a:xfrm>
            <a:off x="8229600" y="4754880"/>
            <a:ext cx="457200" cy="22860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900" b="0" i="0" u="none" strike="noStrike" cap="none">
                <a:solidFill>
                  <a:schemeClr val="accent3"/>
                </a:solidFill>
                <a:latin typeface="Calibri"/>
                <a:ea typeface="Calibri"/>
                <a:cs typeface="Calibri"/>
                <a:sym typeface="Calibri"/>
              </a:defRPr>
            </a:lvl1pPr>
            <a:lvl2pPr marL="0" marR="0" lvl="1" indent="0" algn="r">
              <a:spcBef>
                <a:spcPts val="0"/>
              </a:spcBef>
              <a:buNone/>
              <a:defRPr sz="900" b="0" i="0" u="none" strike="noStrike" cap="none">
                <a:solidFill>
                  <a:schemeClr val="accent3"/>
                </a:solidFill>
                <a:latin typeface="Calibri"/>
                <a:ea typeface="Calibri"/>
                <a:cs typeface="Calibri"/>
                <a:sym typeface="Calibri"/>
              </a:defRPr>
            </a:lvl2pPr>
            <a:lvl3pPr marL="0" marR="0" lvl="2" indent="0" algn="r">
              <a:spcBef>
                <a:spcPts val="0"/>
              </a:spcBef>
              <a:buNone/>
              <a:defRPr sz="900" b="0" i="0" u="none" strike="noStrike" cap="none">
                <a:solidFill>
                  <a:schemeClr val="accent3"/>
                </a:solidFill>
                <a:latin typeface="Calibri"/>
                <a:ea typeface="Calibri"/>
                <a:cs typeface="Calibri"/>
                <a:sym typeface="Calibri"/>
              </a:defRPr>
            </a:lvl3pPr>
            <a:lvl4pPr marL="0" marR="0" lvl="3" indent="0" algn="r">
              <a:spcBef>
                <a:spcPts val="0"/>
              </a:spcBef>
              <a:buNone/>
              <a:defRPr sz="900" b="0" i="0" u="none" strike="noStrike" cap="none">
                <a:solidFill>
                  <a:schemeClr val="accent3"/>
                </a:solidFill>
                <a:latin typeface="Calibri"/>
                <a:ea typeface="Calibri"/>
                <a:cs typeface="Calibri"/>
                <a:sym typeface="Calibri"/>
              </a:defRPr>
            </a:lvl4pPr>
            <a:lvl5pPr marL="0" marR="0" lvl="4" indent="0" algn="r">
              <a:spcBef>
                <a:spcPts val="0"/>
              </a:spcBef>
              <a:buNone/>
              <a:defRPr sz="900" b="0" i="0" u="none" strike="noStrike" cap="none">
                <a:solidFill>
                  <a:schemeClr val="accent3"/>
                </a:solidFill>
                <a:latin typeface="Calibri"/>
                <a:ea typeface="Calibri"/>
                <a:cs typeface="Calibri"/>
                <a:sym typeface="Calibri"/>
              </a:defRPr>
            </a:lvl5pPr>
            <a:lvl6pPr marL="0" marR="0" lvl="5" indent="0" algn="r">
              <a:spcBef>
                <a:spcPts val="0"/>
              </a:spcBef>
              <a:buNone/>
              <a:defRPr sz="900" b="0" i="0" u="none" strike="noStrike" cap="none">
                <a:solidFill>
                  <a:schemeClr val="accent3"/>
                </a:solidFill>
                <a:latin typeface="Calibri"/>
                <a:ea typeface="Calibri"/>
                <a:cs typeface="Calibri"/>
                <a:sym typeface="Calibri"/>
              </a:defRPr>
            </a:lvl6pPr>
            <a:lvl7pPr marL="0" marR="0" lvl="6" indent="0" algn="r">
              <a:spcBef>
                <a:spcPts val="0"/>
              </a:spcBef>
              <a:buNone/>
              <a:defRPr sz="900" b="0" i="0" u="none" strike="noStrike" cap="none">
                <a:solidFill>
                  <a:schemeClr val="accent3"/>
                </a:solidFill>
                <a:latin typeface="Calibri"/>
                <a:ea typeface="Calibri"/>
                <a:cs typeface="Calibri"/>
                <a:sym typeface="Calibri"/>
              </a:defRPr>
            </a:lvl7pPr>
            <a:lvl8pPr marL="0" marR="0" lvl="7" indent="0" algn="r">
              <a:spcBef>
                <a:spcPts val="0"/>
              </a:spcBef>
              <a:buNone/>
              <a:defRPr sz="900" b="0" i="0" u="none" strike="noStrike" cap="none">
                <a:solidFill>
                  <a:schemeClr val="accent3"/>
                </a:solidFill>
                <a:latin typeface="Calibri"/>
                <a:ea typeface="Calibri"/>
                <a:cs typeface="Calibri"/>
                <a:sym typeface="Calibri"/>
              </a:defRPr>
            </a:lvl8pPr>
            <a:lvl9pPr marL="0" marR="0" lvl="8" indent="0" algn="r">
              <a:spcBef>
                <a:spcPts val="0"/>
              </a:spcBef>
              <a:buNone/>
              <a:defRPr sz="900" b="0" i="0" u="none" strike="noStrike" cap="none">
                <a:solidFill>
                  <a:schemeClr val="accent3"/>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
        <p:nvSpPr>
          <p:cNvPr id="10" name="Google Shape;10;p1"/>
          <p:cNvSpPr txBox="1">
            <a:spLocks noGrp="1"/>
          </p:cNvSpPr>
          <p:nvPr>
            <p:ph type="sldNum" idx="12"/>
          </p:nvPr>
        </p:nvSpPr>
        <p:spPr>
          <a:xfrm>
            <a:off x="8229600" y="4754880"/>
            <a:ext cx="457200" cy="22860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900" b="0" i="0" u="none" strike="noStrike" cap="none">
                <a:solidFill>
                  <a:schemeClr val="accent3"/>
                </a:solidFill>
                <a:latin typeface="Calibri"/>
                <a:ea typeface="Calibri"/>
                <a:cs typeface="Calibri"/>
                <a:sym typeface="Calibri"/>
              </a:defRPr>
            </a:lvl1pPr>
            <a:lvl2pPr marL="0" marR="0" lvl="1" indent="0" algn="r" rtl="0">
              <a:spcBef>
                <a:spcPts val="0"/>
              </a:spcBef>
              <a:buNone/>
              <a:defRPr sz="900" b="0" i="0" u="none" strike="noStrike" cap="none">
                <a:solidFill>
                  <a:schemeClr val="accent3"/>
                </a:solidFill>
                <a:latin typeface="Calibri"/>
                <a:ea typeface="Calibri"/>
                <a:cs typeface="Calibri"/>
                <a:sym typeface="Calibri"/>
              </a:defRPr>
            </a:lvl2pPr>
            <a:lvl3pPr marL="0" marR="0" lvl="2" indent="0" algn="r" rtl="0">
              <a:spcBef>
                <a:spcPts val="0"/>
              </a:spcBef>
              <a:buNone/>
              <a:defRPr sz="900" b="0" i="0" u="none" strike="noStrike" cap="none">
                <a:solidFill>
                  <a:schemeClr val="accent3"/>
                </a:solidFill>
                <a:latin typeface="Calibri"/>
                <a:ea typeface="Calibri"/>
                <a:cs typeface="Calibri"/>
                <a:sym typeface="Calibri"/>
              </a:defRPr>
            </a:lvl3pPr>
            <a:lvl4pPr marL="0" marR="0" lvl="3" indent="0" algn="r" rtl="0">
              <a:spcBef>
                <a:spcPts val="0"/>
              </a:spcBef>
              <a:buNone/>
              <a:defRPr sz="900" b="0" i="0" u="none" strike="noStrike" cap="none">
                <a:solidFill>
                  <a:schemeClr val="accent3"/>
                </a:solidFill>
                <a:latin typeface="Calibri"/>
                <a:ea typeface="Calibri"/>
                <a:cs typeface="Calibri"/>
                <a:sym typeface="Calibri"/>
              </a:defRPr>
            </a:lvl4pPr>
            <a:lvl5pPr marL="0" marR="0" lvl="4" indent="0" algn="r" rtl="0">
              <a:spcBef>
                <a:spcPts val="0"/>
              </a:spcBef>
              <a:buNone/>
              <a:defRPr sz="900" b="0" i="0" u="none" strike="noStrike" cap="none">
                <a:solidFill>
                  <a:schemeClr val="accent3"/>
                </a:solidFill>
                <a:latin typeface="Calibri"/>
                <a:ea typeface="Calibri"/>
                <a:cs typeface="Calibri"/>
                <a:sym typeface="Calibri"/>
              </a:defRPr>
            </a:lvl5pPr>
            <a:lvl6pPr marL="0" marR="0" lvl="5" indent="0" algn="r" rtl="0">
              <a:spcBef>
                <a:spcPts val="0"/>
              </a:spcBef>
              <a:buNone/>
              <a:defRPr sz="900" b="0" i="0" u="none" strike="noStrike" cap="none">
                <a:solidFill>
                  <a:schemeClr val="accent3"/>
                </a:solidFill>
                <a:latin typeface="Calibri"/>
                <a:ea typeface="Calibri"/>
                <a:cs typeface="Calibri"/>
                <a:sym typeface="Calibri"/>
              </a:defRPr>
            </a:lvl6pPr>
            <a:lvl7pPr marL="0" marR="0" lvl="6" indent="0" algn="r" rtl="0">
              <a:spcBef>
                <a:spcPts val="0"/>
              </a:spcBef>
              <a:buNone/>
              <a:defRPr sz="900" b="0" i="0" u="none" strike="noStrike" cap="none">
                <a:solidFill>
                  <a:schemeClr val="accent3"/>
                </a:solidFill>
                <a:latin typeface="Calibri"/>
                <a:ea typeface="Calibri"/>
                <a:cs typeface="Calibri"/>
                <a:sym typeface="Calibri"/>
              </a:defRPr>
            </a:lvl7pPr>
            <a:lvl8pPr marL="0" marR="0" lvl="7" indent="0" algn="r" rtl="0">
              <a:spcBef>
                <a:spcPts val="0"/>
              </a:spcBef>
              <a:buNone/>
              <a:defRPr sz="900" b="0" i="0" u="none" strike="noStrike" cap="none">
                <a:solidFill>
                  <a:schemeClr val="accent3"/>
                </a:solidFill>
                <a:latin typeface="Calibri"/>
                <a:ea typeface="Calibri"/>
                <a:cs typeface="Calibri"/>
                <a:sym typeface="Calibri"/>
              </a:defRPr>
            </a:lvl8pPr>
            <a:lvl9pPr marL="0" marR="0" lvl="8" indent="0" algn="r" rtl="0">
              <a:spcBef>
                <a:spcPts val="0"/>
              </a:spcBef>
              <a:buNone/>
              <a:defRPr sz="900" b="0" i="0" u="none" strike="noStrike" cap="none">
                <a:solidFill>
                  <a:schemeClr val="accent3"/>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0"/>
        <p:cNvGrpSpPr/>
        <p:nvPr/>
      </p:nvGrpSpPr>
      <p:grpSpPr>
        <a:xfrm>
          <a:off x="0" y="0"/>
          <a:ext cx="0" cy="0"/>
          <a:chOff x="0" y="0"/>
          <a:chExt cx="0" cy="0"/>
        </a:xfrm>
      </p:grpSpPr>
      <p:sp>
        <p:nvSpPr>
          <p:cNvPr id="31" name="Google Shape;31;p7"/>
          <p:cNvSpPr txBox="1">
            <a:spLocks noGrp="1"/>
          </p:cNvSpPr>
          <p:nvPr>
            <p:ph type="title"/>
          </p:nvPr>
        </p:nvSpPr>
        <p:spPr>
          <a:xfrm>
            <a:off x="548640" y="1143000"/>
            <a:ext cx="5120640" cy="1371600"/>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Clr>
                <a:schemeClr val="lt1"/>
              </a:buClr>
              <a:buSzPts val="3800"/>
              <a:buFont typeface="Cambria"/>
              <a:buNone/>
            </a:pPr>
            <a:r>
              <a:rPr lang="en-US" sz="3800" b="1">
                <a:solidFill>
                  <a:schemeClr val="lt1"/>
                </a:solidFill>
                <a:latin typeface="Cambria"/>
                <a:ea typeface="Cambria"/>
                <a:cs typeface="Cambria"/>
                <a:sym typeface="Cambria"/>
              </a:rPr>
              <a:t>Reviving Institutional Knowledge</a:t>
            </a:r>
            <a:endParaRPr sz="3800"/>
          </a:p>
        </p:txBody>
      </p:sp>
      <p:sp>
        <p:nvSpPr>
          <p:cNvPr id="32" name="Google Shape;32;p7"/>
          <p:cNvSpPr txBox="1">
            <a:spLocks noGrp="1"/>
          </p:cNvSpPr>
          <p:nvPr>
            <p:ph type="body" idx="1"/>
          </p:nvPr>
        </p:nvSpPr>
        <p:spPr>
          <a:xfrm>
            <a:off x="548640" y="2651760"/>
            <a:ext cx="5120640" cy="82296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1"/>
              </a:buClr>
              <a:buSzPts val="1800"/>
              <a:buNone/>
            </a:pPr>
            <a:r>
              <a:rPr lang="en-US" sz="1800">
                <a:solidFill>
                  <a:schemeClr val="accent1"/>
                </a:solidFill>
              </a:rPr>
              <a:t>LLM-generated documentation for legacy SAS® production code</a:t>
            </a:r>
            <a:endParaRPr sz="1800"/>
          </a:p>
        </p:txBody>
      </p:sp>
      <p:sp>
        <p:nvSpPr>
          <p:cNvPr id="33" name="Google Shape;33;p7"/>
          <p:cNvSpPr txBox="1"/>
          <p:nvPr/>
        </p:nvSpPr>
        <p:spPr>
          <a:xfrm>
            <a:off x="548640" y="3611880"/>
            <a:ext cx="5120640" cy="10058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3"/>
              </a:buClr>
              <a:buSzPts val="1200"/>
              <a:buFont typeface="Calibri"/>
              <a:buNone/>
            </a:pPr>
            <a:r>
              <a:rPr lang="en-US" sz="1200" b="1" i="0" u="none" strike="noStrike" cap="none">
                <a:solidFill>
                  <a:schemeClr val="accent3"/>
                </a:solidFill>
                <a:latin typeface="Calibri"/>
                <a:ea typeface="Calibri"/>
                <a:cs typeface="Calibri"/>
                <a:sym typeface="Calibri"/>
              </a:rPr>
              <a:t>Patrick Long &amp; Brandon Harris</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accent3"/>
              </a:buClr>
              <a:buSzPts val="1200"/>
              <a:buFont typeface="Calibri"/>
              <a:buNone/>
            </a:pPr>
            <a:r>
              <a:rPr lang="en-US" sz="1200" b="0" i="0" u="none" strike="noStrike" cap="none">
                <a:solidFill>
                  <a:schemeClr val="accent3"/>
                </a:solidFill>
                <a:latin typeface="Calibri"/>
                <a:ea typeface="Calibri"/>
                <a:cs typeface="Calibri"/>
                <a:sym typeface="Calibri"/>
              </a:rPr>
              <a:t>Office of Employment and Unemployment Statistics</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accent3"/>
              </a:buClr>
              <a:buSzPts val="1200"/>
              <a:buFont typeface="Calibri"/>
              <a:buNone/>
            </a:pPr>
            <a:r>
              <a:rPr lang="en-US" sz="1200" b="0" i="0" u="none" strike="noStrike" cap="none">
                <a:solidFill>
                  <a:schemeClr val="accent3"/>
                </a:solidFill>
                <a:latin typeface="Calibri"/>
                <a:ea typeface="Calibri"/>
                <a:cs typeface="Calibri"/>
                <a:sym typeface="Calibri"/>
              </a:rPr>
              <a:t>U.S. Bureau of Labor Statistics</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accent3"/>
              </a:buClr>
              <a:buSzPts val="1200"/>
              <a:buFont typeface="Calibri"/>
              <a:buNone/>
            </a:pPr>
            <a:r>
              <a:rPr lang="en-US" sz="1200" b="0" i="0" u="none" strike="noStrike" cap="none">
                <a:solidFill>
                  <a:schemeClr val="accent3"/>
                </a:solidFill>
                <a:latin typeface="Calibri"/>
                <a:ea typeface="Calibri"/>
                <a:cs typeface="Calibri"/>
                <a:sym typeface="Calibri"/>
              </a:rPr>
              <a:t>SEASUG 2026 · Paper 102-2026</a:t>
            </a:r>
            <a:endParaRPr sz="1200" b="0" i="0" u="none" strike="noStrike" cap="none">
              <a:solidFill>
                <a:schemeClr val="dk1"/>
              </a:solidFill>
              <a:latin typeface="Calibri"/>
              <a:ea typeface="Calibri"/>
              <a:cs typeface="Calibri"/>
              <a:sym typeface="Calibri"/>
            </a:endParaRPr>
          </a:p>
        </p:txBody>
      </p:sp>
      <p:sp>
        <p:nvSpPr>
          <p:cNvPr id="34" name="Google Shape;34;p7"/>
          <p:cNvSpPr/>
          <p:nvPr/>
        </p:nvSpPr>
        <p:spPr>
          <a:xfrm>
            <a:off x="6126480" y="1097280"/>
            <a:ext cx="2560320" cy="256032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5" name="Google Shape;35;p7" descr="open book icon"/>
          <p:cNvPicPr preferRelativeResize="0"/>
          <p:nvPr/>
        </p:nvPicPr>
        <p:blipFill rotWithShape="1">
          <a:blip r:embed="rId3">
            <a:alphaModFix/>
          </a:blip>
          <a:srcRect/>
          <a:stretch/>
        </p:blipFill>
        <p:spPr>
          <a:xfrm>
            <a:off x="6720840" y="1691640"/>
            <a:ext cx="1371600" cy="1371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1" name="Google Shape;41;p8"/>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Code we run but no longer understand</a:t>
            </a:r>
            <a:endParaRPr sz="3000"/>
          </a:p>
        </p:txBody>
      </p:sp>
      <p:sp>
        <p:nvSpPr>
          <p:cNvPr id="42" name="Google Shape;42;p8"/>
          <p:cNvSpPr/>
          <p:nvPr/>
        </p:nvSpPr>
        <p:spPr>
          <a:xfrm>
            <a:off x="457200" y="1234440"/>
            <a:ext cx="640080" cy="64008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3" name="Google Shape;43;p8" descr="icon"/>
          <p:cNvPicPr preferRelativeResize="0"/>
          <p:nvPr/>
        </p:nvPicPr>
        <p:blipFill rotWithShape="1">
          <a:blip r:embed="rId3">
            <a:alphaModFix/>
          </a:blip>
          <a:srcRect/>
          <a:stretch/>
        </p:blipFill>
        <p:spPr>
          <a:xfrm>
            <a:off x="598018" y="1375258"/>
            <a:ext cx="358445" cy="358445"/>
          </a:xfrm>
          <a:prstGeom prst="rect">
            <a:avLst/>
          </a:prstGeom>
          <a:noFill/>
          <a:ln>
            <a:noFill/>
          </a:ln>
        </p:spPr>
      </p:pic>
      <p:sp>
        <p:nvSpPr>
          <p:cNvPr id="44" name="Google Shape;44;p8"/>
          <p:cNvSpPr txBox="1"/>
          <p:nvPr/>
        </p:nvSpPr>
        <p:spPr>
          <a:xfrm>
            <a:off x="1325880" y="1234440"/>
            <a:ext cx="420624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Macro variables</a:t>
            </a:r>
            <a:endParaRPr sz="1600" b="0" i="0" u="none" strike="noStrike" cap="none">
              <a:solidFill>
                <a:schemeClr val="dk1"/>
              </a:solidFill>
              <a:latin typeface="Calibri"/>
              <a:ea typeface="Calibri"/>
              <a:cs typeface="Calibri"/>
              <a:sym typeface="Calibri"/>
            </a:endParaRPr>
          </a:p>
        </p:txBody>
      </p:sp>
      <p:sp>
        <p:nvSpPr>
          <p:cNvPr id="45" name="Google Shape;45;p8"/>
          <p:cNvSpPr txBox="1"/>
          <p:nvPr/>
        </p:nvSpPr>
        <p:spPr>
          <a:xfrm>
            <a:off x="1325880" y="1563624"/>
            <a:ext cx="420624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Purpose inferable only from their downstream effect</a:t>
            </a:r>
            <a:endParaRPr sz="1400" b="0" i="0" u="none" strike="noStrike" cap="none">
              <a:solidFill>
                <a:schemeClr val="dk1"/>
              </a:solidFill>
              <a:latin typeface="Calibri"/>
              <a:ea typeface="Calibri"/>
              <a:cs typeface="Calibri"/>
              <a:sym typeface="Calibri"/>
            </a:endParaRPr>
          </a:p>
        </p:txBody>
      </p:sp>
      <p:sp>
        <p:nvSpPr>
          <p:cNvPr id="46" name="Google Shape;46;p8"/>
          <p:cNvSpPr/>
          <p:nvPr/>
        </p:nvSpPr>
        <p:spPr>
          <a:xfrm>
            <a:off x="457200" y="2286000"/>
            <a:ext cx="640080" cy="64008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7" name="Google Shape;47;p8" descr="icon"/>
          <p:cNvPicPr preferRelativeResize="0"/>
          <p:nvPr/>
        </p:nvPicPr>
        <p:blipFill rotWithShape="1">
          <a:blip r:embed="rId4">
            <a:alphaModFix/>
          </a:blip>
          <a:srcRect/>
          <a:stretch/>
        </p:blipFill>
        <p:spPr>
          <a:xfrm>
            <a:off x="598018" y="2426818"/>
            <a:ext cx="358445" cy="358445"/>
          </a:xfrm>
          <a:prstGeom prst="rect">
            <a:avLst/>
          </a:prstGeom>
          <a:noFill/>
          <a:ln>
            <a:noFill/>
          </a:ln>
        </p:spPr>
      </p:pic>
      <p:sp>
        <p:nvSpPr>
          <p:cNvPr id="48" name="Google Shape;48;p8"/>
          <p:cNvSpPr txBox="1"/>
          <p:nvPr/>
        </p:nvSpPr>
        <p:spPr>
          <a:xfrm>
            <a:off x="1325880" y="2286000"/>
            <a:ext cx="420624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Names and lineage</a:t>
            </a:r>
            <a:endParaRPr sz="1600" b="0" i="0" u="none" strike="noStrike" cap="none">
              <a:solidFill>
                <a:schemeClr val="dk1"/>
              </a:solidFill>
              <a:latin typeface="Calibri"/>
              <a:ea typeface="Calibri"/>
              <a:cs typeface="Calibri"/>
              <a:sym typeface="Calibri"/>
            </a:endParaRPr>
          </a:p>
        </p:txBody>
      </p:sp>
      <p:sp>
        <p:nvSpPr>
          <p:cNvPr id="49" name="Google Shape;49;p8"/>
          <p:cNvSpPr txBox="1"/>
          <p:nvPr/>
        </p:nvSpPr>
        <p:spPr>
          <a:xfrm>
            <a:off x="1325880" y="2615184"/>
            <a:ext cx="420624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EMPL, EM, _t2: data set and column history lives as folklore</a:t>
            </a:r>
            <a:endParaRPr sz="1400" b="0" i="0" u="none" strike="noStrike" cap="none">
              <a:solidFill>
                <a:schemeClr val="dk1"/>
              </a:solidFill>
              <a:latin typeface="Calibri"/>
              <a:ea typeface="Calibri"/>
              <a:cs typeface="Calibri"/>
              <a:sym typeface="Calibri"/>
            </a:endParaRPr>
          </a:p>
        </p:txBody>
      </p:sp>
      <p:sp>
        <p:nvSpPr>
          <p:cNvPr id="50" name="Google Shape;50;p8"/>
          <p:cNvSpPr/>
          <p:nvPr/>
        </p:nvSpPr>
        <p:spPr>
          <a:xfrm>
            <a:off x="457200" y="3337560"/>
            <a:ext cx="640080" cy="64008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1" name="Google Shape;51;p8" descr="icon"/>
          <p:cNvPicPr preferRelativeResize="0"/>
          <p:nvPr/>
        </p:nvPicPr>
        <p:blipFill rotWithShape="1">
          <a:blip r:embed="rId5">
            <a:alphaModFix/>
          </a:blip>
          <a:srcRect/>
          <a:stretch/>
        </p:blipFill>
        <p:spPr>
          <a:xfrm>
            <a:off x="598018" y="3478378"/>
            <a:ext cx="358445" cy="358445"/>
          </a:xfrm>
          <a:prstGeom prst="rect">
            <a:avLst/>
          </a:prstGeom>
          <a:noFill/>
          <a:ln>
            <a:noFill/>
          </a:ln>
        </p:spPr>
      </p:pic>
      <p:sp>
        <p:nvSpPr>
          <p:cNvPr id="52" name="Google Shape;52;p8"/>
          <p:cNvSpPr txBox="1"/>
          <p:nvPr/>
        </p:nvSpPr>
        <p:spPr>
          <a:xfrm>
            <a:off x="1325880" y="3337560"/>
            <a:ext cx="420624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The last expert retires</a:t>
            </a:r>
            <a:endParaRPr sz="1600" b="0" i="0" u="none" strike="noStrike" cap="none">
              <a:solidFill>
                <a:schemeClr val="dk1"/>
              </a:solidFill>
              <a:latin typeface="Calibri"/>
              <a:ea typeface="Calibri"/>
              <a:cs typeface="Calibri"/>
              <a:sym typeface="Calibri"/>
            </a:endParaRPr>
          </a:p>
        </p:txBody>
      </p:sp>
      <p:sp>
        <p:nvSpPr>
          <p:cNvPr id="53" name="Google Shape;53;p8"/>
          <p:cNvSpPr txBox="1"/>
          <p:nvPr/>
        </p:nvSpPr>
        <p:spPr>
          <a:xfrm>
            <a:off x="1325880" y="3666744"/>
            <a:ext cx="420624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The code becomes something we operate, not something we understand</a:t>
            </a:r>
            <a:endParaRPr sz="1400" b="0" i="0" u="none" strike="noStrike" cap="none">
              <a:solidFill>
                <a:schemeClr val="dk1"/>
              </a:solidFill>
              <a:latin typeface="Calibri"/>
              <a:ea typeface="Calibri"/>
              <a:cs typeface="Calibri"/>
              <a:sym typeface="Calibri"/>
            </a:endParaRPr>
          </a:p>
        </p:txBody>
      </p:sp>
      <p:sp>
        <p:nvSpPr>
          <p:cNvPr id="54" name="Google Shape;54;p8"/>
          <p:cNvSpPr/>
          <p:nvPr/>
        </p:nvSpPr>
        <p:spPr>
          <a:xfrm>
            <a:off x="5943600" y="1234440"/>
            <a:ext cx="2743200" cy="2971800"/>
          </a:xfrm>
          <a:prstGeom prst="roundRect">
            <a:avLst>
              <a:gd name="adj" fmla="val 266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8"/>
          <p:cNvSpPr txBox="1"/>
          <p:nvPr/>
        </p:nvSpPr>
        <p:spPr>
          <a:xfrm>
            <a:off x="6126480" y="1554480"/>
            <a:ext cx="2377440" cy="914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accent1"/>
              </a:buClr>
              <a:buSzPts val="5400"/>
              <a:buFont typeface="Cambria"/>
              <a:buNone/>
            </a:pPr>
            <a:r>
              <a:rPr lang="en-US" sz="5400" b="1" i="0" u="none" strike="noStrike" cap="none">
                <a:solidFill>
                  <a:schemeClr val="accent1"/>
                </a:solidFill>
                <a:latin typeface="Cambria"/>
                <a:ea typeface="Cambria"/>
                <a:cs typeface="Cambria"/>
                <a:sym typeface="Cambria"/>
              </a:rPr>
              <a:t>20 yrs</a:t>
            </a:r>
            <a:endParaRPr sz="5400" b="0" i="0" u="none" strike="noStrike" cap="none">
              <a:solidFill>
                <a:schemeClr val="dk1"/>
              </a:solidFill>
              <a:latin typeface="Calibri"/>
              <a:ea typeface="Calibri"/>
              <a:cs typeface="Calibri"/>
              <a:sym typeface="Calibri"/>
            </a:endParaRPr>
          </a:p>
        </p:txBody>
      </p:sp>
      <p:sp>
        <p:nvSpPr>
          <p:cNvPr id="56" name="Google Shape;56;p8"/>
          <p:cNvSpPr txBox="1"/>
          <p:nvPr/>
        </p:nvSpPr>
        <p:spPr>
          <a:xfrm>
            <a:off x="6172200" y="2606040"/>
            <a:ext cx="2286000" cy="128016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of monthly production runs, and the macros still work. The output still validates.</a:t>
            </a:r>
            <a:endParaRPr sz="1400" b="0" i="0" u="none" strike="noStrike" cap="none">
              <a:solidFill>
                <a:schemeClr val="dk1"/>
              </a:solidFill>
              <a:latin typeface="Calibri"/>
              <a:ea typeface="Calibri"/>
              <a:cs typeface="Calibri"/>
              <a:sym typeface="Calibri"/>
            </a:endParaRPr>
          </a:p>
        </p:txBody>
      </p:sp>
      <p:sp>
        <p:nvSpPr>
          <p:cNvPr id="57" name="Google Shape;57;p8"/>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2</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0"/>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Roadmap</a:t>
            </a:r>
            <a:endParaRPr sz="3000"/>
          </a:p>
        </p:txBody>
      </p:sp>
      <p:sp>
        <p:nvSpPr>
          <p:cNvPr id="85" name="Google Shape;85;p10"/>
          <p:cNvSpPr/>
          <p:nvPr/>
        </p:nvSpPr>
        <p:spPr>
          <a:xfrm>
            <a:off x="457200" y="1463040"/>
            <a:ext cx="1517904" cy="2286000"/>
          </a:xfrm>
          <a:prstGeom prst="roundRect">
            <a:avLst>
              <a:gd name="adj" fmla="val 4819"/>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0"/>
          <p:cNvSpPr txBox="1"/>
          <p:nvPr/>
        </p:nvSpPr>
        <p:spPr>
          <a:xfrm>
            <a:off x="640080" y="1645920"/>
            <a:ext cx="109728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4000"/>
              <a:buFont typeface="Cambria"/>
              <a:buNone/>
            </a:pPr>
            <a:r>
              <a:rPr lang="en-US" sz="4000" b="1" i="0" u="none" strike="noStrike" cap="none">
                <a:solidFill>
                  <a:schemeClr val="accent2"/>
                </a:solidFill>
                <a:latin typeface="Cambria"/>
                <a:ea typeface="Cambria"/>
                <a:cs typeface="Cambria"/>
                <a:sym typeface="Cambria"/>
              </a:rPr>
              <a:t>1</a:t>
            </a:r>
            <a:endParaRPr sz="4000" b="0" i="0" u="none" strike="noStrike" cap="none">
              <a:solidFill>
                <a:schemeClr val="dk1"/>
              </a:solidFill>
              <a:latin typeface="Calibri"/>
              <a:ea typeface="Calibri"/>
              <a:cs typeface="Calibri"/>
              <a:sym typeface="Calibri"/>
            </a:endParaRPr>
          </a:p>
        </p:txBody>
      </p:sp>
      <p:sp>
        <p:nvSpPr>
          <p:cNvPr id="87" name="Google Shape;87;p10"/>
          <p:cNvSpPr txBox="1"/>
          <p:nvPr/>
        </p:nvSpPr>
        <p:spPr>
          <a:xfrm>
            <a:off x="594360" y="2468880"/>
            <a:ext cx="1271016" cy="11887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Defining documentation</a:t>
            </a:r>
            <a:endParaRPr sz="1400" b="0" i="0" u="none" strike="noStrike" cap="none">
              <a:solidFill>
                <a:schemeClr val="dk1"/>
              </a:solidFill>
              <a:latin typeface="Calibri"/>
              <a:ea typeface="Calibri"/>
              <a:cs typeface="Calibri"/>
              <a:sym typeface="Calibri"/>
            </a:endParaRPr>
          </a:p>
        </p:txBody>
      </p:sp>
      <p:sp>
        <p:nvSpPr>
          <p:cNvPr id="88" name="Google Shape;88;p10"/>
          <p:cNvSpPr/>
          <p:nvPr/>
        </p:nvSpPr>
        <p:spPr>
          <a:xfrm>
            <a:off x="2139696" y="1463040"/>
            <a:ext cx="1517904" cy="2286000"/>
          </a:xfrm>
          <a:prstGeom prst="roundRect">
            <a:avLst>
              <a:gd name="adj" fmla="val 4819"/>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0"/>
          <p:cNvSpPr txBox="1"/>
          <p:nvPr/>
        </p:nvSpPr>
        <p:spPr>
          <a:xfrm>
            <a:off x="2322576" y="1645920"/>
            <a:ext cx="109728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4000"/>
              <a:buFont typeface="Cambria"/>
              <a:buNone/>
            </a:pPr>
            <a:r>
              <a:rPr lang="en-US" sz="4000" b="1" i="0" u="none" strike="noStrike" cap="none">
                <a:solidFill>
                  <a:schemeClr val="accent2"/>
                </a:solidFill>
                <a:latin typeface="Cambria"/>
                <a:ea typeface="Cambria"/>
                <a:cs typeface="Cambria"/>
                <a:sym typeface="Cambria"/>
              </a:rPr>
              <a:t>2</a:t>
            </a:r>
            <a:endParaRPr sz="4000" b="0" i="0" u="none" strike="noStrike" cap="none">
              <a:solidFill>
                <a:schemeClr val="dk1"/>
              </a:solidFill>
              <a:latin typeface="Calibri"/>
              <a:ea typeface="Calibri"/>
              <a:cs typeface="Calibri"/>
              <a:sym typeface="Calibri"/>
            </a:endParaRPr>
          </a:p>
        </p:txBody>
      </p:sp>
      <p:sp>
        <p:nvSpPr>
          <p:cNvPr id="90" name="Google Shape;90;p10"/>
          <p:cNvSpPr txBox="1"/>
          <p:nvPr/>
        </p:nvSpPr>
        <p:spPr>
          <a:xfrm>
            <a:off x="2276856" y="2468880"/>
            <a:ext cx="1271016" cy="11887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Architecture: SAS stays in charge</a:t>
            </a:r>
            <a:endParaRPr sz="1400" b="0" i="0" u="none" strike="noStrike" cap="none">
              <a:solidFill>
                <a:schemeClr val="dk1"/>
              </a:solidFill>
              <a:latin typeface="Calibri"/>
              <a:ea typeface="Calibri"/>
              <a:cs typeface="Calibri"/>
              <a:sym typeface="Calibri"/>
            </a:endParaRPr>
          </a:p>
        </p:txBody>
      </p:sp>
      <p:sp>
        <p:nvSpPr>
          <p:cNvPr id="91" name="Google Shape;91;p10"/>
          <p:cNvSpPr/>
          <p:nvPr/>
        </p:nvSpPr>
        <p:spPr>
          <a:xfrm>
            <a:off x="3822192" y="1463040"/>
            <a:ext cx="1517904" cy="2286000"/>
          </a:xfrm>
          <a:prstGeom prst="roundRect">
            <a:avLst>
              <a:gd name="adj" fmla="val 4819"/>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0"/>
          <p:cNvSpPr txBox="1"/>
          <p:nvPr/>
        </p:nvSpPr>
        <p:spPr>
          <a:xfrm>
            <a:off x="4005072" y="1645920"/>
            <a:ext cx="109728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1"/>
              </a:buClr>
              <a:buSzPts val="4000"/>
              <a:buFont typeface="Cambria"/>
              <a:buNone/>
            </a:pPr>
            <a:r>
              <a:rPr lang="en-US" sz="4000" b="1" i="0" u="none" strike="noStrike" cap="none">
                <a:solidFill>
                  <a:schemeClr val="lt1"/>
                </a:solidFill>
                <a:latin typeface="Cambria"/>
                <a:ea typeface="Cambria"/>
                <a:cs typeface="Cambria"/>
                <a:sym typeface="Cambria"/>
              </a:rPr>
              <a:t>3</a:t>
            </a:r>
            <a:endParaRPr sz="4000" b="0" i="0" u="none" strike="noStrike" cap="none">
              <a:solidFill>
                <a:schemeClr val="dk1"/>
              </a:solidFill>
              <a:latin typeface="Calibri"/>
              <a:ea typeface="Calibri"/>
              <a:cs typeface="Calibri"/>
              <a:sym typeface="Calibri"/>
            </a:endParaRPr>
          </a:p>
        </p:txBody>
      </p:sp>
      <p:sp>
        <p:nvSpPr>
          <p:cNvPr id="93" name="Google Shape;93;p10"/>
          <p:cNvSpPr txBox="1"/>
          <p:nvPr/>
        </p:nvSpPr>
        <p:spPr>
          <a:xfrm>
            <a:off x="3959352" y="2468880"/>
            <a:ext cx="1271016" cy="11887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1"/>
              </a:buClr>
              <a:buSzPts val="1400"/>
              <a:buFont typeface="Calibri"/>
              <a:buNone/>
            </a:pPr>
            <a:r>
              <a:rPr lang="en-US" sz="1400" b="1" i="0" u="none" strike="noStrike" cap="none">
                <a:solidFill>
                  <a:schemeClr val="lt1"/>
                </a:solidFill>
                <a:latin typeface="Calibri"/>
                <a:ea typeface="Calibri"/>
                <a:cs typeface="Calibri"/>
                <a:sym typeface="Calibri"/>
              </a:rPr>
              <a:t>Three configurations + QLoRA deep dive</a:t>
            </a:r>
            <a:endParaRPr sz="1400" b="0" i="0" u="none" strike="noStrike" cap="none">
              <a:solidFill>
                <a:schemeClr val="dk1"/>
              </a:solidFill>
              <a:latin typeface="Calibri"/>
              <a:ea typeface="Calibri"/>
              <a:cs typeface="Calibri"/>
              <a:sym typeface="Calibri"/>
            </a:endParaRPr>
          </a:p>
        </p:txBody>
      </p:sp>
      <p:sp>
        <p:nvSpPr>
          <p:cNvPr id="94" name="Google Shape;94;p10"/>
          <p:cNvSpPr/>
          <p:nvPr/>
        </p:nvSpPr>
        <p:spPr>
          <a:xfrm>
            <a:off x="5504688" y="1463040"/>
            <a:ext cx="1517904" cy="2286000"/>
          </a:xfrm>
          <a:prstGeom prst="roundRect">
            <a:avLst>
              <a:gd name="adj" fmla="val 4819"/>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0"/>
          <p:cNvSpPr txBox="1"/>
          <p:nvPr/>
        </p:nvSpPr>
        <p:spPr>
          <a:xfrm>
            <a:off x="5687568" y="1645920"/>
            <a:ext cx="109728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4000"/>
              <a:buFont typeface="Cambria"/>
              <a:buNone/>
            </a:pPr>
            <a:r>
              <a:rPr lang="en-US" sz="4000" b="1" i="0" u="none" strike="noStrike" cap="none">
                <a:solidFill>
                  <a:schemeClr val="accent2"/>
                </a:solidFill>
                <a:latin typeface="Cambria"/>
                <a:ea typeface="Cambria"/>
                <a:cs typeface="Cambria"/>
                <a:sym typeface="Cambria"/>
              </a:rPr>
              <a:t>4</a:t>
            </a:r>
            <a:endParaRPr sz="4000" b="0" i="0" u="none" strike="noStrike" cap="none">
              <a:solidFill>
                <a:schemeClr val="dk1"/>
              </a:solidFill>
              <a:latin typeface="Calibri"/>
              <a:ea typeface="Calibri"/>
              <a:cs typeface="Calibri"/>
              <a:sym typeface="Calibri"/>
            </a:endParaRPr>
          </a:p>
        </p:txBody>
      </p:sp>
      <p:sp>
        <p:nvSpPr>
          <p:cNvPr id="96" name="Google Shape;96;p10"/>
          <p:cNvSpPr txBox="1"/>
          <p:nvPr/>
        </p:nvSpPr>
        <p:spPr>
          <a:xfrm>
            <a:off x="5641848" y="2468880"/>
            <a:ext cx="1271016" cy="11887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Evaluation and results</a:t>
            </a:r>
            <a:endParaRPr sz="1400" b="0" i="0" u="none" strike="noStrike" cap="none">
              <a:solidFill>
                <a:schemeClr val="dk1"/>
              </a:solidFill>
              <a:latin typeface="Calibri"/>
              <a:ea typeface="Calibri"/>
              <a:cs typeface="Calibri"/>
              <a:sym typeface="Calibri"/>
            </a:endParaRPr>
          </a:p>
        </p:txBody>
      </p:sp>
      <p:sp>
        <p:nvSpPr>
          <p:cNvPr id="97" name="Google Shape;97;p10"/>
          <p:cNvSpPr/>
          <p:nvPr/>
        </p:nvSpPr>
        <p:spPr>
          <a:xfrm>
            <a:off x="7187184" y="1463040"/>
            <a:ext cx="1517904" cy="2286000"/>
          </a:xfrm>
          <a:prstGeom prst="roundRect">
            <a:avLst>
              <a:gd name="adj" fmla="val 4819"/>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0"/>
          <p:cNvSpPr txBox="1"/>
          <p:nvPr/>
        </p:nvSpPr>
        <p:spPr>
          <a:xfrm>
            <a:off x="7370064" y="1645920"/>
            <a:ext cx="109728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1"/>
              </a:buClr>
              <a:buSzPts val="4000"/>
              <a:buFont typeface="Cambria"/>
              <a:buNone/>
            </a:pPr>
            <a:r>
              <a:rPr lang="en-US" sz="4000" b="1" i="0" u="none" strike="noStrike" cap="none">
                <a:solidFill>
                  <a:schemeClr val="lt1"/>
                </a:solidFill>
                <a:latin typeface="Cambria"/>
                <a:ea typeface="Cambria"/>
                <a:cs typeface="Cambria"/>
                <a:sym typeface="Cambria"/>
              </a:rPr>
              <a:t>5</a:t>
            </a:r>
            <a:endParaRPr sz="4000" b="0" i="0" u="none" strike="noStrike" cap="none">
              <a:solidFill>
                <a:schemeClr val="dk1"/>
              </a:solidFill>
              <a:latin typeface="Calibri"/>
              <a:ea typeface="Calibri"/>
              <a:cs typeface="Calibri"/>
              <a:sym typeface="Calibri"/>
            </a:endParaRPr>
          </a:p>
        </p:txBody>
      </p:sp>
      <p:sp>
        <p:nvSpPr>
          <p:cNvPr id="99" name="Google Shape;99;p10"/>
          <p:cNvSpPr txBox="1"/>
          <p:nvPr/>
        </p:nvSpPr>
        <p:spPr>
          <a:xfrm>
            <a:off x="7324344" y="2468880"/>
            <a:ext cx="1271016" cy="11887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1"/>
              </a:buClr>
              <a:buSzPts val="1400"/>
              <a:buFont typeface="Calibri"/>
              <a:buNone/>
            </a:pPr>
            <a:r>
              <a:rPr lang="en-US" sz="1400" b="1" i="0" u="none" strike="noStrike" cap="none">
                <a:solidFill>
                  <a:schemeClr val="lt1"/>
                </a:solidFill>
                <a:latin typeface="Calibri"/>
                <a:ea typeface="Calibri"/>
                <a:cs typeface="Calibri"/>
                <a:sym typeface="Calibri"/>
              </a:rPr>
              <a:t>Next: the growing LoRA family</a:t>
            </a:r>
            <a:endParaRPr sz="1400" b="0" i="0" u="none" strike="noStrike" cap="none">
              <a:solidFill>
                <a:schemeClr val="dk1"/>
              </a:solidFill>
              <a:latin typeface="Calibri"/>
              <a:ea typeface="Calibri"/>
              <a:cs typeface="Calibri"/>
              <a:sym typeface="Calibri"/>
            </a:endParaRPr>
          </a:p>
        </p:txBody>
      </p:sp>
      <p:sp>
        <p:nvSpPr>
          <p:cNvPr id="100" name="Google Shape;100;p10"/>
          <p:cNvSpPr txBox="1"/>
          <p:nvPr/>
        </p:nvSpPr>
        <p:spPr>
          <a:xfrm>
            <a:off x="457200" y="3977640"/>
            <a:ext cx="822960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1200"/>
              <a:buFont typeface="Calibri"/>
              <a:buNone/>
            </a:pPr>
            <a:r>
              <a:rPr lang="en-US" sz="1200" b="0" i="1" u="none" strike="noStrike" cap="none">
                <a:solidFill>
                  <a:schemeClr val="accent6"/>
                </a:solidFill>
                <a:latin typeface="Calibri"/>
                <a:ea typeface="Calibri"/>
                <a:cs typeface="Calibri"/>
                <a:sym typeface="Calibri"/>
              </a:rPr>
              <a:t>Highlighted: where we spend the most time</a:t>
            </a:r>
            <a:endParaRPr sz="1200" b="0" i="0" u="none" strike="noStrike" cap="none">
              <a:solidFill>
                <a:schemeClr val="dk1"/>
              </a:solidFill>
              <a:latin typeface="Calibri"/>
              <a:ea typeface="Calibri"/>
              <a:cs typeface="Calibri"/>
              <a:sym typeface="Calibri"/>
            </a:endParaRPr>
          </a:p>
        </p:txBody>
      </p:sp>
      <p:sp>
        <p:nvSpPr>
          <p:cNvPr id="101" name="Google Shape;101;p10"/>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3</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9"/>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Fluent is not the same as grounded</a:t>
            </a:r>
            <a:endParaRPr sz="3000"/>
          </a:p>
        </p:txBody>
      </p:sp>
      <p:sp>
        <p:nvSpPr>
          <p:cNvPr id="64" name="Google Shape;64;p9"/>
          <p:cNvSpPr/>
          <p:nvPr/>
        </p:nvSpPr>
        <p:spPr>
          <a:xfrm>
            <a:off x="457200" y="1188720"/>
            <a:ext cx="3931920" cy="2331720"/>
          </a:xfrm>
          <a:prstGeom prst="roundRect">
            <a:avLst>
              <a:gd name="adj" fmla="val 313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a:off x="685800" y="1371600"/>
            <a:ext cx="457200" cy="45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6" name="Google Shape;66;p9" descr="icon"/>
          <p:cNvPicPr preferRelativeResize="0"/>
          <p:nvPr/>
        </p:nvPicPr>
        <p:blipFill rotWithShape="1">
          <a:blip r:embed="rId3">
            <a:alphaModFix/>
          </a:blip>
          <a:srcRect/>
          <a:stretch/>
        </p:blipFill>
        <p:spPr>
          <a:xfrm>
            <a:off x="786384" y="1472184"/>
            <a:ext cx="256032" cy="256032"/>
          </a:xfrm>
          <a:prstGeom prst="rect">
            <a:avLst/>
          </a:prstGeom>
          <a:noFill/>
          <a:ln>
            <a:noFill/>
          </a:ln>
        </p:spPr>
      </p:pic>
      <p:sp>
        <p:nvSpPr>
          <p:cNvPr id="67" name="Google Shape;67;p9"/>
          <p:cNvSpPr txBox="1"/>
          <p:nvPr/>
        </p:nvSpPr>
        <p:spPr>
          <a:xfrm>
            <a:off x="1280160" y="1417320"/>
            <a:ext cx="2743200" cy="365760"/>
          </a:xfrm>
          <a:prstGeom prst="rect">
            <a:avLst/>
          </a:prstGeom>
          <a:noFill/>
          <a:ln>
            <a:noFill/>
          </a:ln>
        </p:spPr>
        <p:txBody>
          <a:bodyPr spcFirstLastPara="1" wrap="square" lIns="0" tIns="0" rIns="0" bIns="0" anchor="t" anchorCtr="0">
            <a:noAutofit/>
          </a:bodyPr>
          <a:lstStyle/>
          <a:p>
            <a:pPr lvl="0">
              <a:buClr>
                <a:schemeClr val="dk1"/>
              </a:buClr>
              <a:buSzPts val="1800"/>
            </a:pPr>
            <a:r>
              <a:rPr lang="en-US" sz="1800" b="1" i="0" u="none" strike="noStrike" cap="none">
                <a:solidFill>
                  <a:schemeClr val="dk1"/>
                </a:solidFill>
                <a:latin typeface="Calibri"/>
                <a:ea typeface="Calibri"/>
                <a:cs typeface="Calibri"/>
                <a:sym typeface="Calibri"/>
              </a:rPr>
              <a:t>Fluent</a:t>
            </a:r>
            <a:endParaRPr sz="1800" b="0" i="0" u="none" strike="noStrike" cap="none">
              <a:solidFill>
                <a:schemeClr val="dk1"/>
              </a:solidFill>
              <a:latin typeface="Calibri"/>
              <a:ea typeface="Calibri"/>
              <a:cs typeface="Calibri"/>
              <a:sym typeface="Calibri"/>
            </a:endParaRPr>
          </a:p>
        </p:txBody>
      </p:sp>
      <p:sp>
        <p:nvSpPr>
          <p:cNvPr id="68" name="Google Shape;68;p9"/>
          <p:cNvSpPr txBox="1"/>
          <p:nvPr/>
        </p:nvSpPr>
        <p:spPr>
          <a:xfrm>
            <a:off x="731520" y="2011680"/>
            <a:ext cx="3474720" cy="8229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ourier New"/>
              <a:buNone/>
            </a:pPr>
            <a:r>
              <a:rPr lang="en-US" sz="1400" b="0" i="0" u="none" strike="noStrike" cap="none">
                <a:solidFill>
                  <a:schemeClr val="dk2"/>
                </a:solidFill>
                <a:latin typeface="Courier New"/>
                <a:ea typeface="Courier New"/>
                <a:cs typeface="Courier New"/>
                <a:sym typeface="Courier New"/>
              </a:rPr>
              <a:t>EMPL: Total employment level, seasonally adjusted, used as the denominator for rates.</a:t>
            </a:r>
            <a:endParaRPr sz="1400" b="0" i="0" u="none" strike="noStrike" cap="none">
              <a:solidFill>
                <a:schemeClr val="dk1"/>
              </a:solidFill>
              <a:latin typeface="Calibri"/>
              <a:ea typeface="Calibri"/>
              <a:cs typeface="Calibri"/>
              <a:sym typeface="Calibri"/>
            </a:endParaRPr>
          </a:p>
        </p:txBody>
      </p:sp>
      <p:sp>
        <p:nvSpPr>
          <p:cNvPr id="69" name="Google Shape;69;p9"/>
          <p:cNvSpPr txBox="1"/>
          <p:nvPr/>
        </p:nvSpPr>
        <p:spPr>
          <a:xfrm>
            <a:off x="731520" y="2926080"/>
            <a:ext cx="347472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8650F"/>
              </a:buClr>
              <a:buSzPts val="1400"/>
              <a:buFont typeface="Calibri"/>
              <a:buNone/>
            </a:pPr>
            <a:r>
              <a:rPr lang="en-US" sz="1400" b="0" i="1" u="none" strike="noStrike" cap="none">
                <a:solidFill>
                  <a:srgbClr val="A8650F"/>
                </a:solidFill>
                <a:latin typeface="Calibri"/>
                <a:ea typeface="Calibri"/>
                <a:cs typeface="Calibri"/>
                <a:sym typeface="Calibri"/>
              </a:rPr>
              <a:t>Reads well and may even be right. But no source, so nobody can verify it.</a:t>
            </a:r>
            <a:endParaRPr sz="1400" b="0" i="0" u="none" strike="noStrike" cap="none">
              <a:solidFill>
                <a:schemeClr val="dk1"/>
              </a:solidFill>
              <a:latin typeface="Calibri"/>
              <a:ea typeface="Calibri"/>
              <a:cs typeface="Calibri"/>
              <a:sym typeface="Calibri"/>
            </a:endParaRPr>
          </a:p>
        </p:txBody>
      </p:sp>
      <p:sp>
        <p:nvSpPr>
          <p:cNvPr id="70" name="Google Shape;70;p9"/>
          <p:cNvSpPr/>
          <p:nvPr/>
        </p:nvSpPr>
        <p:spPr>
          <a:xfrm>
            <a:off x="4754880" y="1188720"/>
            <a:ext cx="3931920" cy="2331720"/>
          </a:xfrm>
          <a:prstGeom prst="roundRect">
            <a:avLst>
              <a:gd name="adj" fmla="val 313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9"/>
          <p:cNvSpPr/>
          <p:nvPr/>
        </p:nvSpPr>
        <p:spPr>
          <a:xfrm>
            <a:off x="4983480" y="1371600"/>
            <a:ext cx="457200" cy="457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2" name="Google Shape;72;p9" descr="icon"/>
          <p:cNvPicPr preferRelativeResize="0"/>
          <p:nvPr/>
        </p:nvPicPr>
        <p:blipFill rotWithShape="1">
          <a:blip r:embed="rId4">
            <a:alphaModFix/>
          </a:blip>
          <a:srcRect/>
          <a:stretch/>
        </p:blipFill>
        <p:spPr>
          <a:xfrm>
            <a:off x="5084064" y="1472184"/>
            <a:ext cx="256032" cy="256032"/>
          </a:xfrm>
          <a:prstGeom prst="rect">
            <a:avLst/>
          </a:prstGeom>
          <a:noFill/>
          <a:ln>
            <a:noFill/>
          </a:ln>
        </p:spPr>
      </p:pic>
      <p:sp>
        <p:nvSpPr>
          <p:cNvPr id="73" name="Google Shape;73;p9"/>
          <p:cNvSpPr txBox="1"/>
          <p:nvPr/>
        </p:nvSpPr>
        <p:spPr>
          <a:xfrm>
            <a:off x="5577840" y="1417320"/>
            <a:ext cx="274320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Grounded</a:t>
            </a:r>
            <a:endParaRPr sz="1800" b="0" i="0" u="none" strike="noStrike" cap="none">
              <a:solidFill>
                <a:schemeClr val="dk1"/>
              </a:solidFill>
              <a:latin typeface="Calibri"/>
              <a:ea typeface="Calibri"/>
              <a:cs typeface="Calibri"/>
              <a:sym typeface="Calibri"/>
            </a:endParaRPr>
          </a:p>
        </p:txBody>
      </p:sp>
      <p:sp>
        <p:nvSpPr>
          <p:cNvPr id="74" name="Google Shape;74;p9"/>
          <p:cNvSpPr txBox="1"/>
          <p:nvPr/>
        </p:nvSpPr>
        <p:spPr>
          <a:xfrm>
            <a:off x="5029200" y="2011680"/>
            <a:ext cx="3474720" cy="8229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ourier New"/>
              <a:buNone/>
            </a:pPr>
            <a:r>
              <a:rPr lang="en-US" sz="1400" b="0" i="0" u="none" strike="noStrike" cap="none">
                <a:solidFill>
                  <a:schemeClr val="dk2"/>
                </a:solidFill>
                <a:latin typeface="Courier New"/>
                <a:ea typeface="Courier New"/>
                <a:cs typeface="Courier New"/>
                <a:sym typeface="Courier New"/>
              </a:rPr>
              <a:t>EMPL: Num 8 · derivation: SUM(e1,e2,e3)/3 · source: est.sas line 142 · label: UNKNOWN</a:t>
            </a:r>
            <a:endParaRPr sz="1400" b="0" i="0" u="none" strike="noStrike" cap="none">
              <a:solidFill>
                <a:schemeClr val="dk1"/>
              </a:solidFill>
              <a:latin typeface="Calibri"/>
              <a:ea typeface="Calibri"/>
              <a:cs typeface="Calibri"/>
              <a:sym typeface="Calibri"/>
            </a:endParaRPr>
          </a:p>
        </p:txBody>
      </p:sp>
      <p:sp>
        <p:nvSpPr>
          <p:cNvPr id="75" name="Google Shape;75;p9"/>
          <p:cNvSpPr txBox="1"/>
          <p:nvPr/>
        </p:nvSpPr>
        <p:spPr>
          <a:xfrm>
            <a:off x="5029200" y="2926080"/>
            <a:ext cx="347472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400"/>
              <a:buFont typeface="Calibri"/>
              <a:buNone/>
            </a:pPr>
            <a:r>
              <a:rPr lang="en-US" sz="1400" b="0" i="1" u="none" strike="noStrike" cap="none">
                <a:solidFill>
                  <a:schemeClr val="accent5"/>
                </a:solidFill>
                <a:latin typeface="Calibri"/>
                <a:ea typeface="Calibri"/>
                <a:cs typeface="Calibri"/>
                <a:sym typeface="Calibri"/>
              </a:rPr>
              <a:t>Every claim traceable, gaps admitted.</a:t>
            </a:r>
            <a:endParaRPr sz="1400" b="0" i="0" u="none" strike="noStrike" cap="none">
              <a:solidFill>
                <a:schemeClr val="dk1"/>
              </a:solidFill>
              <a:latin typeface="Calibri"/>
              <a:ea typeface="Calibri"/>
              <a:cs typeface="Calibri"/>
              <a:sym typeface="Calibri"/>
            </a:endParaRPr>
          </a:p>
        </p:txBody>
      </p:sp>
      <p:sp>
        <p:nvSpPr>
          <p:cNvPr id="76" name="Google Shape;76;p9"/>
          <p:cNvSpPr txBox="1"/>
          <p:nvPr/>
        </p:nvSpPr>
        <p:spPr>
          <a:xfrm>
            <a:off x="457200" y="3794760"/>
            <a:ext cx="8229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The metric that decides production use: </a:t>
            </a:r>
            <a:r>
              <a:rPr lang="en-US" sz="1600" b="0" i="0" u="none" strike="noStrike" cap="none">
                <a:solidFill>
                  <a:schemeClr val="dk1"/>
                </a:solidFill>
                <a:latin typeface="Calibri"/>
                <a:ea typeface="Calibri"/>
                <a:cs typeface="Calibri"/>
                <a:sym typeface="Calibri"/>
              </a:rPr>
              <a:t>the rate of confident, unsupported assertions</a:t>
            </a:r>
            <a:endParaRPr sz="1600" b="0" i="0" u="none" strike="noStrike" cap="none">
              <a:solidFill>
                <a:schemeClr val="dk1"/>
              </a:solidFill>
              <a:latin typeface="Calibri"/>
              <a:ea typeface="Calibri"/>
              <a:cs typeface="Calibri"/>
              <a:sym typeface="Calibri"/>
            </a:endParaRPr>
          </a:p>
        </p:txBody>
      </p:sp>
      <p:sp>
        <p:nvSpPr>
          <p:cNvPr id="77" name="Google Shape;77;p9"/>
          <p:cNvSpPr txBox="1"/>
          <p:nvPr/>
        </p:nvSpPr>
        <p:spPr>
          <a:xfrm>
            <a:off x="457200" y="4512295"/>
            <a:ext cx="768096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900"/>
              <a:buFont typeface="Calibri"/>
              <a:buNone/>
            </a:pPr>
            <a:r>
              <a:rPr lang="en-US" sz="900" b="0" i="1" u="none" strike="noStrike" cap="none">
                <a:solidFill>
                  <a:schemeClr val="accent6"/>
                </a:solidFill>
                <a:latin typeface="Calibri"/>
                <a:ea typeface="Calibri"/>
                <a:cs typeface="Calibri"/>
                <a:sym typeface="Calibri"/>
              </a:rPr>
              <a:t>Illustrative example. Hallucination background: Ji et al. 2023, ACM Computing Surveys 55(12).</a:t>
            </a:r>
            <a:endParaRPr sz="900" b="0" i="0" u="none" strike="noStrike" cap="none">
              <a:solidFill>
                <a:schemeClr val="dk1"/>
              </a:solidFill>
              <a:latin typeface="Calibri"/>
              <a:ea typeface="Calibri"/>
              <a:cs typeface="Calibri"/>
              <a:sym typeface="Calibri"/>
            </a:endParaRPr>
          </a:p>
        </p:txBody>
      </p:sp>
      <p:sp>
        <p:nvSpPr>
          <p:cNvPr id="78" name="Google Shape;78;p9"/>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4</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1"/>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Three artifacts, each with a fixed JSON schema</a:t>
            </a:r>
            <a:endParaRPr sz="3000"/>
          </a:p>
        </p:txBody>
      </p:sp>
      <p:sp>
        <p:nvSpPr>
          <p:cNvPr id="108" name="Google Shape;108;p11"/>
          <p:cNvSpPr/>
          <p:nvPr/>
        </p:nvSpPr>
        <p:spPr>
          <a:xfrm>
            <a:off x="457200" y="1234440"/>
            <a:ext cx="2560320" cy="2926080"/>
          </a:xfrm>
          <a:prstGeom prst="roundRect">
            <a:avLst>
              <a:gd name="adj" fmla="val 285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1"/>
          <p:cNvSpPr/>
          <p:nvPr/>
        </p:nvSpPr>
        <p:spPr>
          <a:xfrm>
            <a:off x="731520" y="1463040"/>
            <a:ext cx="685800" cy="6858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0" name="Google Shape;110;p11" descr="icon"/>
          <p:cNvPicPr preferRelativeResize="0"/>
          <p:nvPr/>
        </p:nvPicPr>
        <p:blipFill rotWithShape="1">
          <a:blip r:embed="rId3">
            <a:alphaModFix/>
          </a:blip>
          <a:srcRect/>
          <a:stretch/>
        </p:blipFill>
        <p:spPr>
          <a:xfrm>
            <a:off x="882396" y="1613916"/>
            <a:ext cx="384048" cy="384048"/>
          </a:xfrm>
          <a:prstGeom prst="rect">
            <a:avLst/>
          </a:prstGeom>
          <a:noFill/>
          <a:ln>
            <a:noFill/>
          </a:ln>
        </p:spPr>
      </p:pic>
      <p:sp>
        <p:nvSpPr>
          <p:cNvPr id="111" name="Google Shape;111;p11"/>
          <p:cNvSpPr txBox="1"/>
          <p:nvPr/>
        </p:nvSpPr>
        <p:spPr>
          <a:xfrm>
            <a:off x="731520" y="2331720"/>
            <a:ext cx="2103120" cy="5943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Variable dictionary</a:t>
            </a:r>
            <a:endParaRPr sz="1700" b="0" i="0" u="none" strike="noStrike" cap="none">
              <a:solidFill>
                <a:schemeClr val="dk1"/>
              </a:solidFill>
              <a:latin typeface="Calibri"/>
              <a:ea typeface="Calibri"/>
              <a:cs typeface="Calibri"/>
              <a:sym typeface="Calibri"/>
            </a:endParaRPr>
          </a:p>
        </p:txBody>
      </p:sp>
      <p:sp>
        <p:nvSpPr>
          <p:cNvPr id="112" name="Google Shape;112;p11"/>
          <p:cNvSpPr txBox="1"/>
          <p:nvPr/>
        </p:nvSpPr>
        <p:spPr>
          <a:xfrm>
            <a:off x="731520" y="2971800"/>
            <a:ext cx="2103120" cy="10972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Name, type, length, format, label, derivation, valid values, source reference</a:t>
            </a:r>
            <a:endParaRPr sz="1400" b="0" i="0" u="none" strike="noStrike" cap="none">
              <a:solidFill>
                <a:schemeClr val="dk1"/>
              </a:solidFill>
              <a:latin typeface="Calibri"/>
              <a:ea typeface="Calibri"/>
              <a:cs typeface="Calibri"/>
              <a:sym typeface="Calibri"/>
            </a:endParaRPr>
          </a:p>
        </p:txBody>
      </p:sp>
      <p:sp>
        <p:nvSpPr>
          <p:cNvPr id="113" name="Google Shape;113;p11"/>
          <p:cNvSpPr/>
          <p:nvPr/>
        </p:nvSpPr>
        <p:spPr>
          <a:xfrm>
            <a:off x="3291840" y="1234440"/>
            <a:ext cx="2560320" cy="2926080"/>
          </a:xfrm>
          <a:prstGeom prst="roundRect">
            <a:avLst>
              <a:gd name="adj" fmla="val 285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a:off x="3566160" y="1463040"/>
            <a:ext cx="685800" cy="6858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5" name="Google Shape;115;p11" descr="icon"/>
          <p:cNvPicPr preferRelativeResize="0"/>
          <p:nvPr/>
        </p:nvPicPr>
        <p:blipFill rotWithShape="1">
          <a:blip r:embed="rId4">
            <a:alphaModFix/>
          </a:blip>
          <a:srcRect/>
          <a:stretch/>
        </p:blipFill>
        <p:spPr>
          <a:xfrm>
            <a:off x="3717036" y="1613916"/>
            <a:ext cx="384048" cy="384048"/>
          </a:xfrm>
          <a:prstGeom prst="rect">
            <a:avLst/>
          </a:prstGeom>
          <a:noFill/>
          <a:ln>
            <a:noFill/>
          </a:ln>
        </p:spPr>
      </p:pic>
      <p:sp>
        <p:nvSpPr>
          <p:cNvPr id="116" name="Google Shape;116;p11"/>
          <p:cNvSpPr txBox="1"/>
          <p:nvPr/>
        </p:nvSpPr>
        <p:spPr>
          <a:xfrm>
            <a:off x="3566160" y="2331720"/>
            <a:ext cx="2103120" cy="5943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Macro parameter reference</a:t>
            </a:r>
            <a:endParaRPr sz="1700" b="0" i="0" u="none" strike="noStrike" cap="none">
              <a:solidFill>
                <a:schemeClr val="dk1"/>
              </a:solidFill>
              <a:latin typeface="Calibri"/>
              <a:ea typeface="Calibri"/>
              <a:cs typeface="Calibri"/>
              <a:sym typeface="Calibri"/>
            </a:endParaRPr>
          </a:p>
        </p:txBody>
      </p:sp>
      <p:sp>
        <p:nvSpPr>
          <p:cNvPr id="117" name="Google Shape;117;p11"/>
          <p:cNvSpPr txBox="1"/>
          <p:nvPr/>
        </p:nvSpPr>
        <p:spPr>
          <a:xfrm>
            <a:off x="3566160" y="2971800"/>
            <a:ext cx="2103120" cy="10972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Positional and keyword parameters, defaults, calling programs</a:t>
            </a:r>
            <a:endParaRPr sz="1400" b="0" i="0" u="none" strike="noStrike" cap="none">
              <a:solidFill>
                <a:schemeClr val="dk1"/>
              </a:solidFill>
              <a:latin typeface="Calibri"/>
              <a:ea typeface="Calibri"/>
              <a:cs typeface="Calibri"/>
              <a:sym typeface="Calibri"/>
            </a:endParaRPr>
          </a:p>
        </p:txBody>
      </p:sp>
      <p:sp>
        <p:nvSpPr>
          <p:cNvPr id="118" name="Google Shape;118;p11"/>
          <p:cNvSpPr/>
          <p:nvPr/>
        </p:nvSpPr>
        <p:spPr>
          <a:xfrm>
            <a:off x="6126480" y="1234440"/>
            <a:ext cx="2560320" cy="2926080"/>
          </a:xfrm>
          <a:prstGeom prst="roundRect">
            <a:avLst>
              <a:gd name="adj" fmla="val 285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1"/>
          <p:cNvSpPr/>
          <p:nvPr/>
        </p:nvSpPr>
        <p:spPr>
          <a:xfrm>
            <a:off x="6400800" y="1463040"/>
            <a:ext cx="685800" cy="6858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0" name="Google Shape;120;p11" descr="icon"/>
          <p:cNvPicPr preferRelativeResize="0"/>
          <p:nvPr/>
        </p:nvPicPr>
        <p:blipFill rotWithShape="1">
          <a:blip r:embed="rId5">
            <a:alphaModFix/>
          </a:blip>
          <a:srcRect/>
          <a:stretch/>
        </p:blipFill>
        <p:spPr>
          <a:xfrm>
            <a:off x="6551676" y="1613916"/>
            <a:ext cx="384048" cy="384048"/>
          </a:xfrm>
          <a:prstGeom prst="rect">
            <a:avLst/>
          </a:prstGeom>
          <a:noFill/>
          <a:ln>
            <a:noFill/>
          </a:ln>
        </p:spPr>
      </p:pic>
      <p:sp>
        <p:nvSpPr>
          <p:cNvPr id="121" name="Google Shape;121;p11"/>
          <p:cNvSpPr txBox="1"/>
          <p:nvPr/>
        </p:nvSpPr>
        <p:spPr>
          <a:xfrm>
            <a:off x="6400800" y="2331720"/>
            <a:ext cx="2103120" cy="5943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Program summary</a:t>
            </a:r>
            <a:endParaRPr sz="1700" b="0" i="0" u="none" strike="noStrike" cap="none">
              <a:solidFill>
                <a:schemeClr val="dk1"/>
              </a:solidFill>
              <a:latin typeface="Calibri"/>
              <a:ea typeface="Calibri"/>
              <a:cs typeface="Calibri"/>
              <a:sym typeface="Calibri"/>
            </a:endParaRPr>
          </a:p>
        </p:txBody>
      </p:sp>
      <p:sp>
        <p:nvSpPr>
          <p:cNvPr id="122" name="Google Shape;122;p11"/>
          <p:cNvSpPr txBox="1"/>
          <p:nvPr/>
        </p:nvSpPr>
        <p:spPr>
          <a:xfrm>
            <a:off x="6400800" y="2971800"/>
            <a:ext cx="2103120" cy="10972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Description, input data sets, output data sets</a:t>
            </a:r>
            <a:endParaRPr sz="1400" b="0" i="0" u="none" strike="noStrike" cap="none">
              <a:solidFill>
                <a:schemeClr val="dk1"/>
              </a:solidFill>
              <a:latin typeface="Calibri"/>
              <a:ea typeface="Calibri"/>
              <a:cs typeface="Calibri"/>
              <a:sym typeface="Calibri"/>
            </a:endParaRPr>
          </a:p>
        </p:txBody>
      </p:sp>
      <p:sp>
        <p:nvSpPr>
          <p:cNvPr id="123" name="Google Shape;123;p11"/>
          <p:cNvSpPr txBox="1"/>
          <p:nvPr/>
        </p:nvSpPr>
        <p:spPr>
          <a:xfrm>
            <a:off x="457200" y="4297680"/>
            <a:ext cx="82296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1200"/>
              <a:buFont typeface="Calibri"/>
              <a:buNone/>
            </a:pPr>
            <a:r>
              <a:rPr lang="en-US" sz="1200" b="0" i="1" u="none" strike="noStrike" cap="none">
                <a:solidFill>
                  <a:schemeClr val="accent6"/>
                </a:solidFill>
                <a:latin typeface="Calibri"/>
                <a:ea typeface="Calibri"/>
                <a:cs typeface="Calibri"/>
                <a:sym typeface="Calibri"/>
              </a:rPr>
              <a:t>Same schema for all three configurations, so differences come from the model and its grounding</a:t>
            </a:r>
            <a:endParaRPr sz="1200" b="0" i="0" u="none" strike="noStrike" cap="none">
              <a:solidFill>
                <a:schemeClr val="dk1"/>
              </a:solidFill>
              <a:latin typeface="Calibri"/>
              <a:ea typeface="Calibri"/>
              <a:cs typeface="Calibri"/>
              <a:sym typeface="Calibri"/>
            </a:endParaRPr>
          </a:p>
        </p:txBody>
      </p:sp>
      <p:sp>
        <p:nvSpPr>
          <p:cNvPr id="124" name="Google Shape;124;p11"/>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5</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2"/>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One rule does most of the work</a:t>
            </a:r>
            <a:endParaRPr sz="3000"/>
          </a:p>
        </p:txBody>
      </p:sp>
      <p:sp>
        <p:nvSpPr>
          <p:cNvPr id="131" name="Google Shape;131;p12"/>
          <p:cNvSpPr/>
          <p:nvPr/>
        </p:nvSpPr>
        <p:spPr>
          <a:xfrm>
            <a:off x="457200" y="1188720"/>
            <a:ext cx="4206240" cy="2651760"/>
          </a:xfrm>
          <a:prstGeom prst="roundRect">
            <a:avLst>
              <a:gd name="adj" fmla="val 2759"/>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2"/>
          <p:cNvSpPr txBox="1"/>
          <p:nvPr/>
        </p:nvSpPr>
        <p:spPr>
          <a:xfrm>
            <a:off x="640080" y="1325880"/>
            <a:ext cx="3840480" cy="23774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2"/>
              </a:buClr>
              <a:buSzPts val="1300"/>
              <a:buFont typeface="Courier New"/>
              <a:buNone/>
            </a:pPr>
            <a:r>
              <a:rPr lang="en-US" sz="1300" b="0" i="0" u="none" strike="noStrike" cap="none">
                <a:solidFill>
                  <a:schemeClr val="lt2"/>
                </a:solidFill>
                <a:latin typeface="Courier New"/>
                <a:ea typeface="Courier New"/>
                <a:cs typeface="Courier New"/>
                <a:sym typeface="Courier New"/>
              </a:rPr>
              <a:t>{</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300"/>
              <a:buFont typeface="Courier New"/>
              <a:buNone/>
            </a:pPr>
            <a:r>
              <a:rPr lang="en-US" sz="1300" b="0" i="0" u="none" strike="noStrike" cap="none">
                <a:solidFill>
                  <a:schemeClr val="lt2"/>
                </a:solidFill>
                <a:latin typeface="Courier New"/>
                <a:ea typeface="Courier New"/>
                <a:cs typeface="Courier New"/>
                <a:sym typeface="Courier New"/>
              </a:rPr>
              <a:t>  "name": "EM",</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300"/>
              <a:buFont typeface="Courier New"/>
              <a:buNone/>
            </a:pPr>
            <a:r>
              <a:rPr lang="en-US" sz="1300" b="0" i="0" u="none" strike="noStrike" cap="none">
                <a:solidFill>
                  <a:schemeClr val="lt2"/>
                </a:solidFill>
                <a:latin typeface="Courier New"/>
                <a:ea typeface="Courier New"/>
                <a:cs typeface="Courier New"/>
                <a:sym typeface="Courier New"/>
              </a:rPr>
              <a:t>  "type": "Num", "length": 8,</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300"/>
              <a:buFont typeface="Courier New"/>
              <a:buNone/>
            </a:pPr>
            <a:r>
              <a:rPr lang="en-US" sz="1300" b="0" i="0" u="none" strike="noStrike" cap="none">
                <a:solidFill>
                  <a:schemeClr val="lt2"/>
                </a:solidFill>
                <a:latin typeface="Courier New"/>
                <a:ea typeface="Courier New"/>
                <a:cs typeface="Courier New"/>
                <a:sym typeface="Courier New"/>
              </a:rPr>
              <a:t>  "derivation": "EM = sum(of e1-e3)",</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300"/>
              <a:buFont typeface="Courier New"/>
              <a:buNone/>
            </a:pPr>
            <a:r>
              <a:rPr lang="en-US" sz="1300" b="0" i="0" u="none" strike="noStrike" cap="none">
                <a:solidFill>
                  <a:schemeClr val="lt2"/>
                </a:solidFill>
                <a:latin typeface="Courier New"/>
                <a:ea typeface="Courier New"/>
                <a:cs typeface="Courier New"/>
                <a:sym typeface="Courier New"/>
              </a:rPr>
              <a:t>  "source": "est.sas line 142",</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300"/>
              <a:buFont typeface="Courier New"/>
              <a:buNone/>
            </a:pPr>
            <a:r>
              <a:rPr lang="en-US" sz="1300" b="0" i="0" u="none" strike="noStrike" cap="none">
                <a:solidFill>
                  <a:schemeClr val="lt2"/>
                </a:solidFill>
                <a:latin typeface="Courier New"/>
                <a:ea typeface="Courier New"/>
                <a:cs typeface="Courier New"/>
                <a:sym typeface="Courier New"/>
              </a:rPr>
              <a:t>  "label": "UNKNOWN",</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300"/>
              <a:buFont typeface="Courier New"/>
              <a:buNone/>
            </a:pPr>
            <a:r>
              <a:rPr lang="en-US" sz="1300" b="0" i="0" u="none" strike="noStrike" cap="none">
                <a:solidFill>
                  <a:schemeClr val="lt2"/>
                </a:solidFill>
                <a:latin typeface="Courier New"/>
                <a:ea typeface="Courier New"/>
                <a:cs typeface="Courier New"/>
                <a:sym typeface="Courier New"/>
              </a:rPr>
              <a:t>  "valid_values": "UNKNOWN"</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300"/>
              <a:buFont typeface="Courier New"/>
              <a:buNone/>
            </a:pPr>
            <a:r>
              <a:rPr lang="en-US" sz="1300" b="0" i="0" u="none" strike="noStrike" cap="none">
                <a:solidFill>
                  <a:schemeClr val="lt2"/>
                </a:solidFill>
                <a:latin typeface="Courier New"/>
                <a:ea typeface="Courier New"/>
                <a:cs typeface="Courier New"/>
                <a:sym typeface="Courier New"/>
              </a:rPr>
              <a:t>}</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accent1"/>
              </a:buClr>
              <a:buSzPts val="1300"/>
              <a:buFont typeface="Courier New"/>
              <a:buNone/>
            </a:pPr>
            <a:r>
              <a:rPr lang="en-US" sz="1300" b="0" i="0" u="none" strike="noStrike" cap="none">
                <a:solidFill>
                  <a:schemeClr val="accent1"/>
                </a:solidFill>
                <a:latin typeface="Courier New"/>
                <a:ea typeface="Courier New"/>
                <a:cs typeface="Courier New"/>
                <a:sym typeface="Courier New"/>
              </a:rPr>
              <a:t># Illustrative variable dictionary entry</a:t>
            </a:r>
            <a:endParaRPr sz="1300" b="0" i="0" u="none" strike="noStrike" cap="none">
              <a:solidFill>
                <a:schemeClr val="dk1"/>
              </a:solidFill>
              <a:latin typeface="Calibri"/>
              <a:ea typeface="Calibri"/>
              <a:cs typeface="Calibri"/>
              <a:sym typeface="Calibri"/>
            </a:endParaRPr>
          </a:p>
        </p:txBody>
      </p:sp>
      <p:sp>
        <p:nvSpPr>
          <p:cNvPr id="133" name="Google Shape;133;p12"/>
          <p:cNvSpPr txBox="1"/>
          <p:nvPr/>
        </p:nvSpPr>
        <p:spPr>
          <a:xfrm>
            <a:off x="5029200" y="1188720"/>
            <a:ext cx="3657600" cy="8229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0" i="0" u="none" strike="noStrike" cap="none">
                <a:solidFill>
                  <a:schemeClr val="dk1"/>
                </a:solidFill>
                <a:latin typeface="Calibri"/>
                <a:ea typeface="Calibri"/>
                <a:cs typeface="Calibri"/>
                <a:sym typeface="Calibri"/>
              </a:rPr>
              <a:t>Every field carries a required </a:t>
            </a:r>
            <a:r>
              <a:rPr lang="en-US" sz="1800" b="1" i="0" u="none" strike="noStrike" cap="none">
                <a:solidFill>
                  <a:schemeClr val="dk1"/>
                </a:solidFill>
                <a:latin typeface="Calibri"/>
                <a:ea typeface="Calibri"/>
                <a:cs typeface="Calibri"/>
                <a:sym typeface="Calibri"/>
              </a:rPr>
              <a:t>source</a:t>
            </a:r>
            <a:r>
              <a:rPr lang="en-US" sz="1800" b="0" i="0" u="none" strike="noStrike" cap="none">
                <a:solidFill>
                  <a:schemeClr val="dk1"/>
                </a:solidFill>
                <a:latin typeface="Calibri"/>
                <a:ea typeface="Calibri"/>
                <a:cs typeface="Calibri"/>
                <a:sym typeface="Calibri"/>
              </a:rPr>
              <a:t>. No defensible source → emit </a:t>
            </a:r>
            <a:r>
              <a:rPr lang="en-US" sz="1800" b="1" i="0" u="none" strike="noStrike" cap="none">
                <a:solidFill>
                  <a:schemeClr val="accent1"/>
                </a:solidFill>
                <a:latin typeface="Calibri"/>
                <a:ea typeface="Calibri"/>
                <a:cs typeface="Calibri"/>
                <a:sym typeface="Calibri"/>
              </a:rPr>
              <a:t>UNKNOWN</a:t>
            </a:r>
            <a:r>
              <a:rPr lang="en-US" sz="1800" b="0" i="0" u="none" strike="noStrike" cap="none">
                <a:solidFill>
                  <a:schemeClr val="dk1"/>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
        <p:nvSpPr>
          <p:cNvPr id="134" name="Google Shape;134;p12"/>
          <p:cNvSpPr/>
          <p:nvPr/>
        </p:nvSpPr>
        <p:spPr>
          <a:xfrm>
            <a:off x="5029200" y="2194560"/>
            <a:ext cx="411480" cy="41148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2"/>
          <p:cNvSpPr txBox="1"/>
          <p:nvPr/>
        </p:nvSpPr>
        <p:spPr>
          <a:xfrm>
            <a:off x="5029200" y="2194560"/>
            <a:ext cx="41148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400"/>
              <a:buFont typeface="Calibri"/>
              <a:buNone/>
            </a:pPr>
            <a:r>
              <a:rPr lang="en-US" sz="1400" b="1" i="0" u="none" strike="noStrike" cap="none">
                <a:solidFill>
                  <a:schemeClr val="lt1"/>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136" name="Google Shape;136;p12"/>
          <p:cNvSpPr txBox="1"/>
          <p:nvPr/>
        </p:nvSpPr>
        <p:spPr>
          <a:xfrm>
            <a:off x="5577840" y="2176272"/>
            <a:ext cx="3108960" cy="6400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Detectable: </a:t>
            </a:r>
            <a:r>
              <a:rPr lang="en-US" sz="1400" b="0" i="0" u="none" strike="noStrike" cap="none">
                <a:solidFill>
                  <a:schemeClr val="dk1"/>
                </a:solidFill>
                <a:latin typeface="Calibri"/>
                <a:ea typeface="Calibri"/>
                <a:cs typeface="Calibri"/>
                <a:sym typeface="Calibri"/>
              </a:rPr>
              <a:t>Guessing becomes visible and machine-checkable</a:t>
            </a:r>
            <a:endParaRPr sz="1400" b="0" i="0" u="none" strike="noStrike" cap="none">
              <a:solidFill>
                <a:schemeClr val="dk1"/>
              </a:solidFill>
              <a:latin typeface="Calibri"/>
              <a:ea typeface="Calibri"/>
              <a:cs typeface="Calibri"/>
              <a:sym typeface="Calibri"/>
            </a:endParaRPr>
          </a:p>
        </p:txBody>
      </p:sp>
      <p:sp>
        <p:nvSpPr>
          <p:cNvPr id="137" name="Google Shape;137;p12"/>
          <p:cNvSpPr/>
          <p:nvPr/>
        </p:nvSpPr>
        <p:spPr>
          <a:xfrm>
            <a:off x="5029200" y="2880360"/>
            <a:ext cx="411480" cy="41148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2"/>
          <p:cNvSpPr txBox="1"/>
          <p:nvPr/>
        </p:nvSpPr>
        <p:spPr>
          <a:xfrm>
            <a:off x="5029200" y="2880360"/>
            <a:ext cx="41148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400"/>
              <a:buFont typeface="Calibri"/>
              <a:buNone/>
            </a:pPr>
            <a:r>
              <a:rPr lang="en-US" sz="1400" b="1" i="0" u="none" strike="noStrike" cap="none">
                <a:solidFill>
                  <a:schemeClr val="lt1"/>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139" name="Google Shape;139;p12"/>
          <p:cNvSpPr txBox="1"/>
          <p:nvPr/>
        </p:nvSpPr>
        <p:spPr>
          <a:xfrm>
            <a:off x="5577840" y="2862072"/>
            <a:ext cx="3108960" cy="6400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Reviewable: </a:t>
            </a:r>
            <a:r>
              <a:rPr lang="en-US" sz="1400" b="0" i="0" u="none" strike="noStrike" cap="none">
                <a:solidFill>
                  <a:schemeClr val="dk1"/>
                </a:solidFill>
                <a:latin typeface="Calibri"/>
                <a:ea typeface="Calibri"/>
                <a:cs typeface="Calibri"/>
                <a:sym typeface="Calibri"/>
              </a:rPr>
              <a:t>Reviewers get a short list of exactly where to look</a:t>
            </a:r>
            <a:endParaRPr sz="1400" b="0" i="0" u="none" strike="noStrike" cap="none">
              <a:solidFill>
                <a:schemeClr val="dk1"/>
              </a:solidFill>
              <a:latin typeface="Calibri"/>
              <a:ea typeface="Calibri"/>
              <a:cs typeface="Calibri"/>
              <a:sym typeface="Calibri"/>
            </a:endParaRPr>
          </a:p>
        </p:txBody>
      </p:sp>
      <p:sp>
        <p:nvSpPr>
          <p:cNvPr id="140" name="Google Shape;140;p12"/>
          <p:cNvSpPr/>
          <p:nvPr/>
        </p:nvSpPr>
        <p:spPr>
          <a:xfrm>
            <a:off x="5029200" y="3566160"/>
            <a:ext cx="411480" cy="41148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2"/>
          <p:cNvSpPr txBox="1"/>
          <p:nvPr/>
        </p:nvSpPr>
        <p:spPr>
          <a:xfrm>
            <a:off x="5029200" y="3566160"/>
            <a:ext cx="41148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400"/>
              <a:buFont typeface="Calibri"/>
              <a:buNone/>
            </a:pPr>
            <a:r>
              <a:rPr lang="en-US" sz="1400" b="1" i="0" u="none" strike="noStrike" cap="none">
                <a:solidFill>
                  <a:schemeClr val="lt1"/>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142" name="Google Shape;142;p12"/>
          <p:cNvSpPr txBox="1"/>
          <p:nvPr/>
        </p:nvSpPr>
        <p:spPr>
          <a:xfrm>
            <a:off x="5577840" y="3547872"/>
            <a:ext cx="3108960" cy="6400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Honest: </a:t>
            </a:r>
            <a:r>
              <a:rPr lang="en-US" sz="1400" b="0" i="0" u="none" strike="noStrike" cap="none">
                <a:solidFill>
                  <a:schemeClr val="dk1"/>
                </a:solidFill>
                <a:latin typeface="Calibri"/>
                <a:ea typeface="Calibri"/>
                <a:cs typeface="Calibri"/>
                <a:sym typeface="Calibri"/>
              </a:rPr>
              <a:t>UNKNOWN is a correct answer; a confident guess is an error</a:t>
            </a:r>
            <a:endParaRPr sz="1400" b="0" i="0" u="none" strike="noStrike" cap="none">
              <a:solidFill>
                <a:schemeClr val="dk1"/>
              </a:solidFill>
              <a:latin typeface="Calibri"/>
              <a:ea typeface="Calibri"/>
              <a:cs typeface="Calibri"/>
              <a:sym typeface="Calibri"/>
            </a:endParaRPr>
          </a:p>
        </p:txBody>
      </p:sp>
      <p:sp>
        <p:nvSpPr>
          <p:cNvPr id="143" name="Google Shape;143;p12"/>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6</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3"/>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Two ways to wire a model into SAS</a:t>
            </a:r>
            <a:endParaRPr sz="3000"/>
          </a:p>
        </p:txBody>
      </p:sp>
      <p:sp>
        <p:nvSpPr>
          <p:cNvPr id="150" name="Google Shape;150;p13"/>
          <p:cNvSpPr/>
          <p:nvPr/>
        </p:nvSpPr>
        <p:spPr>
          <a:xfrm>
            <a:off x="457200" y="1188720"/>
            <a:ext cx="3931920" cy="2697480"/>
          </a:xfrm>
          <a:prstGeom prst="roundRect">
            <a:avLst>
              <a:gd name="adj" fmla="val 271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3"/>
          <p:cNvSpPr/>
          <p:nvPr/>
        </p:nvSpPr>
        <p:spPr>
          <a:xfrm>
            <a:off x="731520" y="1371600"/>
            <a:ext cx="548640" cy="54864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2" name="Google Shape;152;p13" descr="icon"/>
          <p:cNvPicPr preferRelativeResize="0"/>
          <p:nvPr/>
        </p:nvPicPr>
        <p:blipFill rotWithShape="1">
          <a:blip r:embed="rId3">
            <a:alphaModFix/>
          </a:blip>
          <a:srcRect/>
          <a:stretch/>
        </p:blipFill>
        <p:spPr>
          <a:xfrm>
            <a:off x="852221" y="1492301"/>
            <a:ext cx="307238" cy="307238"/>
          </a:xfrm>
          <a:prstGeom prst="rect">
            <a:avLst/>
          </a:prstGeom>
          <a:noFill/>
          <a:ln>
            <a:noFill/>
          </a:ln>
        </p:spPr>
      </p:pic>
      <p:sp>
        <p:nvSpPr>
          <p:cNvPr id="153" name="Google Shape;153;p13"/>
          <p:cNvSpPr txBox="1"/>
          <p:nvPr/>
        </p:nvSpPr>
        <p:spPr>
          <a:xfrm>
            <a:off x="1463040" y="1371600"/>
            <a:ext cx="274320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PROC PYTHON</a:t>
            </a:r>
            <a:endParaRPr sz="1800" b="0" i="0" u="none" strike="noStrike" cap="none">
              <a:solidFill>
                <a:schemeClr val="dk1"/>
              </a:solidFill>
              <a:latin typeface="Calibri"/>
              <a:ea typeface="Calibri"/>
              <a:cs typeface="Calibri"/>
              <a:sym typeface="Calibri"/>
            </a:endParaRPr>
          </a:p>
        </p:txBody>
      </p:sp>
      <p:sp>
        <p:nvSpPr>
          <p:cNvPr id="154" name="Google Shape;154;p13"/>
          <p:cNvSpPr txBox="1"/>
          <p:nvPr/>
        </p:nvSpPr>
        <p:spPr>
          <a:xfrm>
            <a:off x="1463040" y="1691640"/>
            <a:ext cx="27432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1300"/>
              <a:buFont typeface="Calibri"/>
              <a:buNone/>
            </a:pPr>
            <a:r>
              <a:rPr lang="en-US" sz="1300" b="0" i="0" u="none" strike="noStrike" cap="none">
                <a:solidFill>
                  <a:schemeClr val="accent6"/>
                </a:solidFill>
                <a:latin typeface="Calibri"/>
                <a:ea typeface="Calibri"/>
                <a:cs typeface="Calibri"/>
                <a:sym typeface="Calibri"/>
              </a:rPr>
              <a:t>SAS in control</a:t>
            </a:r>
            <a:endParaRPr sz="1300" b="0" i="0" u="none" strike="noStrike" cap="none">
              <a:solidFill>
                <a:schemeClr val="dk1"/>
              </a:solidFill>
              <a:latin typeface="Calibri"/>
              <a:ea typeface="Calibri"/>
              <a:cs typeface="Calibri"/>
              <a:sym typeface="Calibri"/>
            </a:endParaRPr>
          </a:p>
        </p:txBody>
      </p:sp>
      <p:sp>
        <p:nvSpPr>
          <p:cNvPr id="155" name="Google Shape;155;p13"/>
          <p:cNvSpPr txBox="1"/>
          <p:nvPr/>
        </p:nvSpPr>
        <p:spPr>
          <a:xfrm>
            <a:off x="731520" y="2240280"/>
            <a:ext cx="3474720" cy="1920240"/>
          </a:xfrm>
          <a:prstGeom prst="rect">
            <a:avLst/>
          </a:prstGeom>
          <a:noFill/>
          <a:ln>
            <a:noFill/>
          </a:ln>
        </p:spPr>
        <p:txBody>
          <a:bodyPr spcFirstLastPara="1" wrap="square" lIns="0" tIns="0" rIns="0" bIns="0" anchor="t" anchorCtr="0">
            <a:noAutofit/>
          </a:bodyPr>
          <a:lstStyle/>
          <a:p>
            <a:pPr marL="342900" marR="0" lvl="0" indent="-342900" algn="l" rtl="0">
              <a:spcBef>
                <a:spcPts val="0"/>
              </a:spcBef>
              <a:spcAft>
                <a:spcPts val="0"/>
              </a:spcAft>
              <a:buClr>
                <a:schemeClr val="dk1"/>
              </a:buClr>
              <a:buSzPts val="1400"/>
              <a:buFont typeface="Calibri"/>
              <a:buChar char="•"/>
            </a:pPr>
            <a:r>
              <a:rPr lang="en-US" sz="1400" b="0" i="0" u="none" strike="noStrike" cap="none">
                <a:solidFill>
                  <a:schemeClr val="dk1"/>
                </a:solidFill>
                <a:latin typeface="Calibri"/>
                <a:ea typeface="Calibri"/>
                <a:cs typeface="Calibri"/>
                <a:sym typeface="Calibri"/>
              </a:rPr>
              <a:t>SAS program calls Python</a:t>
            </a:r>
            <a:endParaRPr sz="14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chemeClr val="dk1"/>
              </a:buClr>
              <a:buSzPts val="1400"/>
              <a:buFont typeface="Calibri"/>
              <a:buChar char="•"/>
            </a:pPr>
            <a:r>
              <a:rPr lang="en-US" sz="1400" b="0" i="0" u="none" strike="noStrike" cap="none">
                <a:solidFill>
                  <a:schemeClr val="dk1"/>
                </a:solidFill>
                <a:latin typeface="Calibri"/>
                <a:ea typeface="Calibri"/>
                <a:cs typeface="Calibri"/>
                <a:sym typeface="Calibri"/>
              </a:rPr>
              <a:t>Python calls the model</a:t>
            </a:r>
            <a:endParaRPr sz="14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chemeClr val="dk1"/>
              </a:buClr>
              <a:buSzPts val="1400"/>
              <a:buFont typeface="Calibri"/>
              <a:buChar char="•"/>
            </a:pPr>
            <a:r>
              <a:rPr lang="en-US" sz="1400" b="0" i="0" u="none" strike="noStrike" cap="none">
                <a:solidFill>
                  <a:schemeClr val="dk1"/>
                </a:solidFill>
                <a:latin typeface="Calibri"/>
                <a:ea typeface="Calibri"/>
                <a:cs typeface="Calibri"/>
                <a:sym typeface="Calibri"/>
              </a:rPr>
              <a:t>Response returns to the DATA step</a:t>
            </a:r>
            <a:endParaRPr sz="14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chemeClr val="dk1"/>
              </a:buClr>
              <a:buSzPts val="1400"/>
              <a:buFont typeface="Calibri"/>
              <a:buChar char="•"/>
            </a:pPr>
            <a:r>
              <a:rPr lang="en-US" sz="1400" b="0" i="0" u="none" strike="noStrike" cap="none">
                <a:solidFill>
                  <a:schemeClr val="dk1"/>
                </a:solidFill>
                <a:latin typeface="Calibri"/>
                <a:ea typeface="Calibri"/>
                <a:cs typeface="Calibri"/>
                <a:sym typeface="Calibri"/>
              </a:rPr>
              <a:t>Requires SAS 9.4 M9 or later</a:t>
            </a:r>
            <a:endParaRPr sz="1400" b="0" i="0" u="none" strike="noStrike" cap="none">
              <a:solidFill>
                <a:schemeClr val="dk1"/>
              </a:solidFill>
              <a:latin typeface="Calibri"/>
              <a:ea typeface="Calibri"/>
              <a:cs typeface="Calibri"/>
              <a:sym typeface="Calibri"/>
            </a:endParaRPr>
          </a:p>
        </p:txBody>
      </p:sp>
      <p:sp>
        <p:nvSpPr>
          <p:cNvPr id="156" name="Google Shape;156;p13"/>
          <p:cNvSpPr/>
          <p:nvPr/>
        </p:nvSpPr>
        <p:spPr>
          <a:xfrm>
            <a:off x="4754880" y="1188720"/>
            <a:ext cx="3931920" cy="2697480"/>
          </a:xfrm>
          <a:prstGeom prst="roundRect">
            <a:avLst>
              <a:gd name="adj" fmla="val 271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3"/>
          <p:cNvSpPr/>
          <p:nvPr/>
        </p:nvSpPr>
        <p:spPr>
          <a:xfrm>
            <a:off x="5029200" y="1371600"/>
            <a:ext cx="548640" cy="54864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8" name="Google Shape;158;p13" descr="icon"/>
          <p:cNvPicPr preferRelativeResize="0"/>
          <p:nvPr/>
        </p:nvPicPr>
        <p:blipFill rotWithShape="1">
          <a:blip r:embed="rId4">
            <a:alphaModFix/>
          </a:blip>
          <a:srcRect/>
          <a:stretch/>
        </p:blipFill>
        <p:spPr>
          <a:xfrm>
            <a:off x="5149901" y="1492301"/>
            <a:ext cx="307238" cy="307238"/>
          </a:xfrm>
          <a:prstGeom prst="rect">
            <a:avLst/>
          </a:prstGeom>
          <a:noFill/>
          <a:ln>
            <a:noFill/>
          </a:ln>
        </p:spPr>
      </p:pic>
      <p:sp>
        <p:nvSpPr>
          <p:cNvPr id="159" name="Google Shape;159;p13"/>
          <p:cNvSpPr txBox="1"/>
          <p:nvPr/>
        </p:nvSpPr>
        <p:spPr>
          <a:xfrm>
            <a:off x="5760720" y="1371600"/>
            <a:ext cx="274320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SASPy</a:t>
            </a:r>
            <a:endParaRPr sz="1800" b="0" i="0" u="none" strike="noStrike" cap="none">
              <a:solidFill>
                <a:schemeClr val="dk1"/>
              </a:solidFill>
              <a:latin typeface="Calibri"/>
              <a:ea typeface="Calibri"/>
              <a:cs typeface="Calibri"/>
              <a:sym typeface="Calibri"/>
            </a:endParaRPr>
          </a:p>
        </p:txBody>
      </p:sp>
      <p:sp>
        <p:nvSpPr>
          <p:cNvPr id="160" name="Google Shape;160;p13"/>
          <p:cNvSpPr txBox="1"/>
          <p:nvPr/>
        </p:nvSpPr>
        <p:spPr>
          <a:xfrm>
            <a:off x="5760720" y="1691640"/>
            <a:ext cx="27432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1"/>
              </a:buClr>
              <a:buSzPts val="1300"/>
              <a:buFont typeface="Calibri"/>
              <a:buNone/>
            </a:pPr>
            <a:r>
              <a:rPr lang="en-US" sz="1300" b="1" i="0" u="none" strike="noStrike" cap="none">
                <a:solidFill>
                  <a:schemeClr val="accent1"/>
                </a:solidFill>
                <a:latin typeface="Calibri"/>
                <a:ea typeface="Calibri"/>
                <a:cs typeface="Calibri"/>
                <a:sym typeface="Calibri"/>
              </a:rPr>
              <a:t>Python in control  ·  chosen</a:t>
            </a:r>
            <a:endParaRPr sz="1300" b="0" i="0" u="none" strike="noStrike" cap="none">
              <a:solidFill>
                <a:schemeClr val="dk1"/>
              </a:solidFill>
              <a:latin typeface="Calibri"/>
              <a:ea typeface="Calibri"/>
              <a:cs typeface="Calibri"/>
              <a:sym typeface="Calibri"/>
            </a:endParaRPr>
          </a:p>
        </p:txBody>
      </p:sp>
      <p:sp>
        <p:nvSpPr>
          <p:cNvPr id="161" name="Google Shape;161;p13"/>
          <p:cNvSpPr txBox="1"/>
          <p:nvPr/>
        </p:nvSpPr>
        <p:spPr>
          <a:xfrm>
            <a:off x="5029200" y="2240280"/>
            <a:ext cx="3474720" cy="1920240"/>
          </a:xfrm>
          <a:prstGeom prst="rect">
            <a:avLst/>
          </a:prstGeom>
          <a:noFill/>
          <a:ln>
            <a:noFill/>
          </a:ln>
        </p:spPr>
        <p:txBody>
          <a:bodyPr spcFirstLastPara="1" wrap="square" lIns="0" tIns="0" rIns="0" bIns="0" anchor="t" anchorCtr="0">
            <a:noAutofit/>
          </a:bodyPr>
          <a:lstStyle/>
          <a:p>
            <a:pPr marL="342900" marR="0" lvl="0" indent="-342900" algn="l" rtl="0">
              <a:spcBef>
                <a:spcPts val="0"/>
              </a:spcBef>
              <a:spcAft>
                <a:spcPts val="0"/>
              </a:spcAft>
              <a:buClr>
                <a:schemeClr val="dk1"/>
              </a:buClr>
              <a:buSzPts val="1400"/>
              <a:buFont typeface="Calibri"/>
              <a:buChar char="•"/>
            </a:pPr>
            <a:r>
              <a:rPr lang="en-US" sz="1400" b="0" i="0" u="none" strike="noStrike" cap="none">
                <a:solidFill>
                  <a:schemeClr val="dk1"/>
                </a:solidFill>
                <a:latin typeface="Calibri"/>
                <a:ea typeface="Calibri"/>
                <a:cs typeface="Calibri"/>
                <a:sym typeface="Calibri"/>
              </a:rPr>
              <a:t>Python orchestrator drives a SAS session</a:t>
            </a:r>
            <a:endParaRPr sz="14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chemeClr val="dk1"/>
              </a:buClr>
              <a:buSzPts val="1400"/>
              <a:buFont typeface="Calibri"/>
              <a:buChar char="•"/>
            </a:pPr>
            <a:r>
              <a:rPr lang="en-US" sz="1400" b="0" i="0" u="none" strike="noStrike" cap="none">
                <a:solidFill>
                  <a:schemeClr val="dk1"/>
                </a:solidFill>
                <a:latin typeface="Calibri"/>
                <a:ea typeface="Calibri"/>
                <a:cs typeface="Calibri"/>
                <a:sym typeface="Calibri"/>
              </a:rPr>
              <a:t>Works with your existing SAS engine</a:t>
            </a:r>
            <a:endParaRPr sz="14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chemeClr val="dk1"/>
              </a:buClr>
              <a:buSzPts val="1400"/>
              <a:buFont typeface="Calibri"/>
              <a:buChar char="•"/>
            </a:pPr>
            <a:r>
              <a:rPr lang="en-US" sz="1400" b="0" i="0" u="none" strike="noStrike" cap="none">
                <a:solidFill>
                  <a:schemeClr val="dk1"/>
                </a:solidFill>
                <a:latin typeface="Calibri"/>
                <a:ea typeface="Calibri"/>
                <a:cs typeface="Calibri"/>
                <a:sym typeface="Calibri"/>
              </a:rPr>
              <a:t>Writes SAS data sets directly</a:t>
            </a:r>
            <a:endParaRPr sz="14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chemeClr val="dk1"/>
              </a:buClr>
              <a:buSzPts val="1400"/>
              <a:buFont typeface="Calibri"/>
              <a:buChar char="•"/>
            </a:pPr>
            <a:r>
              <a:rPr lang="en-US" sz="1400" b="0" i="0" u="none" strike="noStrike" cap="none">
                <a:solidFill>
                  <a:schemeClr val="dk1"/>
                </a:solidFill>
                <a:latin typeface="Calibri"/>
                <a:ea typeface="Calibri"/>
                <a:cs typeface="Calibri"/>
                <a:sym typeface="Calibri"/>
              </a:rPr>
              <a:t>No M9 requirement: more reproducible</a:t>
            </a:r>
            <a:endParaRPr sz="1400" b="0" i="0" u="none" strike="noStrike" cap="none">
              <a:solidFill>
                <a:schemeClr val="dk1"/>
              </a:solidFill>
              <a:latin typeface="Calibri"/>
              <a:ea typeface="Calibri"/>
              <a:cs typeface="Calibri"/>
              <a:sym typeface="Calibri"/>
            </a:endParaRPr>
          </a:p>
        </p:txBody>
      </p:sp>
      <p:sp>
        <p:nvSpPr>
          <p:cNvPr id="162" name="Google Shape;162;p13"/>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7</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4"/>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SAS stays the system of record</a:t>
            </a:r>
            <a:endParaRPr sz="3000"/>
          </a:p>
        </p:txBody>
      </p:sp>
      <p:sp>
        <p:nvSpPr>
          <p:cNvPr id="169" name="Google Shape;169;p14"/>
          <p:cNvSpPr/>
          <p:nvPr/>
        </p:nvSpPr>
        <p:spPr>
          <a:xfrm>
            <a:off x="457200" y="1463040"/>
            <a:ext cx="1335024" cy="2011680"/>
          </a:xfrm>
          <a:prstGeom prst="roundRect">
            <a:avLst>
              <a:gd name="adj" fmla="val 5479"/>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4"/>
          <p:cNvSpPr/>
          <p:nvPr/>
        </p:nvSpPr>
        <p:spPr>
          <a:xfrm>
            <a:off x="850392" y="1645920"/>
            <a:ext cx="548640" cy="54864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1" name="Google Shape;171;p14" descr="icon"/>
          <p:cNvPicPr preferRelativeResize="0"/>
          <p:nvPr/>
        </p:nvPicPr>
        <p:blipFill rotWithShape="1">
          <a:blip r:embed="rId3">
            <a:alphaModFix/>
          </a:blip>
          <a:srcRect/>
          <a:stretch/>
        </p:blipFill>
        <p:spPr>
          <a:xfrm>
            <a:off x="971093" y="1766621"/>
            <a:ext cx="307238" cy="307238"/>
          </a:xfrm>
          <a:prstGeom prst="rect">
            <a:avLst/>
          </a:prstGeom>
          <a:noFill/>
          <a:ln>
            <a:noFill/>
          </a:ln>
        </p:spPr>
      </p:pic>
      <p:sp>
        <p:nvSpPr>
          <p:cNvPr id="172" name="Google Shape;172;p14"/>
          <p:cNvSpPr txBox="1"/>
          <p:nvPr/>
        </p:nvSpPr>
        <p:spPr>
          <a:xfrm>
            <a:off x="566928" y="2377440"/>
            <a:ext cx="1115568" cy="100584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Legacy .sas source + metadata</a:t>
            </a:r>
            <a:endParaRPr sz="1400" b="0" i="0" u="none" strike="noStrike" cap="none">
              <a:solidFill>
                <a:schemeClr val="dk1"/>
              </a:solidFill>
              <a:latin typeface="Calibri"/>
              <a:ea typeface="Calibri"/>
              <a:cs typeface="Calibri"/>
              <a:sym typeface="Calibri"/>
            </a:endParaRPr>
          </a:p>
        </p:txBody>
      </p:sp>
      <p:sp>
        <p:nvSpPr>
          <p:cNvPr id="173" name="Google Shape;173;p14"/>
          <p:cNvSpPr/>
          <p:nvPr/>
        </p:nvSpPr>
        <p:spPr>
          <a:xfrm>
            <a:off x="1856232" y="2331720"/>
            <a:ext cx="237744" cy="274320"/>
          </a:xfrm>
          <a:prstGeom prst="rightArrow">
            <a:avLst>
              <a:gd name="adj1" fmla="val 50000"/>
              <a:gd name="adj2"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4"/>
          <p:cNvSpPr/>
          <p:nvPr/>
        </p:nvSpPr>
        <p:spPr>
          <a:xfrm>
            <a:off x="2157984" y="1463040"/>
            <a:ext cx="1335024" cy="2011680"/>
          </a:xfrm>
          <a:prstGeom prst="roundRect">
            <a:avLst>
              <a:gd name="adj" fmla="val 5479"/>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4"/>
          <p:cNvSpPr/>
          <p:nvPr/>
        </p:nvSpPr>
        <p:spPr>
          <a:xfrm>
            <a:off x="2551176" y="1645920"/>
            <a:ext cx="548640" cy="54864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6" name="Google Shape;176;p14" descr="icon"/>
          <p:cNvPicPr preferRelativeResize="0"/>
          <p:nvPr/>
        </p:nvPicPr>
        <p:blipFill rotWithShape="1">
          <a:blip r:embed="rId4">
            <a:alphaModFix/>
          </a:blip>
          <a:srcRect/>
          <a:stretch/>
        </p:blipFill>
        <p:spPr>
          <a:xfrm>
            <a:off x="2671877" y="1766621"/>
            <a:ext cx="307238" cy="307238"/>
          </a:xfrm>
          <a:prstGeom prst="rect">
            <a:avLst/>
          </a:prstGeom>
          <a:noFill/>
          <a:ln>
            <a:noFill/>
          </a:ln>
        </p:spPr>
      </p:pic>
      <p:sp>
        <p:nvSpPr>
          <p:cNvPr id="177" name="Google Shape;177;p14"/>
          <p:cNvSpPr txBox="1"/>
          <p:nvPr/>
        </p:nvSpPr>
        <p:spPr>
          <a:xfrm>
            <a:off x="2267712" y="2377440"/>
            <a:ext cx="1115568" cy="100584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SASPy orchestrator</a:t>
            </a:r>
            <a:endParaRPr sz="1400" b="0" i="0" u="none" strike="noStrike" cap="none">
              <a:solidFill>
                <a:schemeClr val="dk1"/>
              </a:solidFill>
              <a:latin typeface="Calibri"/>
              <a:ea typeface="Calibri"/>
              <a:cs typeface="Calibri"/>
              <a:sym typeface="Calibri"/>
            </a:endParaRPr>
          </a:p>
        </p:txBody>
      </p:sp>
      <p:sp>
        <p:nvSpPr>
          <p:cNvPr id="178" name="Google Shape;178;p14"/>
          <p:cNvSpPr/>
          <p:nvPr/>
        </p:nvSpPr>
        <p:spPr>
          <a:xfrm>
            <a:off x="3557016" y="2331720"/>
            <a:ext cx="237744" cy="274320"/>
          </a:xfrm>
          <a:prstGeom prst="rightArrow">
            <a:avLst>
              <a:gd name="adj1" fmla="val 50000"/>
              <a:gd name="adj2"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4"/>
          <p:cNvSpPr/>
          <p:nvPr/>
        </p:nvSpPr>
        <p:spPr>
          <a:xfrm>
            <a:off x="3858768" y="1463040"/>
            <a:ext cx="1335024" cy="2011680"/>
          </a:xfrm>
          <a:prstGeom prst="roundRect">
            <a:avLst>
              <a:gd name="adj" fmla="val 5479"/>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4"/>
          <p:cNvSpPr/>
          <p:nvPr/>
        </p:nvSpPr>
        <p:spPr>
          <a:xfrm>
            <a:off x="4251960" y="1645920"/>
            <a:ext cx="548640" cy="54864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1" name="Google Shape;181;p14" descr="icon"/>
          <p:cNvPicPr preferRelativeResize="0"/>
          <p:nvPr/>
        </p:nvPicPr>
        <p:blipFill rotWithShape="1">
          <a:blip r:embed="rId5">
            <a:alphaModFix/>
          </a:blip>
          <a:srcRect/>
          <a:stretch/>
        </p:blipFill>
        <p:spPr>
          <a:xfrm>
            <a:off x="4372661" y="1766621"/>
            <a:ext cx="307238" cy="307238"/>
          </a:xfrm>
          <a:prstGeom prst="rect">
            <a:avLst/>
          </a:prstGeom>
          <a:noFill/>
          <a:ln>
            <a:noFill/>
          </a:ln>
        </p:spPr>
      </p:pic>
      <p:sp>
        <p:nvSpPr>
          <p:cNvPr id="182" name="Google Shape;182;p14"/>
          <p:cNvSpPr txBox="1"/>
          <p:nvPr/>
        </p:nvSpPr>
        <p:spPr>
          <a:xfrm>
            <a:off x="3968496" y="2377440"/>
            <a:ext cx="1115568" cy="100584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lt1"/>
              </a:buClr>
              <a:buSzPts val="1400"/>
              <a:buFont typeface="Calibri"/>
              <a:buNone/>
            </a:pPr>
            <a:r>
              <a:rPr lang="en-US" sz="1400" b="1" i="0" u="none" strike="noStrike" cap="none">
                <a:solidFill>
                  <a:schemeClr val="lt1"/>
                </a:solidFill>
                <a:latin typeface="Calibri"/>
                <a:ea typeface="Calibri"/>
                <a:cs typeface="Calibri"/>
                <a:sym typeface="Calibri"/>
              </a:rPr>
              <a:t>Model fills JSON schema</a:t>
            </a:r>
            <a:endParaRPr sz="1400" b="0" i="0" u="none" strike="noStrike" cap="none">
              <a:solidFill>
                <a:schemeClr val="dk1"/>
              </a:solidFill>
              <a:latin typeface="Calibri"/>
              <a:ea typeface="Calibri"/>
              <a:cs typeface="Calibri"/>
              <a:sym typeface="Calibri"/>
            </a:endParaRPr>
          </a:p>
        </p:txBody>
      </p:sp>
      <p:sp>
        <p:nvSpPr>
          <p:cNvPr id="183" name="Google Shape;183;p14"/>
          <p:cNvSpPr/>
          <p:nvPr/>
        </p:nvSpPr>
        <p:spPr>
          <a:xfrm>
            <a:off x="5257800" y="2331720"/>
            <a:ext cx="237744" cy="274320"/>
          </a:xfrm>
          <a:prstGeom prst="rightArrow">
            <a:avLst>
              <a:gd name="adj1" fmla="val 50000"/>
              <a:gd name="adj2"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4"/>
          <p:cNvSpPr/>
          <p:nvPr/>
        </p:nvSpPr>
        <p:spPr>
          <a:xfrm>
            <a:off x="5559552" y="1463040"/>
            <a:ext cx="1335024" cy="2011680"/>
          </a:xfrm>
          <a:prstGeom prst="roundRect">
            <a:avLst>
              <a:gd name="adj" fmla="val 5479"/>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4"/>
          <p:cNvSpPr/>
          <p:nvPr/>
        </p:nvSpPr>
        <p:spPr>
          <a:xfrm>
            <a:off x="5952744" y="1645920"/>
            <a:ext cx="548640" cy="54864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6" name="Google Shape;186;p14" descr="icon"/>
          <p:cNvPicPr preferRelativeResize="0"/>
          <p:nvPr/>
        </p:nvPicPr>
        <p:blipFill rotWithShape="1">
          <a:blip r:embed="rId6">
            <a:alphaModFix/>
          </a:blip>
          <a:srcRect/>
          <a:stretch/>
        </p:blipFill>
        <p:spPr>
          <a:xfrm>
            <a:off x="6073445" y="1766621"/>
            <a:ext cx="307238" cy="307238"/>
          </a:xfrm>
          <a:prstGeom prst="rect">
            <a:avLst/>
          </a:prstGeom>
          <a:noFill/>
          <a:ln>
            <a:noFill/>
          </a:ln>
        </p:spPr>
      </p:pic>
      <p:sp>
        <p:nvSpPr>
          <p:cNvPr id="187" name="Google Shape;187;p14"/>
          <p:cNvSpPr txBox="1"/>
          <p:nvPr/>
        </p:nvSpPr>
        <p:spPr>
          <a:xfrm>
            <a:off x="5669280" y="2377440"/>
            <a:ext cx="1115568" cy="100584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SAS data sets (SASPy or PROC JSON)</a:t>
            </a:r>
            <a:endParaRPr sz="1400" b="0" i="0" u="none" strike="noStrike" cap="none">
              <a:solidFill>
                <a:schemeClr val="dk1"/>
              </a:solidFill>
              <a:latin typeface="Calibri"/>
              <a:ea typeface="Calibri"/>
              <a:cs typeface="Calibri"/>
              <a:sym typeface="Calibri"/>
            </a:endParaRPr>
          </a:p>
        </p:txBody>
      </p:sp>
      <p:sp>
        <p:nvSpPr>
          <p:cNvPr id="188" name="Google Shape;188;p14"/>
          <p:cNvSpPr/>
          <p:nvPr/>
        </p:nvSpPr>
        <p:spPr>
          <a:xfrm>
            <a:off x="6958584" y="2331720"/>
            <a:ext cx="237744" cy="274320"/>
          </a:xfrm>
          <a:prstGeom prst="rightArrow">
            <a:avLst>
              <a:gd name="adj1" fmla="val 50000"/>
              <a:gd name="adj2"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4"/>
          <p:cNvSpPr/>
          <p:nvPr/>
        </p:nvSpPr>
        <p:spPr>
          <a:xfrm>
            <a:off x="7260336" y="1463040"/>
            <a:ext cx="1335024" cy="2011680"/>
          </a:xfrm>
          <a:prstGeom prst="roundRect">
            <a:avLst>
              <a:gd name="adj" fmla="val 5479"/>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4"/>
          <p:cNvSpPr/>
          <p:nvPr/>
        </p:nvSpPr>
        <p:spPr>
          <a:xfrm>
            <a:off x="7653528" y="1645920"/>
            <a:ext cx="548640" cy="54864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1" name="Google Shape;191;p14" descr="icon"/>
          <p:cNvPicPr preferRelativeResize="0"/>
          <p:nvPr/>
        </p:nvPicPr>
        <p:blipFill rotWithShape="1">
          <a:blip r:embed="rId7">
            <a:alphaModFix/>
          </a:blip>
          <a:srcRect/>
          <a:stretch/>
        </p:blipFill>
        <p:spPr>
          <a:xfrm>
            <a:off x="7774229" y="1766621"/>
            <a:ext cx="307238" cy="307238"/>
          </a:xfrm>
          <a:prstGeom prst="rect">
            <a:avLst/>
          </a:prstGeom>
          <a:noFill/>
          <a:ln>
            <a:noFill/>
          </a:ln>
        </p:spPr>
      </p:pic>
      <p:sp>
        <p:nvSpPr>
          <p:cNvPr id="192" name="Google Shape;192;p14"/>
          <p:cNvSpPr txBox="1"/>
          <p:nvPr/>
        </p:nvSpPr>
        <p:spPr>
          <a:xfrm>
            <a:off x="7370064" y="2377440"/>
            <a:ext cx="1115568" cy="100584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Human review</a:t>
            </a:r>
            <a:endParaRPr sz="1400" b="0" i="0" u="none" strike="noStrike" cap="none">
              <a:solidFill>
                <a:schemeClr val="dk1"/>
              </a:solidFill>
              <a:latin typeface="Calibri"/>
              <a:ea typeface="Calibri"/>
              <a:cs typeface="Calibri"/>
              <a:sym typeface="Calibri"/>
            </a:endParaRPr>
          </a:p>
        </p:txBody>
      </p:sp>
      <p:sp>
        <p:nvSpPr>
          <p:cNvPr id="193" name="Google Shape;193;p14"/>
          <p:cNvSpPr txBox="1"/>
          <p:nvPr/>
        </p:nvSpPr>
        <p:spPr>
          <a:xfrm>
            <a:off x="457200" y="3840480"/>
            <a:ext cx="822960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1400"/>
              <a:buFont typeface="Calibri"/>
              <a:buNone/>
            </a:pPr>
            <a:r>
              <a:rPr lang="en-US" sz="1400" b="0" i="1" u="none" strike="noStrike" cap="none">
                <a:solidFill>
                  <a:schemeClr val="accent6"/>
                </a:solidFill>
                <a:latin typeface="Calibri"/>
                <a:ea typeface="Calibri"/>
                <a:cs typeface="Calibri"/>
                <a:sym typeface="Calibri"/>
              </a:rPr>
              <a:t>Runs in Google Colab against SAS OnDemand for Academics · full source on GitHub</a:t>
            </a:r>
            <a:endParaRPr sz="1400" b="0" i="0" u="none" strike="noStrike" cap="none">
              <a:solidFill>
                <a:schemeClr val="dk1"/>
              </a:solidFill>
              <a:latin typeface="Calibri"/>
              <a:ea typeface="Calibri"/>
              <a:cs typeface="Calibri"/>
              <a:sym typeface="Calibri"/>
            </a:endParaRPr>
          </a:p>
        </p:txBody>
      </p:sp>
      <p:sp>
        <p:nvSpPr>
          <p:cNvPr id="194" name="Google Shape;194;p14"/>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8</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5"/>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Three configurations, one schema</a:t>
            </a:r>
            <a:endParaRPr sz="3000"/>
          </a:p>
        </p:txBody>
      </p:sp>
      <p:sp>
        <p:nvSpPr>
          <p:cNvPr id="201" name="Google Shape;201;p15"/>
          <p:cNvSpPr/>
          <p:nvPr/>
        </p:nvSpPr>
        <p:spPr>
          <a:xfrm>
            <a:off x="457200" y="1188720"/>
            <a:ext cx="2560320" cy="3108960"/>
          </a:xfrm>
          <a:prstGeom prst="roundRect">
            <a:avLst>
              <a:gd name="adj" fmla="val 285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5"/>
          <p:cNvSpPr/>
          <p:nvPr/>
        </p:nvSpPr>
        <p:spPr>
          <a:xfrm>
            <a:off x="685800" y="1371600"/>
            <a:ext cx="548640" cy="54864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3" name="Google Shape;203;p15" descr="icon"/>
          <p:cNvPicPr preferRelativeResize="0"/>
          <p:nvPr/>
        </p:nvPicPr>
        <p:blipFill rotWithShape="1">
          <a:blip r:embed="rId3">
            <a:alphaModFix/>
          </a:blip>
          <a:srcRect/>
          <a:stretch/>
        </p:blipFill>
        <p:spPr>
          <a:xfrm>
            <a:off x="806501" y="1492301"/>
            <a:ext cx="307238" cy="307238"/>
          </a:xfrm>
          <a:prstGeom prst="rect">
            <a:avLst/>
          </a:prstGeom>
          <a:noFill/>
          <a:ln>
            <a:noFill/>
          </a:ln>
        </p:spPr>
      </p:pic>
      <p:sp>
        <p:nvSpPr>
          <p:cNvPr id="204" name="Google Shape;204;p15"/>
          <p:cNvSpPr txBox="1"/>
          <p:nvPr/>
        </p:nvSpPr>
        <p:spPr>
          <a:xfrm>
            <a:off x="1371600" y="1371600"/>
            <a:ext cx="155448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1300"/>
              <a:buFont typeface="Calibri"/>
              <a:buNone/>
            </a:pPr>
            <a:r>
              <a:rPr lang="en-US" sz="1300" b="1" i="0" u="none" strike="noStrike" cap="none">
                <a:solidFill>
                  <a:schemeClr val="accent6"/>
                </a:solidFill>
                <a:latin typeface="Calibri"/>
                <a:ea typeface="Calibri"/>
                <a:cs typeface="Calibri"/>
                <a:sym typeface="Calibri"/>
              </a:rPr>
              <a:t>Config 1</a:t>
            </a:r>
            <a:endParaRPr sz="1300" b="0" i="0" u="none" strike="noStrike" cap="none">
              <a:solidFill>
                <a:schemeClr val="dk1"/>
              </a:solidFill>
              <a:latin typeface="Calibri"/>
              <a:ea typeface="Calibri"/>
              <a:cs typeface="Calibri"/>
              <a:sym typeface="Calibri"/>
            </a:endParaRPr>
          </a:p>
        </p:txBody>
      </p:sp>
      <p:sp>
        <p:nvSpPr>
          <p:cNvPr id="205" name="Google Shape;205;p15"/>
          <p:cNvSpPr txBox="1"/>
          <p:nvPr/>
        </p:nvSpPr>
        <p:spPr>
          <a:xfrm>
            <a:off x="1371600" y="1645920"/>
            <a:ext cx="160020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Zero-shot baseline (control case)</a:t>
            </a:r>
            <a:endParaRPr sz="1600" b="0" i="0" u="none" strike="noStrike" cap="none">
              <a:solidFill>
                <a:schemeClr val="dk1"/>
              </a:solidFill>
              <a:latin typeface="Calibri"/>
              <a:ea typeface="Calibri"/>
              <a:cs typeface="Calibri"/>
              <a:sym typeface="Calibri"/>
            </a:endParaRPr>
          </a:p>
        </p:txBody>
      </p:sp>
      <p:sp>
        <p:nvSpPr>
          <p:cNvPr id="206" name="Google Shape;206;p15"/>
          <p:cNvSpPr txBox="1"/>
          <p:nvPr/>
        </p:nvSpPr>
        <p:spPr>
          <a:xfrm>
            <a:off x="685800" y="2194560"/>
            <a:ext cx="2148840" cy="20116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1200"/>
              <a:buFont typeface="Calibri"/>
              <a:buNone/>
            </a:pPr>
            <a:r>
              <a:rPr lang="en-US" sz="1200" b="1" i="0" u="none" strike="noStrike" cap="none">
                <a:solidFill>
                  <a:schemeClr val="accent6"/>
                </a:solidFill>
                <a:latin typeface="Calibri"/>
                <a:ea typeface="Calibri"/>
                <a:cs typeface="Calibri"/>
                <a:sym typeface="Calibri"/>
              </a:rPr>
              <a:t>Model</a:t>
            </a:r>
            <a:endParaRPr sz="140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Gemma 4 E2B-it, quantized</a:t>
            </a:r>
            <a:endParaRPr sz="140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chemeClr val="accent6"/>
              </a:buClr>
              <a:buSzPts val="1200"/>
              <a:buFont typeface="Calibri"/>
              <a:buNone/>
            </a:pPr>
            <a:r>
              <a:rPr lang="en-US" sz="1200" b="1" i="0" u="none" strike="noStrike" cap="none">
                <a:solidFill>
                  <a:schemeClr val="accent6"/>
                </a:solidFill>
                <a:latin typeface="Calibri"/>
                <a:ea typeface="Calibri"/>
                <a:cs typeface="Calibri"/>
                <a:sym typeface="Calibri"/>
              </a:rPr>
              <a:t>Compute</a:t>
            </a:r>
            <a:endParaRPr sz="140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CPU only</a:t>
            </a:r>
            <a:endParaRPr sz="140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chemeClr val="accent6"/>
              </a:buClr>
              <a:buSzPts val="1200"/>
              <a:buFont typeface="Calibri"/>
              <a:buNone/>
            </a:pPr>
            <a:r>
              <a:rPr lang="en-US" sz="1200" b="1" i="0" u="none" strike="noStrike" cap="none">
                <a:solidFill>
                  <a:schemeClr val="accent6"/>
                </a:solidFill>
                <a:latin typeface="Calibri"/>
                <a:ea typeface="Calibri"/>
                <a:cs typeface="Calibri"/>
                <a:sym typeface="Calibri"/>
              </a:rPr>
              <a:t>Grounding</a:t>
            </a:r>
            <a:endParaRPr sz="140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None (post-hoc guardrail)</a:t>
            </a:r>
            <a:endParaRPr sz="1400" b="0" i="0" u="none" strike="noStrike" cap="none">
              <a:solidFill>
                <a:schemeClr val="dk1"/>
              </a:solidFill>
              <a:latin typeface="Calibri"/>
              <a:ea typeface="Calibri"/>
              <a:cs typeface="Calibri"/>
              <a:sym typeface="Calibri"/>
            </a:endParaRPr>
          </a:p>
        </p:txBody>
      </p:sp>
      <p:sp>
        <p:nvSpPr>
          <p:cNvPr id="207" name="Google Shape;207;p15"/>
          <p:cNvSpPr/>
          <p:nvPr/>
        </p:nvSpPr>
        <p:spPr>
          <a:xfrm>
            <a:off x="3291840" y="1188720"/>
            <a:ext cx="2560320" cy="3108960"/>
          </a:xfrm>
          <a:prstGeom prst="roundRect">
            <a:avLst>
              <a:gd name="adj" fmla="val 285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5"/>
          <p:cNvSpPr/>
          <p:nvPr/>
        </p:nvSpPr>
        <p:spPr>
          <a:xfrm>
            <a:off x="3520440" y="1371600"/>
            <a:ext cx="548640" cy="54864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9" name="Google Shape;209;p15" descr="icon"/>
          <p:cNvPicPr preferRelativeResize="0"/>
          <p:nvPr/>
        </p:nvPicPr>
        <p:blipFill rotWithShape="1">
          <a:blip r:embed="rId4">
            <a:alphaModFix/>
          </a:blip>
          <a:srcRect/>
          <a:stretch/>
        </p:blipFill>
        <p:spPr>
          <a:xfrm>
            <a:off x="3641141" y="1492301"/>
            <a:ext cx="307238" cy="307238"/>
          </a:xfrm>
          <a:prstGeom prst="rect">
            <a:avLst/>
          </a:prstGeom>
          <a:noFill/>
          <a:ln>
            <a:noFill/>
          </a:ln>
        </p:spPr>
      </p:pic>
      <p:sp>
        <p:nvSpPr>
          <p:cNvPr id="210" name="Google Shape;210;p15"/>
          <p:cNvSpPr txBox="1"/>
          <p:nvPr/>
        </p:nvSpPr>
        <p:spPr>
          <a:xfrm>
            <a:off x="4206240" y="1371600"/>
            <a:ext cx="155448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1300"/>
              <a:buFont typeface="Calibri"/>
              <a:buNone/>
            </a:pPr>
            <a:r>
              <a:rPr lang="en-US" sz="1300" b="1" i="0" u="none" strike="noStrike" cap="none">
                <a:solidFill>
                  <a:schemeClr val="accent6"/>
                </a:solidFill>
                <a:latin typeface="Calibri"/>
                <a:ea typeface="Calibri"/>
                <a:cs typeface="Calibri"/>
                <a:sym typeface="Calibri"/>
              </a:rPr>
              <a:t>Config 2</a:t>
            </a:r>
            <a:endParaRPr sz="1300" b="0" i="0" u="none" strike="noStrike" cap="none">
              <a:solidFill>
                <a:schemeClr val="dk1"/>
              </a:solidFill>
              <a:latin typeface="Calibri"/>
              <a:ea typeface="Calibri"/>
              <a:cs typeface="Calibri"/>
              <a:sym typeface="Calibri"/>
            </a:endParaRPr>
          </a:p>
        </p:txBody>
      </p:sp>
      <p:sp>
        <p:nvSpPr>
          <p:cNvPr id="211" name="Google Shape;211;p15"/>
          <p:cNvSpPr txBox="1"/>
          <p:nvPr/>
        </p:nvSpPr>
        <p:spPr>
          <a:xfrm>
            <a:off x="4206240" y="1645920"/>
            <a:ext cx="160020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Fine-tune (experiment)</a:t>
            </a:r>
            <a:endParaRPr sz="1600" b="0" i="0" u="none" strike="noStrike" cap="none">
              <a:solidFill>
                <a:schemeClr val="dk1"/>
              </a:solidFill>
              <a:latin typeface="Calibri"/>
              <a:ea typeface="Calibri"/>
              <a:cs typeface="Calibri"/>
              <a:sym typeface="Calibri"/>
            </a:endParaRPr>
          </a:p>
        </p:txBody>
      </p:sp>
      <p:sp>
        <p:nvSpPr>
          <p:cNvPr id="212" name="Google Shape;212;p15"/>
          <p:cNvSpPr txBox="1"/>
          <p:nvPr/>
        </p:nvSpPr>
        <p:spPr>
          <a:xfrm>
            <a:off x="3520440" y="2194560"/>
            <a:ext cx="2148840" cy="20116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1200"/>
              <a:buFont typeface="Calibri"/>
              <a:buNone/>
            </a:pPr>
            <a:r>
              <a:rPr lang="en-US" sz="1200" b="1" i="0" u="none" strike="noStrike" cap="none">
                <a:solidFill>
                  <a:schemeClr val="accent6"/>
                </a:solidFill>
                <a:latin typeface="Calibri"/>
                <a:ea typeface="Calibri"/>
                <a:cs typeface="Calibri"/>
                <a:sym typeface="Calibri"/>
              </a:rPr>
              <a:t>Model</a:t>
            </a:r>
            <a:endParaRPr sz="140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Same Gemma model + adapters</a:t>
            </a:r>
            <a:endParaRPr sz="140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chemeClr val="accent6"/>
              </a:buClr>
              <a:buSzPts val="1200"/>
              <a:buFont typeface="Calibri"/>
              <a:buNone/>
            </a:pPr>
            <a:r>
              <a:rPr lang="en-US" sz="1200" b="1" i="0" u="none" strike="noStrike" cap="none">
                <a:solidFill>
                  <a:schemeClr val="accent6"/>
                </a:solidFill>
                <a:latin typeface="Calibri"/>
                <a:ea typeface="Calibri"/>
                <a:cs typeface="Calibri"/>
                <a:sym typeface="Calibri"/>
              </a:rPr>
              <a:t>Compute</a:t>
            </a:r>
            <a:endParaRPr sz="140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chemeClr val="dk1"/>
              </a:buClr>
              <a:buSzPts val="1400"/>
              <a:buFont typeface="Calibri"/>
              <a:buNone/>
            </a:pPr>
            <a:r>
              <a:rPr lang="en-US">
                <a:solidFill>
                  <a:schemeClr val="dk1"/>
                </a:solidFill>
                <a:latin typeface="Calibri"/>
                <a:ea typeface="Calibri"/>
                <a:cs typeface="Calibri"/>
                <a:sym typeface="Calibri"/>
              </a:rPr>
              <a:t>Temporary </a:t>
            </a:r>
            <a:r>
              <a:rPr lang="en-US" sz="1400" b="0" i="0" u="none" strike="noStrike" cap="none">
                <a:solidFill>
                  <a:schemeClr val="dk1"/>
                </a:solidFill>
                <a:latin typeface="Calibri"/>
                <a:ea typeface="Calibri"/>
                <a:cs typeface="Calibri"/>
                <a:sym typeface="Calibri"/>
              </a:rPr>
              <a:t>GPU access to train (don’t need for inference)</a:t>
            </a:r>
            <a:endParaRPr sz="140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chemeClr val="accent6"/>
              </a:buClr>
              <a:buSzPts val="1200"/>
              <a:buFont typeface="Calibri"/>
              <a:buNone/>
            </a:pPr>
            <a:r>
              <a:rPr lang="en-US" sz="1200" b="1" i="0" u="none" strike="noStrike" cap="none">
                <a:solidFill>
                  <a:schemeClr val="accent6"/>
                </a:solidFill>
                <a:latin typeface="Calibri"/>
                <a:ea typeface="Calibri"/>
                <a:cs typeface="Calibri"/>
                <a:sym typeface="Calibri"/>
              </a:rPr>
              <a:t>Grounding</a:t>
            </a:r>
            <a:endParaRPr sz="140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Learned from ~580 pairs</a:t>
            </a:r>
            <a:endParaRPr sz="1400" b="0" i="0" u="none" strike="noStrike" cap="none">
              <a:solidFill>
                <a:schemeClr val="dk1"/>
              </a:solidFill>
              <a:latin typeface="Calibri"/>
              <a:ea typeface="Calibri"/>
              <a:cs typeface="Calibri"/>
              <a:sym typeface="Calibri"/>
            </a:endParaRPr>
          </a:p>
        </p:txBody>
      </p:sp>
      <p:sp>
        <p:nvSpPr>
          <p:cNvPr id="213" name="Google Shape;213;p15"/>
          <p:cNvSpPr/>
          <p:nvPr/>
        </p:nvSpPr>
        <p:spPr>
          <a:xfrm>
            <a:off x="6126480" y="1188720"/>
            <a:ext cx="2560320" cy="3108960"/>
          </a:xfrm>
          <a:prstGeom prst="roundRect">
            <a:avLst>
              <a:gd name="adj" fmla="val 285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5"/>
          <p:cNvSpPr/>
          <p:nvPr/>
        </p:nvSpPr>
        <p:spPr>
          <a:xfrm>
            <a:off x="6355080" y="1371600"/>
            <a:ext cx="548640" cy="54864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5" name="Google Shape;215;p15" descr="icon"/>
          <p:cNvPicPr preferRelativeResize="0"/>
          <p:nvPr/>
        </p:nvPicPr>
        <p:blipFill rotWithShape="1">
          <a:blip r:embed="rId5">
            <a:alphaModFix/>
          </a:blip>
          <a:srcRect/>
          <a:stretch/>
        </p:blipFill>
        <p:spPr>
          <a:xfrm>
            <a:off x="6475781" y="1492301"/>
            <a:ext cx="307238" cy="307238"/>
          </a:xfrm>
          <a:prstGeom prst="rect">
            <a:avLst/>
          </a:prstGeom>
          <a:noFill/>
          <a:ln>
            <a:noFill/>
          </a:ln>
        </p:spPr>
      </p:pic>
      <p:sp>
        <p:nvSpPr>
          <p:cNvPr id="216" name="Google Shape;216;p15"/>
          <p:cNvSpPr txBox="1"/>
          <p:nvPr/>
        </p:nvSpPr>
        <p:spPr>
          <a:xfrm>
            <a:off x="7040880" y="1371600"/>
            <a:ext cx="155448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1300"/>
              <a:buFont typeface="Calibri"/>
              <a:buNone/>
            </a:pPr>
            <a:r>
              <a:rPr lang="en-US" sz="1300" b="1" i="0" u="none" strike="noStrike" cap="none">
                <a:solidFill>
                  <a:schemeClr val="accent6"/>
                </a:solidFill>
                <a:latin typeface="Calibri"/>
                <a:ea typeface="Calibri"/>
                <a:cs typeface="Calibri"/>
                <a:sym typeface="Calibri"/>
              </a:rPr>
              <a:t>Config 3</a:t>
            </a:r>
            <a:endParaRPr sz="1300" b="0" i="0" u="none" strike="noStrike" cap="none">
              <a:solidFill>
                <a:schemeClr val="dk1"/>
              </a:solidFill>
              <a:latin typeface="Calibri"/>
              <a:ea typeface="Calibri"/>
              <a:cs typeface="Calibri"/>
              <a:sym typeface="Calibri"/>
            </a:endParaRPr>
          </a:p>
        </p:txBody>
      </p:sp>
      <p:sp>
        <p:nvSpPr>
          <p:cNvPr id="217" name="Google Shape;217;p15"/>
          <p:cNvSpPr txBox="1"/>
          <p:nvPr/>
        </p:nvSpPr>
        <p:spPr>
          <a:xfrm>
            <a:off x="7040880" y="1645920"/>
            <a:ext cx="160020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Frontier + skills (benchmark)</a:t>
            </a:r>
            <a:endParaRPr sz="1600" b="0" i="0" u="none" strike="noStrike" cap="none">
              <a:solidFill>
                <a:schemeClr val="dk1"/>
              </a:solidFill>
              <a:latin typeface="Calibri"/>
              <a:ea typeface="Calibri"/>
              <a:cs typeface="Calibri"/>
              <a:sym typeface="Calibri"/>
            </a:endParaRPr>
          </a:p>
        </p:txBody>
      </p:sp>
      <p:sp>
        <p:nvSpPr>
          <p:cNvPr id="218" name="Google Shape;218;p15"/>
          <p:cNvSpPr txBox="1"/>
          <p:nvPr/>
        </p:nvSpPr>
        <p:spPr>
          <a:xfrm>
            <a:off x="6355080" y="2194560"/>
            <a:ext cx="2148840" cy="20116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1200"/>
              <a:buFont typeface="Calibri"/>
              <a:buNone/>
            </a:pPr>
            <a:r>
              <a:rPr lang="en-US" sz="1200" b="1" i="0" u="none" strike="noStrike" cap="none">
                <a:solidFill>
                  <a:schemeClr val="accent6"/>
                </a:solidFill>
                <a:latin typeface="Calibri"/>
                <a:ea typeface="Calibri"/>
                <a:cs typeface="Calibri"/>
                <a:sym typeface="Calibri"/>
              </a:rPr>
              <a:t>Model</a:t>
            </a:r>
            <a:endParaRPr sz="140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Claude Opus 5</a:t>
            </a:r>
            <a:endParaRPr sz="140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chemeClr val="accent6"/>
              </a:buClr>
              <a:buSzPts val="1200"/>
              <a:buFont typeface="Calibri"/>
              <a:buNone/>
            </a:pPr>
            <a:r>
              <a:rPr lang="en-US" sz="1200" b="1" i="0" u="none" strike="noStrike" cap="none">
                <a:solidFill>
                  <a:schemeClr val="accent6"/>
                </a:solidFill>
                <a:latin typeface="Calibri"/>
                <a:ea typeface="Calibri"/>
                <a:cs typeface="Calibri"/>
                <a:sym typeface="Calibri"/>
              </a:rPr>
              <a:t>Compute</a:t>
            </a:r>
            <a:endParaRPr sz="140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Hosted subscription</a:t>
            </a:r>
            <a:endParaRPr sz="140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chemeClr val="accent6"/>
              </a:buClr>
              <a:buSzPts val="1200"/>
              <a:buFont typeface="Calibri"/>
              <a:buNone/>
            </a:pPr>
            <a:r>
              <a:rPr lang="en-US" sz="1200" b="1" i="0" u="none" strike="noStrike" cap="none">
                <a:solidFill>
                  <a:schemeClr val="accent6"/>
                </a:solidFill>
                <a:latin typeface="Calibri"/>
                <a:ea typeface="Calibri"/>
                <a:cs typeface="Calibri"/>
                <a:sym typeface="Calibri"/>
              </a:rPr>
              <a:t>Grounding</a:t>
            </a:r>
            <a:endParaRPr sz="140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Read-only SAS metadata tools</a:t>
            </a:r>
            <a:endParaRPr sz="1400" b="0" i="0" u="none" strike="noStrike" cap="none">
              <a:solidFill>
                <a:schemeClr val="dk1"/>
              </a:solidFill>
              <a:latin typeface="Calibri"/>
              <a:ea typeface="Calibri"/>
              <a:cs typeface="Calibri"/>
              <a:sym typeface="Calibri"/>
            </a:endParaRPr>
          </a:p>
        </p:txBody>
      </p:sp>
      <p:sp>
        <p:nvSpPr>
          <p:cNvPr id="219" name="Google Shape;219;p15"/>
          <p:cNvSpPr txBox="1"/>
          <p:nvPr/>
        </p:nvSpPr>
        <p:spPr>
          <a:xfrm>
            <a:off x="457200" y="4389120"/>
            <a:ext cx="82296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1200"/>
              <a:buFont typeface="Calibri"/>
              <a:buNone/>
            </a:pPr>
            <a:r>
              <a:rPr lang="en-US" sz="1200" b="0" i="1" u="none" strike="noStrike" cap="none">
                <a:solidFill>
                  <a:schemeClr val="accent6"/>
                </a:solidFill>
                <a:latin typeface="Calibri"/>
                <a:ea typeface="Calibri"/>
                <a:cs typeface="Calibri"/>
                <a:sym typeface="Calibri"/>
              </a:rPr>
              <a:t>Configs 1 and 2 are designed to run air-gapped; Config 3 needs a frontier-model subscription</a:t>
            </a:r>
            <a:endParaRPr sz="1200" b="0" i="0" u="none" strike="noStrike" cap="none">
              <a:solidFill>
                <a:schemeClr val="dk1"/>
              </a:solidFill>
              <a:latin typeface="Calibri"/>
              <a:ea typeface="Calibri"/>
              <a:cs typeface="Calibri"/>
              <a:sym typeface="Calibri"/>
            </a:endParaRPr>
          </a:p>
        </p:txBody>
      </p:sp>
      <p:sp>
        <p:nvSpPr>
          <p:cNvPr id="220" name="Google Shape;220;p15"/>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9</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16"/>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Config 1: zero-shot, plus a guardrail</a:t>
            </a:r>
            <a:endParaRPr sz="3000"/>
          </a:p>
        </p:txBody>
      </p:sp>
      <p:sp>
        <p:nvSpPr>
          <p:cNvPr id="227" name="Google Shape;227;p16"/>
          <p:cNvSpPr/>
          <p:nvPr/>
        </p:nvSpPr>
        <p:spPr>
          <a:xfrm>
            <a:off x="457200" y="1188720"/>
            <a:ext cx="3931920" cy="548640"/>
          </a:xfrm>
          <a:prstGeom prst="roundRect">
            <a:avLst>
              <a:gd name="adj" fmla="val 13333"/>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6"/>
          <p:cNvSpPr txBox="1"/>
          <p:nvPr/>
        </p:nvSpPr>
        <p:spPr>
          <a:xfrm>
            <a:off x="685800" y="1188720"/>
            <a:ext cx="356616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500" b="1" i="0" u="none" strike="noStrike" cap="none">
                <a:solidFill>
                  <a:schemeClr val="dk1"/>
                </a:solidFill>
                <a:latin typeface="Calibri"/>
                <a:ea typeface="Calibri"/>
                <a:cs typeface="Calibri"/>
                <a:sym typeface="Calibri"/>
              </a:rPr>
              <a:t>Program text + target schema</a:t>
            </a:r>
            <a:endParaRPr sz="1500" b="0" i="0" u="none" strike="noStrike" cap="none">
              <a:solidFill>
                <a:schemeClr val="dk1"/>
              </a:solidFill>
              <a:latin typeface="Calibri"/>
              <a:ea typeface="Calibri"/>
              <a:cs typeface="Calibri"/>
              <a:sym typeface="Calibri"/>
            </a:endParaRPr>
          </a:p>
        </p:txBody>
      </p:sp>
      <p:sp>
        <p:nvSpPr>
          <p:cNvPr id="229" name="Google Shape;229;p16"/>
          <p:cNvSpPr/>
          <p:nvPr/>
        </p:nvSpPr>
        <p:spPr>
          <a:xfrm>
            <a:off x="2286000" y="1755648"/>
            <a:ext cx="274320" cy="182880"/>
          </a:xfrm>
          <a:prstGeom prst="downArrow">
            <a:avLst>
              <a:gd name="adj1" fmla="val 50000"/>
              <a:gd name="adj2"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6"/>
          <p:cNvSpPr/>
          <p:nvPr/>
        </p:nvSpPr>
        <p:spPr>
          <a:xfrm>
            <a:off x="457200" y="1965960"/>
            <a:ext cx="3931920" cy="548640"/>
          </a:xfrm>
          <a:prstGeom prst="roundRect">
            <a:avLst>
              <a:gd name="adj" fmla="val 13333"/>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6"/>
          <p:cNvSpPr txBox="1"/>
          <p:nvPr/>
        </p:nvSpPr>
        <p:spPr>
          <a:xfrm>
            <a:off x="685800" y="1965960"/>
            <a:ext cx="356616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500" b="1" i="0" u="none" strike="noStrike" cap="none">
                <a:solidFill>
                  <a:schemeClr val="dk1"/>
                </a:solidFill>
                <a:latin typeface="Calibri"/>
                <a:ea typeface="Calibri"/>
                <a:cs typeface="Calibri"/>
                <a:sym typeface="Calibri"/>
              </a:rPr>
              <a:t>Gemma 4 E2B-it on CPU</a:t>
            </a:r>
            <a:endParaRPr sz="1500" b="0" i="0" u="none" strike="noStrike" cap="none">
              <a:solidFill>
                <a:schemeClr val="dk1"/>
              </a:solidFill>
              <a:latin typeface="Calibri"/>
              <a:ea typeface="Calibri"/>
              <a:cs typeface="Calibri"/>
              <a:sym typeface="Calibri"/>
            </a:endParaRPr>
          </a:p>
        </p:txBody>
      </p:sp>
      <p:sp>
        <p:nvSpPr>
          <p:cNvPr id="232" name="Google Shape;232;p16"/>
          <p:cNvSpPr/>
          <p:nvPr/>
        </p:nvSpPr>
        <p:spPr>
          <a:xfrm>
            <a:off x="2286000" y="2532888"/>
            <a:ext cx="274320" cy="182880"/>
          </a:xfrm>
          <a:prstGeom prst="downArrow">
            <a:avLst>
              <a:gd name="adj1" fmla="val 50000"/>
              <a:gd name="adj2"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6"/>
          <p:cNvSpPr/>
          <p:nvPr/>
        </p:nvSpPr>
        <p:spPr>
          <a:xfrm>
            <a:off x="457200" y="2743200"/>
            <a:ext cx="3931920" cy="548640"/>
          </a:xfrm>
          <a:prstGeom prst="roundRect">
            <a:avLst>
              <a:gd name="adj" fmla="val 13333"/>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6"/>
          <p:cNvSpPr txBox="1"/>
          <p:nvPr/>
        </p:nvSpPr>
        <p:spPr>
          <a:xfrm>
            <a:off x="685800" y="2743200"/>
            <a:ext cx="356616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500" b="1" i="0" u="none" strike="noStrike" cap="none">
                <a:solidFill>
                  <a:schemeClr val="dk1"/>
                </a:solidFill>
                <a:latin typeface="Calibri"/>
                <a:ea typeface="Calibri"/>
                <a:cs typeface="Calibri"/>
                <a:sym typeface="Calibri"/>
              </a:rPr>
              <a:t>Draft JSON</a:t>
            </a:r>
            <a:endParaRPr sz="1500" b="0" i="0" u="none" strike="noStrike" cap="none">
              <a:solidFill>
                <a:schemeClr val="dk1"/>
              </a:solidFill>
              <a:latin typeface="Calibri"/>
              <a:ea typeface="Calibri"/>
              <a:cs typeface="Calibri"/>
              <a:sym typeface="Calibri"/>
            </a:endParaRPr>
          </a:p>
        </p:txBody>
      </p:sp>
      <p:sp>
        <p:nvSpPr>
          <p:cNvPr id="235" name="Google Shape;235;p16"/>
          <p:cNvSpPr/>
          <p:nvPr/>
        </p:nvSpPr>
        <p:spPr>
          <a:xfrm>
            <a:off x="2286000" y="3310128"/>
            <a:ext cx="274320" cy="182880"/>
          </a:xfrm>
          <a:prstGeom prst="downArrow">
            <a:avLst>
              <a:gd name="adj1" fmla="val 50000"/>
              <a:gd name="adj2"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6"/>
          <p:cNvSpPr/>
          <p:nvPr/>
        </p:nvSpPr>
        <p:spPr>
          <a:xfrm>
            <a:off x="457200" y="3520440"/>
            <a:ext cx="3931920" cy="548640"/>
          </a:xfrm>
          <a:prstGeom prst="roundRect">
            <a:avLst>
              <a:gd name="adj" fmla="val 13333"/>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6"/>
          <p:cNvSpPr txBox="1"/>
          <p:nvPr/>
        </p:nvSpPr>
        <p:spPr>
          <a:xfrm>
            <a:off x="685800" y="3520440"/>
            <a:ext cx="356616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lt1"/>
              </a:buClr>
              <a:buSzPts val="1500"/>
              <a:buFont typeface="Calibri"/>
              <a:buNone/>
            </a:pPr>
            <a:r>
              <a:rPr lang="en-US" sz="1500" b="1" i="0" u="none" strike="noStrike" cap="none">
                <a:solidFill>
                  <a:schemeClr val="lt1"/>
                </a:solidFill>
                <a:latin typeface="Calibri"/>
                <a:ea typeface="Calibri"/>
                <a:cs typeface="Calibri"/>
                <a:sym typeface="Calibri"/>
              </a:rPr>
              <a:t>guardrail.py static scan</a:t>
            </a:r>
            <a:endParaRPr sz="1500" b="0" i="0" u="none" strike="noStrike" cap="none">
              <a:solidFill>
                <a:schemeClr val="dk1"/>
              </a:solidFill>
              <a:latin typeface="Calibri"/>
              <a:ea typeface="Calibri"/>
              <a:cs typeface="Calibri"/>
              <a:sym typeface="Calibri"/>
            </a:endParaRPr>
          </a:p>
        </p:txBody>
      </p:sp>
      <p:sp>
        <p:nvSpPr>
          <p:cNvPr id="238" name="Google Shape;238;p16"/>
          <p:cNvSpPr/>
          <p:nvPr/>
        </p:nvSpPr>
        <p:spPr>
          <a:xfrm>
            <a:off x="4937760" y="1188720"/>
            <a:ext cx="384048" cy="384048"/>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9" name="Google Shape;239;p16" descr="icon"/>
          <p:cNvPicPr preferRelativeResize="0"/>
          <p:nvPr/>
        </p:nvPicPr>
        <p:blipFill rotWithShape="1">
          <a:blip r:embed="rId3">
            <a:alphaModFix/>
          </a:blip>
          <a:srcRect/>
          <a:stretch/>
        </p:blipFill>
        <p:spPr>
          <a:xfrm>
            <a:off x="5022251" y="1273211"/>
            <a:ext cx="215067" cy="215067"/>
          </a:xfrm>
          <a:prstGeom prst="rect">
            <a:avLst/>
          </a:prstGeom>
          <a:noFill/>
          <a:ln>
            <a:noFill/>
          </a:ln>
        </p:spPr>
      </p:pic>
      <p:sp>
        <p:nvSpPr>
          <p:cNvPr id="240" name="Google Shape;240;p16"/>
          <p:cNvSpPr txBox="1"/>
          <p:nvPr/>
        </p:nvSpPr>
        <p:spPr>
          <a:xfrm>
            <a:off x="5440680" y="1188720"/>
            <a:ext cx="274320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500" b="1" i="0" u="none" strike="noStrike" cap="none">
                <a:solidFill>
                  <a:schemeClr val="dk1"/>
                </a:solidFill>
                <a:latin typeface="Calibri"/>
                <a:ea typeface="Calibri"/>
                <a:cs typeface="Calibri"/>
                <a:sym typeface="Calibri"/>
              </a:rPr>
              <a:t>No tools</a:t>
            </a:r>
            <a:endParaRPr sz="1500" b="0" i="0" u="none" strike="noStrike" cap="none">
              <a:solidFill>
                <a:schemeClr val="dk1"/>
              </a:solidFill>
              <a:latin typeface="Calibri"/>
              <a:ea typeface="Calibri"/>
              <a:cs typeface="Calibri"/>
              <a:sym typeface="Calibri"/>
            </a:endParaRPr>
          </a:p>
        </p:txBody>
      </p:sp>
      <p:sp>
        <p:nvSpPr>
          <p:cNvPr id="241" name="Google Shape;241;p16"/>
          <p:cNvSpPr/>
          <p:nvPr/>
        </p:nvSpPr>
        <p:spPr>
          <a:xfrm>
            <a:off x="4937760" y="1737360"/>
            <a:ext cx="384048" cy="384048"/>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42" name="Google Shape;242;p16" descr="icon"/>
          <p:cNvPicPr preferRelativeResize="0"/>
          <p:nvPr/>
        </p:nvPicPr>
        <p:blipFill rotWithShape="1">
          <a:blip r:embed="rId3">
            <a:alphaModFix/>
          </a:blip>
          <a:srcRect/>
          <a:stretch/>
        </p:blipFill>
        <p:spPr>
          <a:xfrm>
            <a:off x="5022251" y="1821851"/>
            <a:ext cx="215067" cy="215067"/>
          </a:xfrm>
          <a:prstGeom prst="rect">
            <a:avLst/>
          </a:prstGeom>
          <a:noFill/>
          <a:ln>
            <a:noFill/>
          </a:ln>
        </p:spPr>
      </p:pic>
      <p:sp>
        <p:nvSpPr>
          <p:cNvPr id="243" name="Google Shape;243;p16"/>
          <p:cNvSpPr txBox="1"/>
          <p:nvPr/>
        </p:nvSpPr>
        <p:spPr>
          <a:xfrm>
            <a:off x="5440680" y="1737360"/>
            <a:ext cx="274320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500" b="1" i="0" u="none" strike="noStrike" cap="none">
                <a:solidFill>
                  <a:schemeClr val="dk1"/>
                </a:solidFill>
                <a:latin typeface="Calibri"/>
                <a:ea typeface="Calibri"/>
                <a:cs typeface="Calibri"/>
                <a:sym typeface="Calibri"/>
              </a:rPr>
              <a:t>No examples</a:t>
            </a:r>
            <a:endParaRPr sz="1500" b="0" i="0" u="none" strike="noStrike" cap="none">
              <a:solidFill>
                <a:schemeClr val="dk1"/>
              </a:solidFill>
              <a:latin typeface="Calibri"/>
              <a:ea typeface="Calibri"/>
              <a:cs typeface="Calibri"/>
              <a:sym typeface="Calibri"/>
            </a:endParaRPr>
          </a:p>
        </p:txBody>
      </p:sp>
      <p:sp>
        <p:nvSpPr>
          <p:cNvPr id="244" name="Google Shape;244;p16"/>
          <p:cNvSpPr/>
          <p:nvPr/>
        </p:nvSpPr>
        <p:spPr>
          <a:xfrm>
            <a:off x="4937760" y="2286000"/>
            <a:ext cx="384048" cy="384048"/>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45" name="Google Shape;245;p16" descr="icon"/>
          <p:cNvPicPr preferRelativeResize="0"/>
          <p:nvPr/>
        </p:nvPicPr>
        <p:blipFill rotWithShape="1">
          <a:blip r:embed="rId3">
            <a:alphaModFix/>
          </a:blip>
          <a:srcRect/>
          <a:stretch/>
        </p:blipFill>
        <p:spPr>
          <a:xfrm>
            <a:off x="5022251" y="2370491"/>
            <a:ext cx="215067" cy="215067"/>
          </a:xfrm>
          <a:prstGeom prst="rect">
            <a:avLst/>
          </a:prstGeom>
          <a:noFill/>
          <a:ln>
            <a:noFill/>
          </a:ln>
        </p:spPr>
      </p:pic>
      <p:sp>
        <p:nvSpPr>
          <p:cNvPr id="246" name="Google Shape;246;p16"/>
          <p:cNvSpPr txBox="1"/>
          <p:nvPr/>
        </p:nvSpPr>
        <p:spPr>
          <a:xfrm>
            <a:off x="5440680" y="2286000"/>
            <a:ext cx="274320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500" b="1" i="0" u="none" strike="noStrike" cap="none">
                <a:solidFill>
                  <a:schemeClr val="dk1"/>
                </a:solidFill>
                <a:latin typeface="Calibri"/>
                <a:ea typeface="Calibri"/>
                <a:cs typeface="Calibri"/>
                <a:sym typeface="Calibri"/>
              </a:rPr>
              <a:t>No retrieval</a:t>
            </a:r>
            <a:endParaRPr sz="1500" b="0" i="0" u="none" strike="noStrike" cap="none">
              <a:solidFill>
                <a:schemeClr val="dk1"/>
              </a:solidFill>
              <a:latin typeface="Calibri"/>
              <a:ea typeface="Calibri"/>
              <a:cs typeface="Calibri"/>
              <a:sym typeface="Calibri"/>
            </a:endParaRPr>
          </a:p>
        </p:txBody>
      </p:sp>
      <p:sp>
        <p:nvSpPr>
          <p:cNvPr id="247" name="Google Shape;247;p16"/>
          <p:cNvSpPr/>
          <p:nvPr/>
        </p:nvSpPr>
        <p:spPr>
          <a:xfrm>
            <a:off x="4937760" y="2971800"/>
            <a:ext cx="3749040" cy="1234440"/>
          </a:xfrm>
          <a:prstGeom prst="roundRect">
            <a:avLst>
              <a:gd name="adj" fmla="val 592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6"/>
          <p:cNvSpPr txBox="1"/>
          <p:nvPr/>
        </p:nvSpPr>
        <p:spPr>
          <a:xfrm>
            <a:off x="5120640" y="3108960"/>
            <a:ext cx="3429000" cy="10058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ourier New"/>
              <a:buNone/>
            </a:pPr>
            <a:r>
              <a:rPr lang="en-US" sz="1400" b="1" i="0" u="none" strike="noStrike" cap="none">
                <a:solidFill>
                  <a:schemeClr val="dk1"/>
                </a:solidFill>
                <a:latin typeface="Courier New"/>
                <a:ea typeface="Courier New"/>
                <a:cs typeface="Courier New"/>
                <a:sym typeface="Courier New"/>
              </a:rPr>
              <a:t>guardrail.py </a:t>
            </a:r>
            <a:r>
              <a:rPr lang="en-US" sz="1400" b="0" i="0" u="none" strike="noStrike" cap="none">
                <a:solidFill>
                  <a:schemeClr val="dk1"/>
                </a:solidFill>
                <a:latin typeface="Calibri"/>
                <a:ea typeface="Calibri"/>
                <a:cs typeface="Calibri"/>
                <a:sym typeface="Calibri"/>
              </a:rPr>
              <a:t>checks every emitted variable, data set and macro-parameter name against the source and flags anything it cannot find.</a:t>
            </a:r>
            <a:endParaRPr sz="1400" b="0" i="0" u="none" strike="noStrike" cap="none">
              <a:solidFill>
                <a:schemeClr val="dk1"/>
              </a:solidFill>
              <a:latin typeface="Calibri"/>
              <a:ea typeface="Calibri"/>
              <a:cs typeface="Calibri"/>
              <a:sym typeface="Calibri"/>
            </a:endParaRPr>
          </a:p>
        </p:txBody>
      </p:sp>
      <p:sp>
        <p:nvSpPr>
          <p:cNvPr id="249" name="Google Shape;249;p16"/>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10</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17"/>
          <p:cNvSpPr txBox="1">
            <a:spLocks noGrp="1"/>
          </p:cNvSpPr>
          <p:nvPr>
            <p:ph type="title"/>
          </p:nvPr>
        </p:nvSpPr>
        <p:spPr>
          <a:xfrm>
            <a:off x="548640" y="1645920"/>
            <a:ext cx="6858000" cy="914400"/>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Clr>
                <a:schemeClr val="lt1"/>
              </a:buClr>
              <a:buSzPts val="4000"/>
              <a:buFont typeface="Cambria"/>
              <a:buNone/>
            </a:pPr>
            <a:r>
              <a:rPr lang="en-US" sz="4000" b="1">
                <a:solidFill>
                  <a:schemeClr val="lt1"/>
                </a:solidFill>
                <a:latin typeface="Cambria"/>
                <a:ea typeface="Cambria"/>
                <a:cs typeface="Cambria"/>
                <a:sym typeface="Cambria"/>
              </a:rPr>
              <a:t>Deep dive: QLoRA</a:t>
            </a:r>
            <a:endParaRPr sz="4000"/>
          </a:p>
        </p:txBody>
      </p:sp>
      <p:sp>
        <p:nvSpPr>
          <p:cNvPr id="256" name="Google Shape;256;p17"/>
          <p:cNvSpPr txBox="1">
            <a:spLocks noGrp="1"/>
          </p:cNvSpPr>
          <p:nvPr>
            <p:ph type="body" idx="1"/>
          </p:nvPr>
        </p:nvSpPr>
        <p:spPr>
          <a:xfrm>
            <a:off x="548640" y="2697480"/>
            <a:ext cx="6858000" cy="54864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1"/>
              </a:buClr>
              <a:buSzPts val="2000"/>
              <a:buNone/>
            </a:pPr>
            <a:r>
              <a:rPr lang="en-US" sz="2000">
                <a:solidFill>
                  <a:schemeClr val="accent1"/>
                </a:solidFill>
              </a:rPr>
              <a:t>Fine-tuning a small open model on a single GPU</a:t>
            </a:r>
            <a:endParaRPr sz="2000"/>
          </a:p>
        </p:txBody>
      </p:sp>
      <p:sp>
        <p:nvSpPr>
          <p:cNvPr id="257" name="Google Shape;257;p17"/>
          <p:cNvSpPr/>
          <p:nvPr/>
        </p:nvSpPr>
        <p:spPr>
          <a:xfrm>
            <a:off x="7498080" y="1737360"/>
            <a:ext cx="1097280" cy="109728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8" name="Google Shape;258;p17" descr="icon"/>
          <p:cNvPicPr preferRelativeResize="0"/>
          <p:nvPr/>
        </p:nvPicPr>
        <p:blipFill rotWithShape="1">
          <a:blip r:embed="rId3">
            <a:alphaModFix/>
          </a:blip>
          <a:srcRect/>
          <a:stretch/>
        </p:blipFill>
        <p:spPr>
          <a:xfrm>
            <a:off x="7739482" y="1978762"/>
            <a:ext cx="614477" cy="614477"/>
          </a:xfrm>
          <a:prstGeom prst="rect">
            <a:avLst/>
          </a:prstGeom>
          <a:noFill/>
          <a:ln>
            <a:noFill/>
          </a:ln>
        </p:spPr>
      </p:pic>
      <p:sp>
        <p:nvSpPr>
          <p:cNvPr id="259" name="Google Shape;259;p17"/>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3"/>
                </a:solidFill>
                <a:latin typeface="Calibri"/>
                <a:ea typeface="Calibri"/>
                <a:cs typeface="Calibri"/>
                <a:sym typeface="Calibri"/>
              </a:rPr>
              <a:t>11</a:t>
            </a:fld>
            <a:endParaRPr sz="900" b="0" i="0" u="none" strike="noStrike" cap="none">
              <a:solidFill>
                <a:schemeClr val="accent3"/>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18"/>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LoRA: freeze W, learn a low-rank update</a:t>
            </a:r>
            <a:endParaRPr sz="3000"/>
          </a:p>
        </p:txBody>
      </p:sp>
      <p:sp>
        <p:nvSpPr>
          <p:cNvPr id="266" name="Google Shape;266;p18"/>
          <p:cNvSpPr/>
          <p:nvPr/>
        </p:nvSpPr>
        <p:spPr>
          <a:xfrm>
            <a:off x="548640" y="1280160"/>
            <a:ext cx="2011680" cy="201168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8"/>
          <p:cNvSpPr txBox="1"/>
          <p:nvPr/>
        </p:nvSpPr>
        <p:spPr>
          <a:xfrm>
            <a:off x="548640" y="1280160"/>
            <a:ext cx="2011680" cy="20116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3600"/>
              <a:buFont typeface="Cambria"/>
              <a:buNone/>
            </a:pPr>
            <a:r>
              <a:rPr lang="en-US" sz="3600" b="1" i="0" u="none" strike="noStrike" cap="none">
                <a:solidFill>
                  <a:schemeClr val="lt1"/>
                </a:solidFill>
                <a:latin typeface="Cambria"/>
                <a:ea typeface="Cambria"/>
                <a:cs typeface="Cambria"/>
                <a:sym typeface="Cambria"/>
              </a:rPr>
              <a:t>W</a:t>
            </a:r>
            <a:endParaRPr sz="14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chemeClr val="lt1"/>
              </a:buClr>
              <a:buSzPts val="1300"/>
              <a:buFont typeface="Calibri"/>
              <a:buNone/>
            </a:pPr>
            <a:r>
              <a:rPr lang="en-US" sz="1300" b="0" i="0" u="none" strike="noStrike" cap="none">
                <a:solidFill>
                  <a:schemeClr val="lt1"/>
                </a:solidFill>
                <a:latin typeface="Calibri"/>
                <a:ea typeface="Calibri"/>
                <a:cs typeface="Calibri"/>
                <a:sym typeface="Calibri"/>
              </a:rPr>
              <a:t>frozen · d × k</a:t>
            </a:r>
            <a:endParaRPr sz="1400" b="0" i="0" u="none" strike="noStrike" cap="none">
              <a:solidFill>
                <a:schemeClr val="dk1"/>
              </a:solidFill>
              <a:latin typeface="Calibri"/>
              <a:ea typeface="Calibri"/>
              <a:cs typeface="Calibri"/>
              <a:sym typeface="Calibri"/>
            </a:endParaRPr>
          </a:p>
        </p:txBody>
      </p:sp>
      <p:sp>
        <p:nvSpPr>
          <p:cNvPr id="268" name="Google Shape;268;p18"/>
          <p:cNvSpPr txBox="1"/>
          <p:nvPr/>
        </p:nvSpPr>
        <p:spPr>
          <a:xfrm>
            <a:off x="2651760" y="1965960"/>
            <a:ext cx="36576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3200"/>
              <a:buFont typeface="Calibri"/>
              <a:buNone/>
            </a:pPr>
            <a:r>
              <a:rPr lang="en-US" sz="3200" b="1" i="0" u="none" strike="noStrike" cap="none">
                <a:solidFill>
                  <a:schemeClr val="dk1"/>
                </a:solidFill>
                <a:latin typeface="Calibri"/>
                <a:ea typeface="Calibri"/>
                <a:cs typeface="Calibri"/>
                <a:sym typeface="Calibri"/>
              </a:rPr>
              <a:t>+</a:t>
            </a:r>
            <a:endParaRPr sz="3200" b="0" i="0" u="none" strike="noStrike" cap="none">
              <a:solidFill>
                <a:schemeClr val="dk1"/>
              </a:solidFill>
              <a:latin typeface="Calibri"/>
              <a:ea typeface="Calibri"/>
              <a:cs typeface="Calibri"/>
              <a:sym typeface="Calibri"/>
            </a:endParaRPr>
          </a:p>
        </p:txBody>
      </p:sp>
      <p:sp>
        <p:nvSpPr>
          <p:cNvPr id="269" name="Google Shape;269;p18"/>
          <p:cNvSpPr/>
          <p:nvPr/>
        </p:nvSpPr>
        <p:spPr>
          <a:xfrm>
            <a:off x="3154680" y="1280160"/>
            <a:ext cx="411480" cy="201168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8"/>
          <p:cNvSpPr txBox="1"/>
          <p:nvPr/>
        </p:nvSpPr>
        <p:spPr>
          <a:xfrm>
            <a:off x="3154680" y="2057400"/>
            <a:ext cx="41148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2000"/>
              <a:buFont typeface="Cambria"/>
              <a:buNone/>
            </a:pPr>
            <a:r>
              <a:rPr lang="en-US" sz="2000" b="1" i="0" u="none" strike="noStrike" cap="none">
                <a:solidFill>
                  <a:schemeClr val="lt1"/>
                </a:solidFill>
                <a:latin typeface="Cambria"/>
                <a:ea typeface="Cambria"/>
                <a:cs typeface="Cambria"/>
                <a:sym typeface="Cambria"/>
              </a:rPr>
              <a:t>B</a:t>
            </a:r>
            <a:endParaRPr sz="2000" b="0" i="0" u="none" strike="noStrike" cap="none">
              <a:solidFill>
                <a:schemeClr val="dk1"/>
              </a:solidFill>
              <a:latin typeface="Calibri"/>
              <a:ea typeface="Calibri"/>
              <a:cs typeface="Calibri"/>
              <a:sym typeface="Calibri"/>
            </a:endParaRPr>
          </a:p>
        </p:txBody>
      </p:sp>
      <p:sp>
        <p:nvSpPr>
          <p:cNvPr id="271" name="Google Shape;271;p18"/>
          <p:cNvSpPr txBox="1"/>
          <p:nvPr/>
        </p:nvSpPr>
        <p:spPr>
          <a:xfrm>
            <a:off x="3611880" y="1261872"/>
            <a:ext cx="32004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2200"/>
              <a:buFont typeface="Calibri"/>
              <a:buNone/>
            </a:pPr>
            <a:r>
              <a:rPr lang="en-US" sz="2200" b="1" i="0" u="none" strike="noStrike" cap="none">
                <a:solidFill>
                  <a:schemeClr val="dk1"/>
                </a:solidFill>
                <a:latin typeface="Calibri"/>
                <a:ea typeface="Calibri"/>
                <a:cs typeface="Calibri"/>
                <a:sym typeface="Calibri"/>
              </a:rPr>
              <a:t>×</a:t>
            </a:r>
            <a:endParaRPr sz="2200" b="0" i="0" u="none" strike="noStrike" cap="none">
              <a:solidFill>
                <a:schemeClr val="dk1"/>
              </a:solidFill>
              <a:latin typeface="Calibri"/>
              <a:ea typeface="Calibri"/>
              <a:cs typeface="Calibri"/>
              <a:sym typeface="Calibri"/>
            </a:endParaRPr>
          </a:p>
        </p:txBody>
      </p:sp>
      <p:sp>
        <p:nvSpPr>
          <p:cNvPr id="272" name="Google Shape;272;p18"/>
          <p:cNvSpPr/>
          <p:nvPr/>
        </p:nvSpPr>
        <p:spPr>
          <a:xfrm>
            <a:off x="3977640" y="1280160"/>
            <a:ext cx="2011680" cy="41148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8"/>
          <p:cNvSpPr txBox="1"/>
          <p:nvPr/>
        </p:nvSpPr>
        <p:spPr>
          <a:xfrm>
            <a:off x="3977640" y="1280160"/>
            <a:ext cx="201168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2000"/>
              <a:buFont typeface="Cambria"/>
              <a:buNone/>
            </a:pPr>
            <a:r>
              <a:rPr lang="en-US" sz="2000" b="1" i="0" u="none" strike="noStrike" cap="none">
                <a:solidFill>
                  <a:schemeClr val="lt1"/>
                </a:solidFill>
                <a:latin typeface="Cambria"/>
                <a:ea typeface="Cambria"/>
                <a:cs typeface="Cambria"/>
                <a:sym typeface="Cambria"/>
              </a:rPr>
              <a:t>A</a:t>
            </a:r>
            <a:endParaRPr sz="2000" b="0" i="0" u="none" strike="noStrike" cap="none">
              <a:solidFill>
                <a:schemeClr val="dk1"/>
              </a:solidFill>
              <a:latin typeface="Calibri"/>
              <a:ea typeface="Calibri"/>
              <a:cs typeface="Calibri"/>
              <a:sym typeface="Calibri"/>
            </a:endParaRPr>
          </a:p>
        </p:txBody>
      </p:sp>
      <p:sp>
        <p:nvSpPr>
          <p:cNvPr id="274" name="Google Shape;274;p18"/>
          <p:cNvSpPr txBox="1"/>
          <p:nvPr/>
        </p:nvSpPr>
        <p:spPr>
          <a:xfrm>
            <a:off x="3749040" y="1874520"/>
            <a:ext cx="2240280" cy="1371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300"/>
              <a:buFont typeface="Calibri"/>
              <a:buNone/>
            </a:pPr>
            <a:r>
              <a:rPr lang="en-US" sz="1300" b="0" i="0" u="none" strike="noStrike" cap="none">
                <a:solidFill>
                  <a:schemeClr val="dk2"/>
                </a:solidFill>
                <a:latin typeface="Calibri"/>
                <a:ea typeface="Calibri"/>
                <a:cs typeface="Calibri"/>
                <a:sym typeface="Calibri"/>
              </a:rPr>
              <a:t>B: d × r</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2"/>
              </a:buClr>
              <a:buSzPts val="1300"/>
              <a:buFont typeface="Calibri"/>
              <a:buNone/>
            </a:pPr>
            <a:r>
              <a:rPr lang="en-US" sz="1300" b="0" i="0" u="none" strike="noStrike" cap="none">
                <a:solidFill>
                  <a:schemeClr val="dk2"/>
                </a:solidFill>
                <a:latin typeface="Calibri"/>
                <a:ea typeface="Calibri"/>
                <a:cs typeface="Calibri"/>
                <a:sym typeface="Calibri"/>
              </a:rPr>
              <a:t>A: r × k</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2"/>
              </a:buClr>
              <a:buSzPts val="1300"/>
              <a:buFont typeface="Calibri"/>
              <a:buNone/>
            </a:pPr>
            <a:r>
              <a:rPr lang="en-US" sz="1300" b="0" i="0" u="none" strike="noStrike" cap="none">
                <a:solidFill>
                  <a:schemeClr val="dk2"/>
                </a:solidFill>
                <a:latin typeface="Calibri"/>
                <a:ea typeface="Calibri"/>
                <a:cs typeface="Calibri"/>
                <a:sym typeface="Calibri"/>
              </a:rPr>
              <a:t>r ≪ d, k</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300"/>
              <a:buFont typeface="Calibri"/>
              <a:buNone/>
            </a:pP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2"/>
              </a:buClr>
              <a:buSzPts val="1300"/>
              <a:buFont typeface="Calibri"/>
              <a:buNone/>
            </a:pPr>
            <a:r>
              <a:rPr lang="en-US" sz="1300" b="0" i="0" u="none" strike="noStrike" cap="none">
                <a:solidFill>
                  <a:schemeClr val="dk2"/>
                </a:solidFill>
                <a:latin typeface="Calibri"/>
                <a:ea typeface="Calibri"/>
                <a:cs typeface="Calibri"/>
                <a:sym typeface="Calibri"/>
              </a:rPr>
              <a:t>B starts at zero, so training begins at the base model</a:t>
            </a:r>
            <a:endParaRPr sz="1300" b="0" i="0" u="none" strike="noStrike" cap="none">
              <a:solidFill>
                <a:schemeClr val="dk1"/>
              </a:solidFill>
              <a:latin typeface="Calibri"/>
              <a:ea typeface="Calibri"/>
              <a:cs typeface="Calibri"/>
              <a:sym typeface="Calibri"/>
            </a:endParaRPr>
          </a:p>
        </p:txBody>
      </p:sp>
      <p:sp>
        <p:nvSpPr>
          <p:cNvPr id="275" name="Google Shape;275;p18"/>
          <p:cNvSpPr txBox="1"/>
          <p:nvPr/>
        </p:nvSpPr>
        <p:spPr>
          <a:xfrm>
            <a:off x="548640" y="3520440"/>
            <a:ext cx="5486400" cy="411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mbria"/>
              <a:buNone/>
            </a:pPr>
            <a:r>
              <a:rPr lang="en-US" sz="1800" b="1" i="0" u="none" strike="noStrike" cap="none">
                <a:solidFill>
                  <a:schemeClr val="dk1"/>
                </a:solidFill>
                <a:latin typeface="Cambria"/>
                <a:ea typeface="Cambria"/>
                <a:cs typeface="Cambria"/>
                <a:sym typeface="Cambria"/>
              </a:rPr>
              <a:t>h = </a:t>
            </a:r>
            <a:r>
              <a:rPr lang="en-US" sz="1800" b="1" i="0" u="none" strike="noStrike" cap="none" err="1">
                <a:solidFill>
                  <a:schemeClr val="dk1"/>
                </a:solidFill>
                <a:latin typeface="Cambria"/>
                <a:ea typeface="Cambria"/>
                <a:cs typeface="Cambria"/>
                <a:sym typeface="Cambria"/>
              </a:rPr>
              <a:t>Wx</a:t>
            </a:r>
            <a:r>
              <a:rPr lang="en-US" sz="1800" b="1" i="0" u="none" strike="noStrike" cap="none">
                <a:solidFill>
                  <a:schemeClr val="dk1"/>
                </a:solidFill>
                <a:latin typeface="Cambria"/>
                <a:ea typeface="Cambria"/>
                <a:cs typeface="Cambria"/>
                <a:sym typeface="Cambria"/>
              </a:rPr>
              <a:t> + (α / r) · </a:t>
            </a:r>
            <a:r>
              <a:rPr lang="en-US" sz="1800" b="1" i="0" u="none" strike="noStrike" cap="none" err="1">
                <a:solidFill>
                  <a:schemeClr val="dk1"/>
                </a:solidFill>
                <a:latin typeface="Cambria"/>
                <a:ea typeface="Cambria"/>
                <a:cs typeface="Cambria"/>
                <a:sym typeface="Cambria"/>
              </a:rPr>
              <a:t>BAx</a:t>
            </a:r>
            <a:endParaRPr sz="1800" b="0" i="0" u="none" strike="noStrike" cap="none">
              <a:solidFill>
                <a:schemeClr val="dk1"/>
              </a:solidFill>
              <a:latin typeface="Calibri"/>
              <a:ea typeface="Calibri"/>
              <a:cs typeface="Calibri"/>
              <a:sym typeface="Calibri"/>
            </a:endParaRPr>
          </a:p>
        </p:txBody>
      </p:sp>
      <p:sp>
        <p:nvSpPr>
          <p:cNvPr id="276" name="Google Shape;276;p18"/>
          <p:cNvSpPr txBox="1"/>
          <p:nvPr/>
        </p:nvSpPr>
        <p:spPr>
          <a:xfrm>
            <a:off x="548640" y="3931920"/>
            <a:ext cx="548640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Only A and B are trained. α / r scales the update.</a:t>
            </a:r>
            <a:endParaRPr sz="1400" b="0" i="0" u="none" strike="noStrike" cap="none">
              <a:solidFill>
                <a:schemeClr val="dk1"/>
              </a:solidFill>
              <a:latin typeface="Calibri"/>
              <a:ea typeface="Calibri"/>
              <a:cs typeface="Calibri"/>
              <a:sym typeface="Calibri"/>
            </a:endParaRPr>
          </a:p>
        </p:txBody>
      </p:sp>
      <p:sp>
        <p:nvSpPr>
          <p:cNvPr id="277" name="Google Shape;277;p18"/>
          <p:cNvSpPr/>
          <p:nvPr/>
        </p:nvSpPr>
        <p:spPr>
          <a:xfrm>
            <a:off x="6355080" y="1280160"/>
            <a:ext cx="2331720" cy="2971800"/>
          </a:xfrm>
          <a:prstGeom prst="roundRect">
            <a:avLst>
              <a:gd name="adj" fmla="val 313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8"/>
          <p:cNvSpPr txBox="1"/>
          <p:nvPr/>
        </p:nvSpPr>
        <p:spPr>
          <a:xfrm>
            <a:off x="6492240" y="1417320"/>
            <a:ext cx="2057400" cy="2743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accent6"/>
              </a:buClr>
              <a:buSzPts val="1200"/>
              <a:buFont typeface="Calibri"/>
              <a:buNone/>
            </a:pPr>
            <a:r>
              <a:rPr lang="en-US" sz="1200" b="1" i="0" u="none" strike="noStrike" cap="none">
                <a:solidFill>
                  <a:schemeClr val="accent6"/>
                </a:solidFill>
                <a:latin typeface="Calibri"/>
                <a:ea typeface="Calibri"/>
                <a:cs typeface="Calibri"/>
                <a:sym typeface="Calibri"/>
              </a:rPr>
              <a:t>One 2048 × 2048 layer</a:t>
            </a:r>
            <a:endParaRPr sz="1200" b="0" i="0" u="none" strike="noStrike" cap="none">
              <a:solidFill>
                <a:schemeClr val="dk1"/>
              </a:solidFill>
              <a:latin typeface="Calibri"/>
              <a:ea typeface="Calibri"/>
              <a:cs typeface="Calibri"/>
              <a:sym typeface="Calibri"/>
            </a:endParaRPr>
          </a:p>
        </p:txBody>
      </p:sp>
      <p:sp>
        <p:nvSpPr>
          <p:cNvPr id="279" name="Google Shape;279;p18"/>
          <p:cNvSpPr txBox="1"/>
          <p:nvPr/>
        </p:nvSpPr>
        <p:spPr>
          <a:xfrm>
            <a:off x="6492240" y="1737360"/>
            <a:ext cx="2057400" cy="54864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accent3"/>
              </a:buClr>
              <a:buSzPts val="3200"/>
              <a:buFont typeface="Cambria"/>
              <a:buNone/>
            </a:pPr>
            <a:r>
              <a:rPr lang="en-US" sz="3200" b="1" i="0" u="none" strike="noStrike" cap="none">
                <a:solidFill>
                  <a:schemeClr val="accent3"/>
                </a:solidFill>
                <a:latin typeface="Cambria"/>
                <a:ea typeface="Cambria"/>
                <a:cs typeface="Cambria"/>
                <a:sym typeface="Cambria"/>
              </a:rPr>
              <a:t>4.2M</a:t>
            </a:r>
            <a:endParaRPr sz="3200" b="0" i="0" u="none" strike="noStrike" cap="none">
              <a:solidFill>
                <a:schemeClr val="dk1"/>
              </a:solidFill>
              <a:latin typeface="Calibri"/>
              <a:ea typeface="Calibri"/>
              <a:cs typeface="Calibri"/>
              <a:sym typeface="Calibri"/>
            </a:endParaRPr>
          </a:p>
        </p:txBody>
      </p:sp>
      <p:sp>
        <p:nvSpPr>
          <p:cNvPr id="280" name="Google Shape;280;p18"/>
          <p:cNvSpPr txBox="1"/>
          <p:nvPr/>
        </p:nvSpPr>
        <p:spPr>
          <a:xfrm>
            <a:off x="6492240" y="2286000"/>
            <a:ext cx="2057400" cy="2743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2"/>
              </a:buClr>
              <a:buSzPts val="1200"/>
              <a:buFont typeface="Calibri"/>
              <a:buNone/>
            </a:pPr>
            <a:r>
              <a:rPr lang="en-US" sz="1200" b="0" i="0" u="none" strike="noStrike" cap="none">
                <a:solidFill>
                  <a:schemeClr val="dk2"/>
                </a:solidFill>
                <a:latin typeface="Calibri"/>
                <a:ea typeface="Calibri"/>
                <a:cs typeface="Calibri"/>
                <a:sym typeface="Calibri"/>
              </a:rPr>
              <a:t>full update</a:t>
            </a:r>
            <a:endParaRPr sz="1200" b="0" i="0" u="none" strike="noStrike" cap="none">
              <a:solidFill>
                <a:schemeClr val="dk1"/>
              </a:solidFill>
              <a:latin typeface="Calibri"/>
              <a:ea typeface="Calibri"/>
              <a:cs typeface="Calibri"/>
              <a:sym typeface="Calibri"/>
            </a:endParaRPr>
          </a:p>
        </p:txBody>
      </p:sp>
      <p:sp>
        <p:nvSpPr>
          <p:cNvPr id="281" name="Google Shape;281;p18"/>
          <p:cNvSpPr txBox="1"/>
          <p:nvPr/>
        </p:nvSpPr>
        <p:spPr>
          <a:xfrm>
            <a:off x="6492240" y="2697480"/>
            <a:ext cx="2057400" cy="54864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accent1"/>
              </a:buClr>
              <a:buSzPts val="3200"/>
              <a:buFont typeface="Cambria"/>
              <a:buNone/>
            </a:pPr>
            <a:r>
              <a:rPr lang="en-US" sz="3200" b="1" i="0" u="none" strike="noStrike" cap="none">
                <a:solidFill>
                  <a:schemeClr val="accent1"/>
                </a:solidFill>
                <a:latin typeface="Cambria"/>
                <a:ea typeface="Cambria"/>
                <a:cs typeface="Cambria"/>
                <a:sym typeface="Cambria"/>
              </a:rPr>
              <a:t>131K</a:t>
            </a:r>
            <a:endParaRPr sz="3200" b="0" i="0" u="none" strike="noStrike" cap="none">
              <a:solidFill>
                <a:schemeClr val="dk1"/>
              </a:solidFill>
              <a:latin typeface="Calibri"/>
              <a:ea typeface="Calibri"/>
              <a:cs typeface="Calibri"/>
              <a:sym typeface="Calibri"/>
            </a:endParaRPr>
          </a:p>
        </p:txBody>
      </p:sp>
      <p:sp>
        <p:nvSpPr>
          <p:cNvPr id="282" name="Google Shape;282;p18"/>
          <p:cNvSpPr txBox="1"/>
          <p:nvPr/>
        </p:nvSpPr>
        <p:spPr>
          <a:xfrm>
            <a:off x="6492240" y="3246120"/>
            <a:ext cx="2057400" cy="2743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2"/>
              </a:buClr>
              <a:buSzPts val="1200"/>
              <a:buFont typeface="Calibri"/>
              <a:buNone/>
            </a:pPr>
            <a:r>
              <a:rPr lang="en-US" sz="1200" b="0" i="0" u="none" strike="noStrike" cap="none">
                <a:solidFill>
                  <a:schemeClr val="dk2"/>
                </a:solidFill>
                <a:latin typeface="Calibri"/>
                <a:ea typeface="Calibri"/>
                <a:cs typeface="Calibri"/>
                <a:sym typeface="Calibri"/>
              </a:rPr>
              <a:t>LoRA, r = 32 (≈ 3%)</a:t>
            </a:r>
            <a:endParaRPr sz="1200" b="0" i="0" u="none" strike="noStrike" cap="none">
              <a:solidFill>
                <a:schemeClr val="dk1"/>
              </a:solidFill>
              <a:latin typeface="Calibri"/>
              <a:ea typeface="Calibri"/>
              <a:cs typeface="Calibri"/>
              <a:sym typeface="Calibri"/>
            </a:endParaRPr>
          </a:p>
        </p:txBody>
      </p:sp>
      <p:sp>
        <p:nvSpPr>
          <p:cNvPr id="283" name="Google Shape;283;p18"/>
          <p:cNvSpPr txBox="1"/>
          <p:nvPr/>
        </p:nvSpPr>
        <p:spPr>
          <a:xfrm>
            <a:off x="6492240" y="3794760"/>
            <a:ext cx="2057400" cy="2743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accent6"/>
              </a:buClr>
              <a:buSzPts val="1000"/>
              <a:buFont typeface="Calibri"/>
              <a:buNone/>
            </a:pPr>
            <a:r>
              <a:rPr lang="en-US" sz="1000" b="0" i="1" u="none" strike="noStrike" cap="none">
                <a:solidFill>
                  <a:schemeClr val="accent6"/>
                </a:solidFill>
                <a:latin typeface="Calibri"/>
                <a:ea typeface="Calibri"/>
                <a:cs typeface="Calibri"/>
                <a:sym typeface="Calibri"/>
              </a:rPr>
              <a:t>Illustrative arithmetic</a:t>
            </a:r>
            <a:endParaRPr sz="1000" b="0" i="0" u="none" strike="noStrike" cap="none">
              <a:solidFill>
                <a:schemeClr val="dk1"/>
              </a:solidFill>
              <a:latin typeface="Calibri"/>
              <a:ea typeface="Calibri"/>
              <a:cs typeface="Calibri"/>
              <a:sym typeface="Calibri"/>
            </a:endParaRPr>
          </a:p>
        </p:txBody>
      </p:sp>
      <p:sp>
        <p:nvSpPr>
          <p:cNvPr id="284" name="Google Shape;284;p18"/>
          <p:cNvSpPr txBox="1"/>
          <p:nvPr/>
        </p:nvSpPr>
        <p:spPr>
          <a:xfrm>
            <a:off x="457200" y="4498848"/>
            <a:ext cx="768096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900"/>
              <a:buFont typeface="Calibri"/>
              <a:buNone/>
            </a:pPr>
            <a:r>
              <a:rPr lang="en-US" sz="900" b="0" i="1" u="none" strike="noStrike" cap="none">
                <a:solidFill>
                  <a:schemeClr val="accent6"/>
                </a:solidFill>
                <a:latin typeface="Calibri"/>
                <a:ea typeface="Calibri"/>
                <a:cs typeface="Calibri"/>
                <a:sym typeface="Calibri"/>
              </a:rPr>
              <a:t>Hu et al. 2021, LoRA: Low-Rank Adaptation of Large Language Models, arXiv:2106.09685</a:t>
            </a:r>
            <a:endParaRPr sz="900" b="0" i="0" u="none" strike="noStrike" cap="none">
              <a:solidFill>
                <a:schemeClr val="dk1"/>
              </a:solidFill>
              <a:latin typeface="Calibri"/>
              <a:ea typeface="Calibri"/>
              <a:cs typeface="Calibri"/>
              <a:sym typeface="Calibri"/>
            </a:endParaRPr>
          </a:p>
        </p:txBody>
      </p:sp>
      <p:sp>
        <p:nvSpPr>
          <p:cNvPr id="285" name="Google Shape;285;p18"/>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12</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19"/>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What the “Q” adds</a:t>
            </a:r>
            <a:endParaRPr sz="3000"/>
          </a:p>
        </p:txBody>
      </p:sp>
      <p:sp>
        <p:nvSpPr>
          <p:cNvPr id="292" name="Google Shape;292;p19"/>
          <p:cNvSpPr/>
          <p:nvPr/>
        </p:nvSpPr>
        <p:spPr>
          <a:xfrm>
            <a:off x="457200" y="1188720"/>
            <a:ext cx="2560320" cy="2194560"/>
          </a:xfrm>
          <a:prstGeom prst="roundRect">
            <a:avLst>
              <a:gd name="adj" fmla="val 3333"/>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9"/>
          <p:cNvSpPr/>
          <p:nvPr/>
        </p:nvSpPr>
        <p:spPr>
          <a:xfrm>
            <a:off x="731520" y="1371600"/>
            <a:ext cx="548640" cy="54864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4" name="Google Shape;294;p19" descr="icon"/>
          <p:cNvPicPr preferRelativeResize="0"/>
          <p:nvPr/>
        </p:nvPicPr>
        <p:blipFill rotWithShape="1">
          <a:blip r:embed="rId3">
            <a:alphaModFix/>
          </a:blip>
          <a:srcRect/>
          <a:stretch/>
        </p:blipFill>
        <p:spPr>
          <a:xfrm>
            <a:off x="852221" y="1492301"/>
            <a:ext cx="307238" cy="307238"/>
          </a:xfrm>
          <a:prstGeom prst="rect">
            <a:avLst/>
          </a:prstGeom>
          <a:noFill/>
          <a:ln>
            <a:noFill/>
          </a:ln>
        </p:spPr>
      </p:pic>
      <p:sp>
        <p:nvSpPr>
          <p:cNvPr id="295" name="Google Shape;295;p19"/>
          <p:cNvSpPr txBox="1"/>
          <p:nvPr/>
        </p:nvSpPr>
        <p:spPr>
          <a:xfrm>
            <a:off x="1417320" y="1371600"/>
            <a:ext cx="155448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NF4</a:t>
            </a:r>
            <a:endParaRPr sz="1600" b="0" i="0" u="none" strike="noStrike" cap="none">
              <a:solidFill>
                <a:schemeClr val="dk1"/>
              </a:solidFill>
              <a:latin typeface="Calibri"/>
              <a:ea typeface="Calibri"/>
              <a:cs typeface="Calibri"/>
              <a:sym typeface="Calibri"/>
            </a:endParaRPr>
          </a:p>
        </p:txBody>
      </p:sp>
      <p:sp>
        <p:nvSpPr>
          <p:cNvPr id="296" name="Google Shape;296;p19"/>
          <p:cNvSpPr txBox="1"/>
          <p:nvPr/>
        </p:nvSpPr>
        <p:spPr>
          <a:xfrm>
            <a:off x="731520" y="2057400"/>
            <a:ext cx="2103120" cy="12801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4-bit NormalFloat: levels placed where normally distributed weights actually fall</a:t>
            </a:r>
            <a:endParaRPr sz="1400" b="0" i="0" u="none" strike="noStrike" cap="none">
              <a:solidFill>
                <a:schemeClr val="dk1"/>
              </a:solidFill>
              <a:latin typeface="Calibri"/>
              <a:ea typeface="Calibri"/>
              <a:cs typeface="Calibri"/>
              <a:sym typeface="Calibri"/>
            </a:endParaRPr>
          </a:p>
        </p:txBody>
      </p:sp>
      <p:sp>
        <p:nvSpPr>
          <p:cNvPr id="297" name="Google Shape;297;p19"/>
          <p:cNvSpPr/>
          <p:nvPr/>
        </p:nvSpPr>
        <p:spPr>
          <a:xfrm>
            <a:off x="3291840" y="1188720"/>
            <a:ext cx="2560320" cy="2194560"/>
          </a:xfrm>
          <a:prstGeom prst="roundRect">
            <a:avLst>
              <a:gd name="adj" fmla="val 3333"/>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9"/>
          <p:cNvSpPr/>
          <p:nvPr/>
        </p:nvSpPr>
        <p:spPr>
          <a:xfrm>
            <a:off x="3566160" y="1371600"/>
            <a:ext cx="548640" cy="54864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9" name="Google Shape;299;p19" descr="icon"/>
          <p:cNvPicPr preferRelativeResize="0"/>
          <p:nvPr/>
        </p:nvPicPr>
        <p:blipFill rotWithShape="1">
          <a:blip r:embed="rId4">
            <a:alphaModFix/>
          </a:blip>
          <a:srcRect/>
          <a:stretch/>
        </p:blipFill>
        <p:spPr>
          <a:xfrm>
            <a:off x="3686861" y="1492301"/>
            <a:ext cx="307238" cy="307238"/>
          </a:xfrm>
          <a:prstGeom prst="rect">
            <a:avLst/>
          </a:prstGeom>
          <a:noFill/>
          <a:ln>
            <a:noFill/>
          </a:ln>
        </p:spPr>
      </p:pic>
      <p:sp>
        <p:nvSpPr>
          <p:cNvPr id="300" name="Google Shape;300;p19"/>
          <p:cNvSpPr txBox="1"/>
          <p:nvPr/>
        </p:nvSpPr>
        <p:spPr>
          <a:xfrm>
            <a:off x="4251960" y="1371600"/>
            <a:ext cx="155448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Double quantization</a:t>
            </a:r>
            <a:endParaRPr sz="1600" b="0" i="0" u="none" strike="noStrike" cap="none">
              <a:solidFill>
                <a:schemeClr val="dk1"/>
              </a:solidFill>
              <a:latin typeface="Calibri"/>
              <a:ea typeface="Calibri"/>
              <a:cs typeface="Calibri"/>
              <a:sym typeface="Calibri"/>
            </a:endParaRPr>
          </a:p>
        </p:txBody>
      </p:sp>
      <p:sp>
        <p:nvSpPr>
          <p:cNvPr id="301" name="Google Shape;301;p19"/>
          <p:cNvSpPr txBox="1"/>
          <p:nvPr/>
        </p:nvSpPr>
        <p:spPr>
          <a:xfrm>
            <a:off x="3566160" y="2057400"/>
            <a:ext cx="2103120" cy="12801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Quantizes the quantization constants too, saving roughly a third of a bit per parameter</a:t>
            </a:r>
            <a:endParaRPr sz="1400" b="0" i="0" u="none" strike="noStrike" cap="none">
              <a:solidFill>
                <a:schemeClr val="dk1"/>
              </a:solidFill>
              <a:latin typeface="Calibri"/>
              <a:ea typeface="Calibri"/>
              <a:cs typeface="Calibri"/>
              <a:sym typeface="Calibri"/>
            </a:endParaRPr>
          </a:p>
        </p:txBody>
      </p:sp>
      <p:sp>
        <p:nvSpPr>
          <p:cNvPr id="302" name="Google Shape;302;p19"/>
          <p:cNvSpPr/>
          <p:nvPr/>
        </p:nvSpPr>
        <p:spPr>
          <a:xfrm>
            <a:off x="6126480" y="1188720"/>
            <a:ext cx="2560320" cy="2194560"/>
          </a:xfrm>
          <a:prstGeom prst="roundRect">
            <a:avLst>
              <a:gd name="adj" fmla="val 3333"/>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9"/>
          <p:cNvSpPr/>
          <p:nvPr/>
        </p:nvSpPr>
        <p:spPr>
          <a:xfrm>
            <a:off x="6400800" y="1371600"/>
            <a:ext cx="548640" cy="54864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4" name="Google Shape;304;p19" descr="icon"/>
          <p:cNvPicPr preferRelativeResize="0"/>
          <p:nvPr/>
        </p:nvPicPr>
        <p:blipFill rotWithShape="1">
          <a:blip r:embed="rId5">
            <a:alphaModFix/>
          </a:blip>
          <a:srcRect/>
          <a:stretch/>
        </p:blipFill>
        <p:spPr>
          <a:xfrm>
            <a:off x="6521501" y="1492301"/>
            <a:ext cx="307238" cy="307238"/>
          </a:xfrm>
          <a:prstGeom prst="rect">
            <a:avLst/>
          </a:prstGeom>
          <a:noFill/>
          <a:ln>
            <a:noFill/>
          </a:ln>
        </p:spPr>
      </p:pic>
      <p:sp>
        <p:nvSpPr>
          <p:cNvPr id="305" name="Google Shape;305;p19"/>
          <p:cNvSpPr txBox="1"/>
          <p:nvPr/>
        </p:nvSpPr>
        <p:spPr>
          <a:xfrm>
            <a:off x="7086600" y="1371600"/>
            <a:ext cx="155448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Paged optimizers</a:t>
            </a:r>
            <a:endParaRPr sz="1600" b="0" i="0" u="none" strike="noStrike" cap="none">
              <a:solidFill>
                <a:schemeClr val="dk1"/>
              </a:solidFill>
              <a:latin typeface="Calibri"/>
              <a:ea typeface="Calibri"/>
              <a:cs typeface="Calibri"/>
              <a:sym typeface="Calibri"/>
            </a:endParaRPr>
          </a:p>
        </p:txBody>
      </p:sp>
      <p:sp>
        <p:nvSpPr>
          <p:cNvPr id="306" name="Google Shape;306;p19"/>
          <p:cNvSpPr txBox="1"/>
          <p:nvPr/>
        </p:nvSpPr>
        <p:spPr>
          <a:xfrm>
            <a:off x="6400800" y="2057400"/>
            <a:ext cx="2103120" cy="12801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Unified memory absorbs memory spikes that would otherwise crash training</a:t>
            </a:r>
            <a:endParaRPr sz="1400" b="0" i="0" u="none" strike="noStrike" cap="none">
              <a:solidFill>
                <a:schemeClr val="dk1"/>
              </a:solidFill>
              <a:latin typeface="Calibri"/>
              <a:ea typeface="Calibri"/>
              <a:cs typeface="Calibri"/>
              <a:sym typeface="Calibri"/>
            </a:endParaRPr>
          </a:p>
        </p:txBody>
      </p:sp>
      <p:sp>
        <p:nvSpPr>
          <p:cNvPr id="307" name="Google Shape;307;p19"/>
          <p:cNvSpPr/>
          <p:nvPr/>
        </p:nvSpPr>
        <p:spPr>
          <a:xfrm>
            <a:off x="457200" y="3611880"/>
            <a:ext cx="8229600" cy="731520"/>
          </a:xfrm>
          <a:prstGeom prst="roundRect">
            <a:avLst>
              <a:gd name="adj" fmla="val 1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9"/>
          <p:cNvSpPr txBox="1"/>
          <p:nvPr/>
        </p:nvSpPr>
        <p:spPr>
          <a:xfrm>
            <a:off x="685800" y="3611880"/>
            <a:ext cx="777240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1"/>
              </a:buClr>
              <a:buSzPts val="1500"/>
              <a:buFont typeface="Calibri"/>
              <a:buNone/>
            </a:pPr>
            <a:r>
              <a:rPr lang="en-US" sz="1500" b="1" i="0" u="none" strike="noStrike" cap="none">
                <a:solidFill>
                  <a:schemeClr val="dk1"/>
                </a:solidFill>
                <a:latin typeface="Calibri"/>
                <a:ea typeface="Calibri"/>
                <a:cs typeface="Calibri"/>
                <a:sym typeface="Calibri"/>
              </a:rPr>
              <a:t>Store in 4-bit, compute in 16-bit. </a:t>
            </a:r>
            <a:r>
              <a:rPr lang="en-US" sz="1500" b="0" i="0" u="none" strike="noStrike" cap="none">
                <a:solidFill>
                  <a:schemeClr val="dk2"/>
                </a:solidFill>
                <a:latin typeface="Calibri"/>
                <a:ea typeface="Calibri"/>
                <a:cs typeface="Calibri"/>
                <a:sym typeface="Calibri"/>
              </a:rPr>
              <a:t>Enough to fine-tune a 65B-Dense model on one 48 GB GPU in the original paper.</a:t>
            </a:r>
            <a:endParaRPr sz="1500" b="0" i="0" u="none" strike="noStrike" cap="none">
              <a:solidFill>
                <a:schemeClr val="dk1"/>
              </a:solidFill>
              <a:latin typeface="Calibri"/>
              <a:ea typeface="Calibri"/>
              <a:cs typeface="Calibri"/>
              <a:sym typeface="Calibri"/>
            </a:endParaRPr>
          </a:p>
        </p:txBody>
      </p:sp>
      <p:sp>
        <p:nvSpPr>
          <p:cNvPr id="309" name="Google Shape;309;p19"/>
          <p:cNvSpPr txBox="1"/>
          <p:nvPr/>
        </p:nvSpPr>
        <p:spPr>
          <a:xfrm>
            <a:off x="457200" y="4498848"/>
            <a:ext cx="768096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900"/>
              <a:buFont typeface="Calibri"/>
              <a:buNone/>
            </a:pPr>
            <a:r>
              <a:rPr lang="en-US" sz="900" b="0" i="1" u="none" strike="noStrike" cap="none">
                <a:solidFill>
                  <a:schemeClr val="accent6"/>
                </a:solidFill>
                <a:latin typeface="Calibri"/>
                <a:ea typeface="Calibri"/>
                <a:cs typeface="Calibri"/>
                <a:sym typeface="Calibri"/>
              </a:rPr>
              <a:t>Dettmers et al. 2023, QLoRA: Efficient Finetuning of Quantized LLMs, arXiv:2305.14314</a:t>
            </a:r>
            <a:endParaRPr sz="900" b="0" i="0" u="none" strike="noStrike" cap="none">
              <a:solidFill>
                <a:schemeClr val="dk1"/>
              </a:solidFill>
              <a:latin typeface="Calibri"/>
              <a:ea typeface="Calibri"/>
              <a:cs typeface="Calibri"/>
              <a:sym typeface="Calibri"/>
            </a:endParaRPr>
          </a:p>
        </p:txBody>
      </p:sp>
      <p:sp>
        <p:nvSpPr>
          <p:cNvPr id="310" name="Google Shape;310;p19"/>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13</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20"/>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Teaching the format: the training corpus</a:t>
            </a:r>
            <a:endParaRPr sz="3000"/>
          </a:p>
        </p:txBody>
      </p:sp>
      <p:sp>
        <p:nvSpPr>
          <p:cNvPr id="317" name="Google Shape;317;p20"/>
          <p:cNvSpPr/>
          <p:nvPr/>
        </p:nvSpPr>
        <p:spPr>
          <a:xfrm>
            <a:off x="457200" y="1188720"/>
            <a:ext cx="2560320" cy="2011680"/>
          </a:xfrm>
          <a:prstGeom prst="roundRect">
            <a:avLst>
              <a:gd name="adj" fmla="val 363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0"/>
          <p:cNvSpPr txBox="1"/>
          <p:nvPr/>
        </p:nvSpPr>
        <p:spPr>
          <a:xfrm>
            <a:off x="640080" y="1325880"/>
            <a:ext cx="2194560" cy="8686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accent2"/>
              </a:buClr>
              <a:buSzPts val="4800"/>
              <a:buFont typeface="Cambria"/>
              <a:buNone/>
            </a:pPr>
            <a:r>
              <a:rPr lang="en-US" sz="4800" b="1" i="0" u="none" strike="noStrike" cap="none">
                <a:solidFill>
                  <a:schemeClr val="accent2"/>
                </a:solidFill>
                <a:latin typeface="Cambria"/>
                <a:ea typeface="Cambria"/>
                <a:cs typeface="Cambria"/>
                <a:sym typeface="Cambria"/>
              </a:rPr>
              <a:t>20</a:t>
            </a:r>
            <a:endParaRPr sz="4800" b="0" i="0" u="none" strike="noStrike" cap="none">
              <a:solidFill>
                <a:schemeClr val="dk1"/>
              </a:solidFill>
              <a:latin typeface="Calibri"/>
              <a:ea typeface="Calibri"/>
              <a:cs typeface="Calibri"/>
              <a:sym typeface="Calibri"/>
            </a:endParaRPr>
          </a:p>
        </p:txBody>
      </p:sp>
      <p:sp>
        <p:nvSpPr>
          <p:cNvPr id="319" name="Google Shape;319;p20"/>
          <p:cNvSpPr txBox="1"/>
          <p:nvPr/>
        </p:nvSpPr>
        <p:spPr>
          <a:xfrm>
            <a:off x="685800" y="2240280"/>
            <a:ext cx="2103120" cy="86868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deliberately poorly written production-style programs</a:t>
            </a:r>
            <a:endParaRPr sz="1400" b="0" i="0" u="none" strike="noStrike" cap="none">
              <a:solidFill>
                <a:schemeClr val="dk1"/>
              </a:solidFill>
              <a:latin typeface="Calibri"/>
              <a:ea typeface="Calibri"/>
              <a:cs typeface="Calibri"/>
              <a:sym typeface="Calibri"/>
            </a:endParaRPr>
          </a:p>
        </p:txBody>
      </p:sp>
      <p:sp>
        <p:nvSpPr>
          <p:cNvPr id="320" name="Google Shape;320;p20"/>
          <p:cNvSpPr/>
          <p:nvPr/>
        </p:nvSpPr>
        <p:spPr>
          <a:xfrm>
            <a:off x="3044952" y="2057400"/>
            <a:ext cx="219456" cy="274320"/>
          </a:xfrm>
          <a:prstGeom prst="rightArrow">
            <a:avLst>
              <a:gd name="adj1" fmla="val 50000"/>
              <a:gd name="adj2"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0"/>
          <p:cNvSpPr/>
          <p:nvPr/>
        </p:nvSpPr>
        <p:spPr>
          <a:xfrm>
            <a:off x="3291840" y="1188720"/>
            <a:ext cx="2560320" cy="2011680"/>
          </a:xfrm>
          <a:prstGeom prst="roundRect">
            <a:avLst>
              <a:gd name="adj" fmla="val 363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0"/>
          <p:cNvSpPr txBox="1"/>
          <p:nvPr/>
        </p:nvSpPr>
        <p:spPr>
          <a:xfrm>
            <a:off x="3474720" y="1325880"/>
            <a:ext cx="2194560" cy="8686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accent2"/>
              </a:buClr>
              <a:buSzPts val="4800"/>
              <a:buFont typeface="Cambria"/>
              <a:buNone/>
            </a:pPr>
            <a:r>
              <a:rPr lang="en-US" sz="4800" b="1" i="0" u="none" strike="noStrike" cap="none">
                <a:solidFill>
                  <a:schemeClr val="accent2"/>
                </a:solidFill>
                <a:latin typeface="Cambria"/>
                <a:ea typeface="Cambria"/>
                <a:cs typeface="Cambria"/>
                <a:sym typeface="Cambria"/>
              </a:rPr>
              <a:t>+</a:t>
            </a:r>
            <a:endParaRPr sz="4800" b="0" i="0" u="none" strike="noStrike" cap="none">
              <a:solidFill>
                <a:schemeClr val="dk1"/>
              </a:solidFill>
              <a:latin typeface="Calibri"/>
              <a:ea typeface="Calibri"/>
              <a:cs typeface="Calibri"/>
              <a:sym typeface="Calibri"/>
            </a:endParaRPr>
          </a:p>
        </p:txBody>
      </p:sp>
      <p:sp>
        <p:nvSpPr>
          <p:cNvPr id="323" name="Google Shape;323;p20"/>
          <p:cNvSpPr txBox="1"/>
          <p:nvPr/>
        </p:nvSpPr>
        <p:spPr>
          <a:xfrm>
            <a:off x="3520440" y="2240280"/>
            <a:ext cx="2103120" cy="86868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hand-written data dictionary for each</a:t>
            </a:r>
            <a:endParaRPr sz="1400" b="0" i="0" u="none" strike="noStrike" cap="none">
              <a:solidFill>
                <a:schemeClr val="dk1"/>
              </a:solidFill>
              <a:latin typeface="Calibri"/>
              <a:ea typeface="Calibri"/>
              <a:cs typeface="Calibri"/>
              <a:sym typeface="Calibri"/>
            </a:endParaRPr>
          </a:p>
        </p:txBody>
      </p:sp>
      <p:sp>
        <p:nvSpPr>
          <p:cNvPr id="324" name="Google Shape;324;p20"/>
          <p:cNvSpPr/>
          <p:nvPr/>
        </p:nvSpPr>
        <p:spPr>
          <a:xfrm>
            <a:off x="5879592" y="2057400"/>
            <a:ext cx="219456" cy="274320"/>
          </a:xfrm>
          <a:prstGeom prst="rightArrow">
            <a:avLst>
              <a:gd name="adj1" fmla="val 50000"/>
              <a:gd name="adj2"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0"/>
          <p:cNvSpPr/>
          <p:nvPr/>
        </p:nvSpPr>
        <p:spPr>
          <a:xfrm>
            <a:off x="6126480" y="1188720"/>
            <a:ext cx="2560320" cy="2011680"/>
          </a:xfrm>
          <a:prstGeom prst="roundRect">
            <a:avLst>
              <a:gd name="adj" fmla="val 3636"/>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0"/>
          <p:cNvSpPr txBox="1"/>
          <p:nvPr/>
        </p:nvSpPr>
        <p:spPr>
          <a:xfrm>
            <a:off x="6309360" y="1325880"/>
            <a:ext cx="2194560" cy="8686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4800"/>
              <a:buFont typeface="Cambria"/>
              <a:buNone/>
            </a:pPr>
            <a:r>
              <a:rPr lang="en-US" sz="4800" b="1" i="0" u="none" strike="noStrike" cap="none">
                <a:solidFill>
                  <a:schemeClr val="lt1"/>
                </a:solidFill>
                <a:latin typeface="Cambria"/>
                <a:ea typeface="Cambria"/>
                <a:cs typeface="Cambria"/>
                <a:sym typeface="Cambria"/>
              </a:rPr>
              <a:t>~580</a:t>
            </a:r>
            <a:endParaRPr sz="4800" b="0" i="0" u="none" strike="noStrike" cap="none">
              <a:solidFill>
                <a:schemeClr val="dk1"/>
              </a:solidFill>
              <a:latin typeface="Calibri"/>
              <a:ea typeface="Calibri"/>
              <a:cs typeface="Calibri"/>
              <a:sym typeface="Calibri"/>
            </a:endParaRPr>
          </a:p>
        </p:txBody>
      </p:sp>
      <p:sp>
        <p:nvSpPr>
          <p:cNvPr id="327" name="Google Shape;327;p20"/>
          <p:cNvSpPr txBox="1"/>
          <p:nvPr/>
        </p:nvSpPr>
        <p:spPr>
          <a:xfrm>
            <a:off x="6355080" y="2240280"/>
            <a:ext cx="2103120" cy="86868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lt1"/>
              </a:buClr>
              <a:buSzPts val="1400"/>
              <a:buFont typeface="Calibri"/>
              <a:buNone/>
            </a:pPr>
            <a:r>
              <a:rPr lang="en-US" sz="1400" b="0" i="0" u="none" strike="noStrike" cap="none">
                <a:solidFill>
                  <a:schemeClr val="lt1"/>
                </a:solidFill>
                <a:latin typeface="Calibri"/>
                <a:ea typeface="Calibri"/>
                <a:cs typeface="Calibri"/>
                <a:sym typeface="Calibri"/>
              </a:rPr>
              <a:t>chunked input → output training pairs</a:t>
            </a:r>
            <a:endParaRPr sz="1400" b="0" i="0" u="none" strike="noStrike" cap="none">
              <a:solidFill>
                <a:schemeClr val="dk1"/>
              </a:solidFill>
              <a:latin typeface="Calibri"/>
              <a:ea typeface="Calibri"/>
              <a:cs typeface="Calibri"/>
              <a:sym typeface="Calibri"/>
            </a:endParaRPr>
          </a:p>
        </p:txBody>
      </p:sp>
      <p:sp>
        <p:nvSpPr>
          <p:cNvPr id="328" name="Google Shape;328;p20"/>
          <p:cNvSpPr/>
          <p:nvPr/>
        </p:nvSpPr>
        <p:spPr>
          <a:xfrm>
            <a:off x="457200" y="3520440"/>
            <a:ext cx="457200" cy="457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29" name="Google Shape;329;p20" descr="icon"/>
          <p:cNvPicPr preferRelativeResize="0"/>
          <p:nvPr/>
        </p:nvPicPr>
        <p:blipFill rotWithShape="1">
          <a:blip r:embed="rId3">
            <a:alphaModFix/>
          </a:blip>
          <a:srcRect/>
          <a:stretch/>
        </p:blipFill>
        <p:spPr>
          <a:xfrm>
            <a:off x="557784" y="3621024"/>
            <a:ext cx="256032" cy="256032"/>
          </a:xfrm>
          <a:prstGeom prst="rect">
            <a:avLst/>
          </a:prstGeom>
          <a:noFill/>
          <a:ln>
            <a:noFill/>
          </a:ln>
        </p:spPr>
      </p:pic>
      <p:sp>
        <p:nvSpPr>
          <p:cNvPr id="330" name="Google Shape;330;p20"/>
          <p:cNvSpPr txBox="1"/>
          <p:nvPr/>
        </p:nvSpPr>
        <p:spPr>
          <a:xfrm>
            <a:off x="1051560" y="3493008"/>
            <a:ext cx="3383280" cy="8686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Each pair: a slice of SAS code and the schema-valid JSON it should become, with sources and UNKNOWNs</a:t>
            </a:r>
            <a:endParaRPr sz="1400" b="0" i="0" u="none" strike="noStrike" cap="none">
              <a:solidFill>
                <a:schemeClr val="dk1"/>
              </a:solidFill>
              <a:latin typeface="Calibri"/>
              <a:ea typeface="Calibri"/>
              <a:cs typeface="Calibri"/>
              <a:sym typeface="Calibri"/>
            </a:endParaRPr>
          </a:p>
        </p:txBody>
      </p:sp>
      <p:sp>
        <p:nvSpPr>
          <p:cNvPr id="331" name="Google Shape;331;p20"/>
          <p:cNvSpPr/>
          <p:nvPr/>
        </p:nvSpPr>
        <p:spPr>
          <a:xfrm>
            <a:off x="4663440" y="3520440"/>
            <a:ext cx="457200" cy="457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32" name="Google Shape;332;p20" descr="icon"/>
          <p:cNvPicPr preferRelativeResize="0"/>
          <p:nvPr/>
        </p:nvPicPr>
        <p:blipFill rotWithShape="1">
          <a:blip r:embed="rId4">
            <a:alphaModFix/>
          </a:blip>
          <a:srcRect/>
          <a:stretch/>
        </p:blipFill>
        <p:spPr>
          <a:xfrm>
            <a:off x="4764024" y="3621024"/>
            <a:ext cx="256032" cy="256032"/>
          </a:xfrm>
          <a:prstGeom prst="rect">
            <a:avLst/>
          </a:prstGeom>
          <a:noFill/>
          <a:ln>
            <a:noFill/>
          </a:ln>
        </p:spPr>
      </p:pic>
      <p:sp>
        <p:nvSpPr>
          <p:cNvPr id="333" name="Google Shape;333;p20"/>
          <p:cNvSpPr txBox="1"/>
          <p:nvPr/>
        </p:nvSpPr>
        <p:spPr>
          <a:xfrm>
            <a:off x="5257800" y="3493008"/>
            <a:ext cx="3383280" cy="8686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All 20 evaluation programs held out: never seen in training</a:t>
            </a:r>
            <a:endParaRPr sz="1400" b="0" i="0" u="none" strike="noStrike" cap="none">
              <a:solidFill>
                <a:schemeClr val="dk1"/>
              </a:solidFill>
              <a:latin typeface="Calibri"/>
              <a:ea typeface="Calibri"/>
              <a:cs typeface="Calibri"/>
              <a:sym typeface="Calibri"/>
            </a:endParaRPr>
          </a:p>
        </p:txBody>
      </p:sp>
      <p:sp>
        <p:nvSpPr>
          <p:cNvPr id="334" name="Google Shape;334;p20"/>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14</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21"/>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Hyperparameters</a:t>
            </a:r>
            <a:endParaRPr sz="3000"/>
          </a:p>
        </p:txBody>
      </p:sp>
      <p:graphicFrame>
        <p:nvGraphicFramePr>
          <p:cNvPr id="341" name="Google Shape;341;p21"/>
          <p:cNvGraphicFramePr/>
          <p:nvPr/>
        </p:nvGraphicFramePr>
        <p:xfrm>
          <a:off x="457200" y="1188720"/>
          <a:ext cx="8229600" cy="3072400"/>
        </p:xfrm>
        <a:graphic>
          <a:graphicData uri="http://schemas.openxmlformats.org/drawingml/2006/table">
            <a:tbl>
              <a:tblPr>
                <a:noFill/>
                <a:tableStyleId>{E3FAFB85-15B4-4D02-8765-A39C6FE7A2AA}</a:tableStyleId>
              </a:tblPr>
              <a:tblGrid>
                <a:gridCol w="2194550">
                  <a:extLst>
                    <a:ext uri="{9D8B030D-6E8A-4147-A177-3AD203B41FA5}">
                      <a16:colId xmlns:a16="http://schemas.microsoft.com/office/drawing/2014/main" val="20000"/>
                    </a:ext>
                  </a:extLst>
                </a:gridCol>
                <a:gridCol w="237745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384050">
                <a:tc>
                  <a:txBody>
                    <a:bodyPr/>
                    <a:lstStyle/>
                    <a:p>
                      <a:pPr marL="0" marR="0" lvl="0" indent="0" algn="l" rtl="0">
                        <a:spcBef>
                          <a:spcPts val="0"/>
                        </a:spcBef>
                        <a:spcAft>
                          <a:spcPts val="0"/>
                        </a:spcAft>
                        <a:buClr>
                          <a:schemeClr val="lt1"/>
                        </a:buClr>
                        <a:buSzPts val="1400"/>
                        <a:buFont typeface="Calibri"/>
                        <a:buNone/>
                      </a:pPr>
                      <a:r>
                        <a:rPr lang="en-US" sz="1400" b="1" u="none" strike="noStrike" cap="none">
                          <a:solidFill>
                            <a:schemeClr val="lt1"/>
                          </a:solidFill>
                        </a:rPr>
                        <a:t>Hyperparameter</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dk1"/>
                    </a:solidFill>
                  </a:tcPr>
                </a:tc>
                <a:tc>
                  <a:txBody>
                    <a:bodyPr/>
                    <a:lstStyle/>
                    <a:p>
                      <a:pPr marL="0" marR="0" lvl="0" indent="0" algn="l" rtl="0">
                        <a:spcBef>
                          <a:spcPts val="0"/>
                        </a:spcBef>
                        <a:spcAft>
                          <a:spcPts val="0"/>
                        </a:spcAft>
                        <a:buClr>
                          <a:schemeClr val="lt1"/>
                        </a:buClr>
                        <a:buSzPts val="1400"/>
                        <a:buFont typeface="Calibri"/>
                        <a:buNone/>
                      </a:pPr>
                      <a:r>
                        <a:rPr lang="en-US" sz="1400" b="1" u="none" strike="noStrike" cap="none">
                          <a:solidFill>
                            <a:schemeClr val="lt1"/>
                          </a:solidFill>
                        </a:rPr>
                        <a:t>Value (start → final)</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dk1"/>
                    </a:solidFill>
                  </a:tcPr>
                </a:tc>
                <a:tc>
                  <a:txBody>
                    <a:bodyPr/>
                    <a:lstStyle/>
                    <a:p>
                      <a:pPr marL="0" marR="0" lvl="0" indent="0" algn="l" rtl="0">
                        <a:spcBef>
                          <a:spcPts val="0"/>
                        </a:spcBef>
                        <a:spcAft>
                          <a:spcPts val="0"/>
                        </a:spcAft>
                        <a:buClr>
                          <a:schemeClr val="lt1"/>
                        </a:buClr>
                        <a:buSzPts val="1400"/>
                        <a:buFont typeface="Calibri"/>
                        <a:buNone/>
                      </a:pPr>
                      <a:r>
                        <a:rPr lang="en-US" sz="1400" b="1" u="none" strike="noStrike" cap="none">
                          <a:solidFill>
                            <a:schemeClr val="lt1"/>
                          </a:solidFill>
                        </a:rPr>
                        <a:t>Notes</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384050">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Base model</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Gemma 4 E2B-it, 4-bit</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NF4 quantization</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84050">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Adapter rank r</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16 → 32</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Attention + MLP projections</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84050">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Alpha α</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32 → 64</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α / r kept at 2</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84050">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Learning rate</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2e-4</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Cosine decay</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84050">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Epochs</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3 → 2</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400"/>
                        <a:buFont typeface="Calibri"/>
                        <a:buNone/>
                      </a:pP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384050">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Batch size</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4 → 1</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Gradient accumulation 8 (effective batch 8)</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384050">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Train time</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~1.5 hours</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One A100; varies with your GPU</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bl>
          </a:graphicData>
        </a:graphic>
      </p:graphicFrame>
      <p:sp>
        <p:nvSpPr>
          <p:cNvPr id="342" name="Google Shape;342;p21"/>
          <p:cNvSpPr txBox="1"/>
          <p:nvPr/>
        </p:nvSpPr>
        <p:spPr>
          <a:xfrm>
            <a:off x="457200" y="4498848"/>
            <a:ext cx="768096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900"/>
              <a:buFont typeface="Calibri"/>
              <a:buNone/>
            </a:pPr>
            <a:r>
              <a:rPr lang="en-US" sz="900" b="0" i="1" u="none" strike="noStrike" cap="none">
                <a:solidFill>
                  <a:schemeClr val="accent6"/>
                </a:solidFill>
                <a:latin typeface="Calibri"/>
                <a:ea typeface="Calibri"/>
                <a:cs typeface="Calibri"/>
                <a:sym typeface="Calibri"/>
              </a:rPr>
              <a:t>Table 1 in the paper. Final values match qlora_finetune.py.</a:t>
            </a:r>
            <a:endParaRPr sz="900" b="0" i="0" u="none" strike="noStrike" cap="none">
              <a:solidFill>
                <a:schemeClr val="dk1"/>
              </a:solidFill>
              <a:latin typeface="Calibri"/>
              <a:ea typeface="Calibri"/>
              <a:cs typeface="Calibri"/>
              <a:sym typeface="Calibri"/>
            </a:endParaRPr>
          </a:p>
        </p:txBody>
      </p:sp>
      <p:sp>
        <p:nvSpPr>
          <p:cNvPr id="343" name="Google Shape;343;p21"/>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15</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22"/>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The fine-tune in a dozen lines</a:t>
            </a:r>
            <a:endParaRPr sz="3000"/>
          </a:p>
        </p:txBody>
      </p:sp>
      <p:sp>
        <p:nvSpPr>
          <p:cNvPr id="350" name="Google Shape;350;p22"/>
          <p:cNvSpPr/>
          <p:nvPr/>
        </p:nvSpPr>
        <p:spPr>
          <a:xfrm>
            <a:off x="457200" y="1188720"/>
            <a:ext cx="5394960" cy="3200400"/>
          </a:xfrm>
          <a:prstGeom prst="roundRect">
            <a:avLst>
              <a:gd name="adj" fmla="val 2286"/>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2"/>
          <p:cNvSpPr txBox="1"/>
          <p:nvPr/>
        </p:nvSpPr>
        <p:spPr>
          <a:xfrm>
            <a:off x="640080" y="1325880"/>
            <a:ext cx="5029200" cy="29260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from </a:t>
            </a:r>
            <a:r>
              <a:rPr lang="en-US" sz="1200" b="0" i="0" u="none" strike="noStrike" cap="none" err="1">
                <a:solidFill>
                  <a:schemeClr val="lt2"/>
                </a:solidFill>
                <a:latin typeface="Courier New"/>
                <a:ea typeface="Courier New"/>
                <a:cs typeface="Courier New"/>
                <a:sym typeface="Courier New"/>
              </a:rPr>
              <a:t>peft</a:t>
            </a:r>
            <a:r>
              <a:rPr lang="en-US" sz="1200" b="0" i="0" u="none" strike="noStrike" cap="none">
                <a:solidFill>
                  <a:schemeClr val="lt2"/>
                </a:solidFill>
                <a:latin typeface="Courier New"/>
                <a:ea typeface="Courier New"/>
                <a:cs typeface="Courier New"/>
                <a:sym typeface="Courier New"/>
              </a:rPr>
              <a:t> import </a:t>
            </a:r>
            <a:r>
              <a:rPr lang="en-US" sz="1200" b="0" i="0" u="none" strike="noStrike" cap="none" err="1">
                <a:solidFill>
                  <a:schemeClr val="lt2"/>
                </a:solidFill>
                <a:latin typeface="Courier New"/>
                <a:ea typeface="Courier New"/>
                <a:cs typeface="Courier New"/>
                <a:sym typeface="Courier New"/>
              </a:rPr>
              <a:t>LoraConfig</a:t>
            </a:r>
            <a:r>
              <a:rPr lang="en-US" sz="1200" b="0" i="0" u="none" strike="noStrike" cap="none">
                <a:solidFill>
                  <a:schemeClr val="lt2"/>
                </a:solidFill>
                <a:latin typeface="Courier New"/>
                <a:ea typeface="Courier New"/>
                <a:cs typeface="Courier New"/>
                <a:sym typeface="Courier New"/>
              </a:rPr>
              <a:t>, </a:t>
            </a:r>
            <a:r>
              <a:rPr lang="en-US" sz="1200" b="0" i="0" u="none" strike="noStrike" cap="none" err="1">
                <a:solidFill>
                  <a:schemeClr val="lt2"/>
                </a:solidFill>
                <a:latin typeface="Courier New"/>
                <a:ea typeface="Courier New"/>
                <a:cs typeface="Courier New"/>
                <a:sym typeface="Courier New"/>
              </a:rPr>
              <a:t>get_peft_model</a:t>
            </a:r>
            <a:r>
              <a:rPr lang="en-US" sz="1200" b="0" i="0" u="none" strike="noStrike" cap="none">
                <a:solidFill>
                  <a:schemeClr val="lt2"/>
                </a:solidFill>
                <a:latin typeface="Courier New"/>
                <a:ea typeface="Courier New"/>
                <a:cs typeface="Courier New"/>
                <a:sym typeface="Courier New"/>
              </a:rPr>
              <a:t>, \</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a:t>
            </a:r>
            <a:r>
              <a:rPr lang="en-US" sz="1200" b="0" i="0" u="none" strike="noStrike" cap="none" err="1">
                <a:solidFill>
                  <a:schemeClr val="lt2"/>
                </a:solidFill>
                <a:latin typeface="Courier New"/>
                <a:ea typeface="Courier New"/>
                <a:cs typeface="Courier New"/>
                <a:sym typeface="Courier New"/>
              </a:rPr>
              <a:t>prepare_model_for_kbit_training</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model = </a:t>
            </a:r>
            <a:r>
              <a:rPr lang="en-US" sz="1200" b="0" i="0" u="none" strike="noStrike" cap="none" err="1">
                <a:solidFill>
                  <a:schemeClr val="lt2"/>
                </a:solidFill>
                <a:latin typeface="Courier New"/>
                <a:ea typeface="Courier New"/>
                <a:cs typeface="Courier New"/>
                <a:sym typeface="Courier New"/>
              </a:rPr>
              <a:t>AutoModelForCausalLM.from_pretrained</a:t>
            </a:r>
            <a:r>
              <a:rPr lang="en-US" sz="1200" b="0" i="0" u="none" strike="noStrike" cap="none">
                <a:solidFill>
                  <a:schemeClr val="lt2"/>
                </a:solidFill>
                <a:latin typeface="Courier New"/>
                <a:ea typeface="Courier New"/>
                <a:cs typeface="Courier New"/>
                <a:sym typeface="Courier New"/>
              </a:rPr>
              <a:t>(</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a:t>
            </a:r>
            <a:r>
              <a:rPr lang="en-US" sz="1200" b="0" i="0" u="none" strike="noStrike" cap="none" err="1">
                <a:solidFill>
                  <a:schemeClr val="lt2"/>
                </a:solidFill>
                <a:latin typeface="Courier New"/>
                <a:ea typeface="Courier New"/>
                <a:cs typeface="Courier New"/>
                <a:sym typeface="Courier New"/>
              </a:rPr>
              <a:t>args.model</a:t>
            </a:r>
            <a:r>
              <a:rPr lang="en-US" sz="1200" b="0" i="0" u="none" strike="noStrike" cap="none">
                <a:solidFill>
                  <a:schemeClr val="lt2"/>
                </a:solidFill>
                <a:latin typeface="Courier New"/>
                <a:ea typeface="Courier New"/>
                <a:cs typeface="Courier New"/>
                <a:sym typeface="Courier New"/>
              </a:rPr>
              <a:t>, revision=</a:t>
            </a:r>
            <a:r>
              <a:rPr lang="en-US" sz="1200" b="0" i="0" u="none" strike="noStrike" cap="none" err="1">
                <a:solidFill>
                  <a:schemeClr val="lt2"/>
                </a:solidFill>
                <a:latin typeface="Courier New"/>
                <a:ea typeface="Courier New"/>
                <a:cs typeface="Courier New"/>
                <a:sym typeface="Courier New"/>
              </a:rPr>
              <a:t>args.revision</a:t>
            </a:r>
            <a:r>
              <a:rPr lang="en-US" sz="1200" b="0" i="0" u="none" strike="noStrike" cap="none">
                <a:solidFill>
                  <a:schemeClr val="lt2"/>
                </a:solidFill>
                <a:latin typeface="Courier New"/>
                <a:ea typeface="Courier New"/>
                <a:cs typeface="Courier New"/>
                <a:sym typeface="Courier New"/>
              </a:rPr>
              <a:t>,</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a:t>
            </a:r>
            <a:r>
              <a:rPr lang="en-US" sz="1200" b="0" i="0" u="none" strike="noStrike" cap="none" err="1">
                <a:solidFill>
                  <a:schemeClr val="lt2"/>
                </a:solidFill>
                <a:latin typeface="Courier New"/>
                <a:ea typeface="Courier New"/>
                <a:cs typeface="Courier New"/>
                <a:sym typeface="Courier New"/>
              </a:rPr>
              <a:t>quantization_config</a:t>
            </a:r>
            <a:r>
              <a:rPr lang="en-US" sz="1200" b="0" i="0" u="none" strike="noStrike" cap="none">
                <a:solidFill>
                  <a:schemeClr val="lt2"/>
                </a:solidFill>
                <a:latin typeface="Courier New"/>
                <a:ea typeface="Courier New"/>
                <a:cs typeface="Courier New"/>
                <a:sym typeface="Courier New"/>
              </a:rPr>
              <a:t>=</a:t>
            </a:r>
            <a:r>
              <a:rPr lang="en-US" sz="1200" b="0" i="0" u="none" strike="noStrike" cap="none" err="1">
                <a:solidFill>
                  <a:schemeClr val="lt2"/>
                </a:solidFill>
                <a:latin typeface="Courier New"/>
                <a:ea typeface="Courier New"/>
                <a:cs typeface="Courier New"/>
                <a:sym typeface="Courier New"/>
              </a:rPr>
              <a:t>bnb</a:t>
            </a:r>
            <a:r>
              <a:rPr lang="en-US" sz="1200" b="0" i="0" u="none" strike="noStrike" cap="none">
                <a:solidFill>
                  <a:schemeClr val="lt2"/>
                </a:solidFill>
                <a:latin typeface="Courier New"/>
                <a:ea typeface="Courier New"/>
                <a:cs typeface="Courier New"/>
                <a:sym typeface="Courier New"/>
              </a:rPr>
              <a:t>)          # 1</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err="1">
                <a:solidFill>
                  <a:schemeClr val="lt2"/>
                </a:solidFill>
                <a:latin typeface="Courier New"/>
                <a:ea typeface="Courier New"/>
                <a:cs typeface="Courier New"/>
                <a:sym typeface="Courier New"/>
              </a:rPr>
              <a:t>model.config.use_cache</a:t>
            </a:r>
            <a:r>
              <a:rPr lang="en-US" sz="1200" b="0" i="0" u="none" strike="noStrike" cap="none">
                <a:solidFill>
                  <a:schemeClr val="lt2"/>
                </a:solidFill>
                <a:latin typeface="Courier New"/>
                <a:ea typeface="Courier New"/>
                <a:cs typeface="Courier New"/>
                <a:sym typeface="Courier New"/>
              </a:rPr>
              <a:t> = False       # 2</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model = </a:t>
            </a:r>
            <a:r>
              <a:rPr lang="en-US" sz="1200" b="0" i="0" u="none" strike="noStrike" cap="none" err="1">
                <a:solidFill>
                  <a:schemeClr val="lt2"/>
                </a:solidFill>
                <a:latin typeface="Courier New"/>
                <a:ea typeface="Courier New"/>
                <a:cs typeface="Courier New"/>
                <a:sym typeface="Courier New"/>
              </a:rPr>
              <a:t>prepare_model_for_kbit_training</a:t>
            </a:r>
            <a:r>
              <a:rPr lang="en-US" sz="1200" b="0" i="0" u="none" strike="noStrike" cap="none">
                <a:solidFill>
                  <a:schemeClr val="lt2"/>
                </a:solidFill>
                <a:latin typeface="Courier New"/>
                <a:ea typeface="Courier New"/>
                <a:cs typeface="Courier New"/>
                <a:sym typeface="Courier New"/>
              </a:rPr>
              <a:t>(model)</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lora = </a:t>
            </a:r>
            <a:r>
              <a:rPr lang="en-US" sz="1200" b="0" i="0" u="none" strike="noStrike" cap="none" err="1">
                <a:solidFill>
                  <a:schemeClr val="lt2"/>
                </a:solidFill>
                <a:latin typeface="Courier New"/>
                <a:ea typeface="Courier New"/>
                <a:cs typeface="Courier New"/>
                <a:sym typeface="Courier New"/>
              </a:rPr>
              <a:t>LoraConfig</a:t>
            </a:r>
            <a:r>
              <a:rPr lang="en-US" sz="1200" b="0" i="0" u="none" strike="noStrike" cap="none">
                <a:solidFill>
                  <a:schemeClr val="lt2"/>
                </a:solidFill>
                <a:latin typeface="Courier New"/>
                <a:ea typeface="Courier New"/>
                <a:cs typeface="Courier New"/>
                <a:sym typeface="Courier New"/>
              </a:rPr>
              <a:t>(</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r=32, </a:t>
            </a:r>
            <a:r>
              <a:rPr lang="en-US" sz="1200" b="0" i="0" u="none" strike="noStrike" cap="none" err="1">
                <a:solidFill>
                  <a:schemeClr val="lt2"/>
                </a:solidFill>
                <a:latin typeface="Courier New"/>
                <a:ea typeface="Courier New"/>
                <a:cs typeface="Courier New"/>
                <a:sym typeface="Courier New"/>
              </a:rPr>
              <a:t>lora_alpha</a:t>
            </a:r>
            <a:r>
              <a:rPr lang="en-US" sz="1200" b="0" i="0" u="none" strike="noStrike" cap="none">
                <a:solidFill>
                  <a:schemeClr val="lt2"/>
                </a:solidFill>
                <a:latin typeface="Courier New"/>
                <a:ea typeface="Courier New"/>
                <a:cs typeface="Courier New"/>
                <a:sym typeface="Courier New"/>
              </a:rPr>
              <a:t>=64, </a:t>
            </a:r>
            <a:r>
              <a:rPr lang="en-US" sz="1200" b="0" i="0" u="none" strike="noStrike" cap="none" err="1">
                <a:solidFill>
                  <a:schemeClr val="lt2"/>
                </a:solidFill>
                <a:latin typeface="Courier New"/>
                <a:ea typeface="Courier New"/>
                <a:cs typeface="Courier New"/>
                <a:sym typeface="Courier New"/>
              </a:rPr>
              <a:t>lora_dropout</a:t>
            </a:r>
            <a:r>
              <a:rPr lang="en-US" sz="1200" b="0" i="0" u="none" strike="noStrike" cap="none">
                <a:solidFill>
                  <a:schemeClr val="lt2"/>
                </a:solidFill>
                <a:latin typeface="Courier New"/>
                <a:ea typeface="Courier New"/>
                <a:cs typeface="Courier New"/>
                <a:sym typeface="Courier New"/>
              </a:rPr>
              <a:t>=0.05,</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a:t>
            </a:r>
            <a:r>
              <a:rPr lang="en-US" sz="1200" b="0" i="0" u="none" strike="noStrike" cap="none" err="1">
                <a:solidFill>
                  <a:schemeClr val="lt2"/>
                </a:solidFill>
                <a:latin typeface="Courier New"/>
                <a:ea typeface="Courier New"/>
                <a:cs typeface="Courier New"/>
                <a:sym typeface="Courier New"/>
              </a:rPr>
              <a:t>task_type</a:t>
            </a:r>
            <a:r>
              <a:rPr lang="en-US" sz="1200" b="0" i="0" u="none" strike="noStrike" cap="none">
                <a:solidFill>
                  <a:schemeClr val="lt2"/>
                </a:solidFill>
                <a:latin typeface="Courier New"/>
                <a:ea typeface="Courier New"/>
                <a:cs typeface="Courier New"/>
                <a:sym typeface="Courier New"/>
              </a:rPr>
              <a:t>="CAUSAL_LM",            # 3</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a:t>
            </a:r>
            <a:r>
              <a:rPr lang="en-US" sz="1200" b="0" i="0" u="none" strike="noStrike" cap="none" err="1">
                <a:solidFill>
                  <a:schemeClr val="lt2"/>
                </a:solidFill>
                <a:latin typeface="Courier New"/>
                <a:ea typeface="Courier New"/>
                <a:cs typeface="Courier New"/>
                <a:sym typeface="Courier New"/>
              </a:rPr>
              <a:t>target_modules</a:t>
            </a:r>
            <a:r>
              <a:rPr lang="en-US" sz="1200" b="0" i="0" u="none" strike="noStrike" cap="none">
                <a:solidFill>
                  <a:schemeClr val="lt2"/>
                </a:solidFill>
                <a:latin typeface="Courier New"/>
                <a:ea typeface="Courier New"/>
                <a:cs typeface="Courier New"/>
                <a:sym typeface="Courier New"/>
              </a:rPr>
              <a:t>=["q_</a:t>
            </a:r>
            <a:r>
              <a:rPr lang="en-US" sz="1200" b="0" i="0" u="none" strike="noStrike" cap="none" err="1">
                <a:solidFill>
                  <a:schemeClr val="lt2"/>
                </a:solidFill>
                <a:latin typeface="Courier New"/>
                <a:ea typeface="Courier New"/>
                <a:cs typeface="Courier New"/>
                <a:sym typeface="Courier New"/>
              </a:rPr>
              <a:t>proj</a:t>
            </a:r>
            <a:r>
              <a:rPr lang="en-US" sz="1200" b="0" i="0" u="none" strike="noStrike" cap="none">
                <a:solidFill>
                  <a:schemeClr val="lt2"/>
                </a:solidFill>
                <a:latin typeface="Courier New"/>
                <a:ea typeface="Courier New"/>
                <a:cs typeface="Courier New"/>
                <a:sym typeface="Courier New"/>
              </a:rPr>
              <a:t>","k_</a:t>
            </a:r>
            <a:r>
              <a:rPr lang="en-US" sz="1200" b="0" i="0" u="none" strike="noStrike" cap="none" err="1">
                <a:solidFill>
                  <a:schemeClr val="lt2"/>
                </a:solidFill>
                <a:latin typeface="Courier New"/>
                <a:ea typeface="Courier New"/>
                <a:cs typeface="Courier New"/>
                <a:sym typeface="Courier New"/>
              </a:rPr>
              <a:t>proj</a:t>
            </a:r>
            <a:r>
              <a:rPr lang="en-US" sz="1200" b="0" i="0" u="none" strike="noStrike" cap="none">
                <a:solidFill>
                  <a:schemeClr val="lt2"/>
                </a:solidFill>
                <a:latin typeface="Courier New"/>
                <a:ea typeface="Courier New"/>
                <a:cs typeface="Courier New"/>
                <a:sym typeface="Courier New"/>
              </a:rPr>
              <a:t>","</a:t>
            </a:r>
            <a:r>
              <a:rPr lang="en-US" sz="1200" b="0" i="0" u="none" strike="noStrike" cap="none" err="1">
                <a:solidFill>
                  <a:schemeClr val="lt2"/>
                </a:solidFill>
                <a:latin typeface="Courier New"/>
                <a:ea typeface="Courier New"/>
                <a:cs typeface="Courier New"/>
                <a:sym typeface="Courier New"/>
              </a:rPr>
              <a:t>v_proj</a:t>
            </a:r>
            <a:r>
              <a:rPr lang="en-US" sz="1200" b="0" i="0" u="none" strike="noStrike" cap="none">
                <a:solidFill>
                  <a:schemeClr val="lt2"/>
                </a:solidFill>
                <a:latin typeface="Courier New"/>
                <a:ea typeface="Courier New"/>
                <a:cs typeface="Courier New"/>
                <a:sym typeface="Courier New"/>
              </a:rPr>
              <a:t>",</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"o_</a:t>
            </a:r>
            <a:r>
              <a:rPr lang="en-US" sz="1200" b="0" i="0" u="none" strike="noStrike" cap="none" err="1">
                <a:solidFill>
                  <a:schemeClr val="lt2"/>
                </a:solidFill>
                <a:latin typeface="Courier New"/>
                <a:ea typeface="Courier New"/>
                <a:cs typeface="Courier New"/>
                <a:sym typeface="Courier New"/>
              </a:rPr>
              <a:t>proj</a:t>
            </a:r>
            <a:r>
              <a:rPr lang="en-US" sz="1200" b="0" i="0" u="none" strike="noStrike" cap="none">
                <a:solidFill>
                  <a:schemeClr val="lt2"/>
                </a:solidFill>
                <a:latin typeface="Courier New"/>
                <a:ea typeface="Courier New"/>
                <a:cs typeface="Courier New"/>
                <a:sym typeface="Courier New"/>
              </a:rPr>
              <a:t>","gate_</a:t>
            </a:r>
            <a:r>
              <a:rPr lang="en-US" sz="1200" b="0" i="0" u="none" strike="noStrike" cap="none" err="1">
                <a:solidFill>
                  <a:schemeClr val="lt2"/>
                </a:solidFill>
                <a:latin typeface="Courier New"/>
                <a:ea typeface="Courier New"/>
                <a:cs typeface="Courier New"/>
                <a:sym typeface="Courier New"/>
              </a:rPr>
              <a:t>proj</a:t>
            </a:r>
            <a:r>
              <a:rPr lang="en-US" sz="1200" b="0" i="0" u="none" strike="noStrike" cap="none">
                <a:solidFill>
                  <a:schemeClr val="lt2"/>
                </a:solidFill>
                <a:latin typeface="Courier New"/>
                <a:ea typeface="Courier New"/>
                <a:cs typeface="Courier New"/>
                <a:sym typeface="Courier New"/>
              </a:rPr>
              <a:t>","up_</a:t>
            </a:r>
            <a:r>
              <a:rPr lang="en-US" sz="1200" b="0" i="0" u="none" strike="noStrike" cap="none" err="1">
                <a:solidFill>
                  <a:schemeClr val="lt2"/>
                </a:solidFill>
                <a:latin typeface="Courier New"/>
                <a:ea typeface="Courier New"/>
                <a:cs typeface="Courier New"/>
                <a:sym typeface="Courier New"/>
              </a:rPr>
              <a:t>proj</a:t>
            </a:r>
            <a:r>
              <a:rPr lang="en-US" sz="1200" b="0" i="0" u="none" strike="noStrike" cap="none">
                <a:solidFill>
                  <a:schemeClr val="lt2"/>
                </a:solidFill>
                <a:latin typeface="Courier New"/>
                <a:ea typeface="Courier New"/>
                <a:cs typeface="Courier New"/>
                <a:sym typeface="Courier New"/>
              </a:rPr>
              <a:t>","</a:t>
            </a:r>
            <a:r>
              <a:rPr lang="en-US" sz="1200" b="0" i="0" u="none" strike="noStrike" cap="none" err="1">
                <a:solidFill>
                  <a:schemeClr val="lt2"/>
                </a:solidFill>
                <a:latin typeface="Courier New"/>
                <a:ea typeface="Courier New"/>
                <a:cs typeface="Courier New"/>
                <a:sym typeface="Courier New"/>
              </a:rPr>
              <a:t>down_proj</a:t>
            </a:r>
            <a:r>
              <a:rPr lang="en-US" sz="1200" b="0" i="0" u="none" strike="noStrike" cap="none">
                <a:solidFill>
                  <a:schemeClr val="lt2"/>
                </a:solidFill>
                <a:latin typeface="Courier New"/>
                <a:ea typeface="Courier New"/>
                <a:cs typeface="Courier New"/>
                <a:sym typeface="Courier New"/>
              </a:rPr>
              <a:t>"])</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model = </a:t>
            </a:r>
            <a:r>
              <a:rPr lang="en-US" sz="1200" b="0" i="0" u="none" strike="noStrike" cap="none" err="1">
                <a:solidFill>
                  <a:schemeClr val="lt2"/>
                </a:solidFill>
                <a:latin typeface="Courier New"/>
                <a:ea typeface="Courier New"/>
                <a:cs typeface="Courier New"/>
                <a:sym typeface="Courier New"/>
              </a:rPr>
              <a:t>get_peft_model</a:t>
            </a:r>
            <a:r>
              <a:rPr lang="en-US" sz="1200" b="0" i="0" u="none" strike="noStrike" cap="none">
                <a:solidFill>
                  <a:schemeClr val="lt2"/>
                </a:solidFill>
                <a:latin typeface="Courier New"/>
                <a:ea typeface="Courier New"/>
                <a:cs typeface="Courier New"/>
                <a:sym typeface="Courier New"/>
              </a:rPr>
              <a:t>(model, lora)  # 4</a:t>
            </a:r>
            <a:endParaRPr sz="1200" b="0" i="0" u="none" strike="noStrike" cap="none">
              <a:solidFill>
                <a:schemeClr val="dk1"/>
              </a:solidFill>
              <a:latin typeface="Calibri"/>
              <a:ea typeface="Calibri"/>
              <a:cs typeface="Calibri"/>
              <a:sym typeface="Calibri"/>
            </a:endParaRPr>
          </a:p>
        </p:txBody>
      </p:sp>
      <p:sp>
        <p:nvSpPr>
          <p:cNvPr id="352" name="Google Shape;352;p22"/>
          <p:cNvSpPr/>
          <p:nvPr/>
        </p:nvSpPr>
        <p:spPr>
          <a:xfrm>
            <a:off x="6126480" y="1188720"/>
            <a:ext cx="365760" cy="36576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2"/>
          <p:cNvSpPr txBox="1"/>
          <p:nvPr/>
        </p:nvSpPr>
        <p:spPr>
          <a:xfrm>
            <a:off x="6126480" y="1188720"/>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354" name="Google Shape;354;p22"/>
          <p:cNvSpPr txBox="1"/>
          <p:nvPr/>
        </p:nvSpPr>
        <p:spPr>
          <a:xfrm>
            <a:off x="6583680" y="1161288"/>
            <a:ext cx="2103120" cy="7772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bnb</a:t>
            </a:r>
            <a:endParaRPr sz="1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2"/>
              </a:buClr>
              <a:buSzPts val="1200"/>
              <a:buFont typeface="Calibri"/>
              <a:buNone/>
            </a:pPr>
            <a:r>
              <a:rPr lang="en-US" sz="1200" b="0" i="0" u="none" strike="noStrike" cap="none">
                <a:solidFill>
                  <a:schemeClr val="dk2"/>
                </a:solidFill>
                <a:latin typeface="Calibri"/>
                <a:ea typeface="Calibri"/>
                <a:cs typeface="Calibri"/>
                <a:sym typeface="Calibri"/>
              </a:rPr>
              <a:t>bitsandbytes config sets NF4 4-bit storage</a:t>
            </a:r>
            <a:endParaRPr sz="1400" b="0" i="0" u="none" strike="noStrike" cap="none">
              <a:solidFill>
                <a:schemeClr val="dk1"/>
              </a:solidFill>
              <a:latin typeface="Calibri"/>
              <a:ea typeface="Calibri"/>
              <a:cs typeface="Calibri"/>
              <a:sym typeface="Calibri"/>
            </a:endParaRPr>
          </a:p>
        </p:txBody>
      </p:sp>
      <p:sp>
        <p:nvSpPr>
          <p:cNvPr id="355" name="Google Shape;355;p22"/>
          <p:cNvSpPr/>
          <p:nvPr/>
        </p:nvSpPr>
        <p:spPr>
          <a:xfrm>
            <a:off x="6126480" y="1993392"/>
            <a:ext cx="365760" cy="36576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2"/>
          <p:cNvSpPr txBox="1"/>
          <p:nvPr/>
        </p:nvSpPr>
        <p:spPr>
          <a:xfrm>
            <a:off x="6126480" y="1993392"/>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357" name="Google Shape;357;p22"/>
          <p:cNvSpPr txBox="1"/>
          <p:nvPr/>
        </p:nvSpPr>
        <p:spPr>
          <a:xfrm>
            <a:off x="6583680" y="1965960"/>
            <a:ext cx="2103120" cy="7772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Cache off</a:t>
            </a:r>
            <a:endParaRPr sz="1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2"/>
              </a:buClr>
              <a:buSzPts val="1200"/>
              <a:buFont typeface="Calibri"/>
              <a:buNone/>
            </a:pPr>
            <a:r>
              <a:rPr lang="en-US" sz="1200" b="0" i="0" u="none" strike="noStrike" cap="none">
                <a:solidFill>
                  <a:schemeClr val="dk2"/>
                </a:solidFill>
                <a:latin typeface="Calibri"/>
                <a:ea typeface="Calibri"/>
                <a:cs typeface="Calibri"/>
                <a:sym typeface="Calibri"/>
              </a:rPr>
              <a:t>Not used in training; conflicts with gradient checkpointing</a:t>
            </a:r>
            <a:endParaRPr sz="1400" b="0" i="0" u="none" strike="noStrike" cap="none">
              <a:solidFill>
                <a:schemeClr val="dk1"/>
              </a:solidFill>
              <a:latin typeface="Calibri"/>
              <a:ea typeface="Calibri"/>
              <a:cs typeface="Calibri"/>
              <a:sym typeface="Calibri"/>
            </a:endParaRPr>
          </a:p>
        </p:txBody>
      </p:sp>
      <p:sp>
        <p:nvSpPr>
          <p:cNvPr id="358" name="Google Shape;358;p22"/>
          <p:cNvSpPr/>
          <p:nvPr/>
        </p:nvSpPr>
        <p:spPr>
          <a:xfrm>
            <a:off x="6126480" y="2798064"/>
            <a:ext cx="365760" cy="36576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2"/>
          <p:cNvSpPr txBox="1"/>
          <p:nvPr/>
        </p:nvSpPr>
        <p:spPr>
          <a:xfrm>
            <a:off x="6126480" y="2798064"/>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360" name="Google Shape;360;p22"/>
          <p:cNvSpPr txBox="1"/>
          <p:nvPr/>
        </p:nvSpPr>
        <p:spPr>
          <a:xfrm>
            <a:off x="6583680" y="2770632"/>
            <a:ext cx="2103120" cy="7772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All linear layers</a:t>
            </a:r>
            <a:endParaRPr sz="1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2"/>
              </a:buClr>
              <a:buSzPts val="1200"/>
              <a:buFont typeface="Calibri"/>
              <a:buNone/>
            </a:pPr>
            <a:r>
              <a:rPr lang="en-US" sz="1200" b="0" i="0" u="none" strike="noStrike" cap="none">
                <a:solidFill>
                  <a:schemeClr val="dk2"/>
                </a:solidFill>
                <a:latin typeface="Calibri"/>
                <a:ea typeface="Calibri"/>
                <a:cs typeface="Calibri"/>
                <a:sym typeface="Calibri"/>
              </a:rPr>
              <a:t>Attention and MLP projections</a:t>
            </a:r>
            <a:endParaRPr sz="1400" b="0" i="0" u="none" strike="noStrike" cap="none">
              <a:solidFill>
                <a:schemeClr val="dk1"/>
              </a:solidFill>
              <a:latin typeface="Calibri"/>
              <a:ea typeface="Calibri"/>
              <a:cs typeface="Calibri"/>
              <a:sym typeface="Calibri"/>
            </a:endParaRPr>
          </a:p>
        </p:txBody>
      </p:sp>
      <p:sp>
        <p:nvSpPr>
          <p:cNvPr id="361" name="Google Shape;361;p22"/>
          <p:cNvSpPr/>
          <p:nvPr/>
        </p:nvSpPr>
        <p:spPr>
          <a:xfrm>
            <a:off x="6126480" y="3602736"/>
            <a:ext cx="365760" cy="36576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2"/>
          <p:cNvSpPr txBox="1"/>
          <p:nvPr/>
        </p:nvSpPr>
        <p:spPr>
          <a:xfrm>
            <a:off x="6126480" y="3602736"/>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363" name="Google Shape;363;p22"/>
          <p:cNvSpPr txBox="1"/>
          <p:nvPr/>
        </p:nvSpPr>
        <p:spPr>
          <a:xfrm>
            <a:off x="6583680" y="3575304"/>
            <a:ext cx="2103120" cy="7772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Wrap</a:t>
            </a:r>
            <a:endParaRPr sz="1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2"/>
              </a:buClr>
              <a:buSzPts val="1200"/>
              <a:buFont typeface="Calibri"/>
              <a:buNone/>
            </a:pPr>
            <a:r>
              <a:rPr lang="en-US" sz="1200" b="0" i="0" u="none" strike="noStrike" cap="none">
                <a:solidFill>
                  <a:schemeClr val="dk2"/>
                </a:solidFill>
                <a:latin typeface="Calibri"/>
                <a:ea typeface="Calibri"/>
                <a:cs typeface="Calibri"/>
                <a:sym typeface="Calibri"/>
              </a:rPr>
              <a:t>Base frozen; only adapters train. Saved adapter is tens of MB</a:t>
            </a:r>
            <a:endParaRPr sz="1400" b="0" i="0" u="none" strike="noStrike" cap="none">
              <a:solidFill>
                <a:schemeClr val="dk1"/>
              </a:solidFill>
              <a:latin typeface="Calibri"/>
              <a:ea typeface="Calibri"/>
              <a:cs typeface="Calibri"/>
              <a:sym typeface="Calibri"/>
            </a:endParaRPr>
          </a:p>
        </p:txBody>
      </p:sp>
      <p:sp>
        <p:nvSpPr>
          <p:cNvPr id="364" name="Google Shape;364;p22"/>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16</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23"/>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Fine-tuning teaches shape, not knowledge</a:t>
            </a:r>
            <a:endParaRPr sz="3000"/>
          </a:p>
        </p:txBody>
      </p:sp>
      <p:sp>
        <p:nvSpPr>
          <p:cNvPr id="371" name="Google Shape;371;p23"/>
          <p:cNvSpPr/>
          <p:nvPr/>
        </p:nvSpPr>
        <p:spPr>
          <a:xfrm>
            <a:off x="457200" y="1188720"/>
            <a:ext cx="3931920" cy="2011680"/>
          </a:xfrm>
          <a:prstGeom prst="roundRect">
            <a:avLst>
              <a:gd name="adj" fmla="val 363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3"/>
          <p:cNvSpPr/>
          <p:nvPr/>
        </p:nvSpPr>
        <p:spPr>
          <a:xfrm>
            <a:off x="731520" y="1371600"/>
            <a:ext cx="457200" cy="457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73" name="Google Shape;373;p23" descr="icon"/>
          <p:cNvPicPr preferRelativeResize="0"/>
          <p:nvPr/>
        </p:nvPicPr>
        <p:blipFill rotWithShape="1">
          <a:blip r:embed="rId3">
            <a:alphaModFix/>
          </a:blip>
          <a:srcRect/>
          <a:stretch/>
        </p:blipFill>
        <p:spPr>
          <a:xfrm>
            <a:off x="832104" y="1472184"/>
            <a:ext cx="256032" cy="256032"/>
          </a:xfrm>
          <a:prstGeom prst="rect">
            <a:avLst/>
          </a:prstGeom>
          <a:noFill/>
          <a:ln>
            <a:noFill/>
          </a:ln>
        </p:spPr>
      </p:pic>
      <p:sp>
        <p:nvSpPr>
          <p:cNvPr id="374" name="Google Shape;374;p23"/>
          <p:cNvSpPr txBox="1"/>
          <p:nvPr/>
        </p:nvSpPr>
        <p:spPr>
          <a:xfrm>
            <a:off x="1325880" y="1371600"/>
            <a:ext cx="29260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What adapters change</a:t>
            </a:r>
            <a:endParaRPr sz="1700" b="0" i="0" u="none" strike="noStrike" cap="none">
              <a:solidFill>
                <a:schemeClr val="dk1"/>
              </a:solidFill>
              <a:latin typeface="Calibri"/>
              <a:ea typeface="Calibri"/>
              <a:cs typeface="Calibri"/>
              <a:sym typeface="Calibri"/>
            </a:endParaRPr>
          </a:p>
        </p:txBody>
      </p:sp>
      <p:sp>
        <p:nvSpPr>
          <p:cNvPr id="375" name="Google Shape;375;p23"/>
          <p:cNvSpPr txBox="1"/>
          <p:nvPr/>
        </p:nvSpPr>
        <p:spPr>
          <a:xfrm>
            <a:off x="731520" y="2011680"/>
            <a:ext cx="3474720" cy="1371600"/>
          </a:xfrm>
          <a:prstGeom prst="rect">
            <a:avLst/>
          </a:prstGeom>
          <a:noFill/>
          <a:ln>
            <a:noFill/>
          </a:ln>
        </p:spPr>
        <p:txBody>
          <a:bodyPr spcFirstLastPara="1" wrap="square" lIns="0" tIns="0" rIns="0" bIns="0" anchor="t" anchorCtr="0">
            <a:noAutofit/>
          </a:bodyPr>
          <a:lstStyle/>
          <a:p>
            <a:pPr marL="342900" marR="0" lvl="0" indent="-342900" algn="l" rtl="0">
              <a:spcBef>
                <a:spcPts val="0"/>
              </a:spcBef>
              <a:spcAft>
                <a:spcPts val="0"/>
              </a:spcAft>
              <a:buClr>
                <a:schemeClr val="dk1"/>
              </a:buClr>
              <a:buSzPts val="1400"/>
              <a:buFont typeface="Calibri"/>
              <a:buChar char="•"/>
            </a:pPr>
            <a:r>
              <a:rPr lang="en-US" sz="1400" b="0" i="0" u="none" strike="noStrike" cap="none">
                <a:solidFill>
                  <a:schemeClr val="dk1"/>
                </a:solidFill>
                <a:latin typeface="Calibri"/>
                <a:ea typeface="Calibri"/>
                <a:cs typeface="Calibri"/>
                <a:sym typeface="Calibri"/>
              </a:rPr>
              <a:t>Output format and field ordering</a:t>
            </a:r>
            <a:endParaRPr sz="14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chemeClr val="dk1"/>
              </a:buClr>
              <a:buSzPts val="1400"/>
              <a:buFont typeface="Calibri"/>
              <a:buChar char="•"/>
            </a:pPr>
            <a:r>
              <a:rPr lang="en-US" sz="1400" b="0" i="0" u="none" strike="noStrike" cap="none">
                <a:solidFill>
                  <a:schemeClr val="dk1"/>
                </a:solidFill>
                <a:latin typeface="Calibri"/>
                <a:ea typeface="Calibri"/>
                <a:cs typeface="Calibri"/>
                <a:sym typeface="Calibri"/>
              </a:rPr>
              <a:t>Style and terminology</a:t>
            </a:r>
            <a:endParaRPr sz="14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chemeClr val="dk1"/>
              </a:buClr>
              <a:buSzPts val="1400"/>
              <a:buFont typeface="Calibri"/>
              <a:buChar char="•"/>
            </a:pPr>
            <a:r>
              <a:rPr lang="en-US" sz="1400" b="0" i="0" u="none" strike="noStrike" cap="none">
                <a:solidFill>
                  <a:schemeClr val="dk1"/>
                </a:solidFill>
                <a:latin typeface="Calibri"/>
                <a:ea typeface="Calibri"/>
                <a:cs typeface="Calibri"/>
                <a:sym typeface="Calibri"/>
              </a:rPr>
              <a:t>The habit of writing UNKNOWN instead of guessing</a:t>
            </a:r>
            <a:endParaRPr sz="1400" b="0" i="0" u="none" strike="noStrike" cap="none">
              <a:solidFill>
                <a:schemeClr val="dk1"/>
              </a:solidFill>
              <a:latin typeface="Calibri"/>
              <a:ea typeface="Calibri"/>
              <a:cs typeface="Calibri"/>
              <a:sym typeface="Calibri"/>
            </a:endParaRPr>
          </a:p>
        </p:txBody>
      </p:sp>
      <p:sp>
        <p:nvSpPr>
          <p:cNvPr id="376" name="Google Shape;376;p23"/>
          <p:cNvSpPr/>
          <p:nvPr/>
        </p:nvSpPr>
        <p:spPr>
          <a:xfrm>
            <a:off x="4754880" y="1188720"/>
            <a:ext cx="3931920" cy="2011680"/>
          </a:xfrm>
          <a:prstGeom prst="roundRect">
            <a:avLst>
              <a:gd name="adj" fmla="val 363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3"/>
          <p:cNvSpPr/>
          <p:nvPr/>
        </p:nvSpPr>
        <p:spPr>
          <a:xfrm>
            <a:off x="5029200" y="1371600"/>
            <a:ext cx="457200" cy="4572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78" name="Google Shape;378;p23" descr="icon"/>
          <p:cNvPicPr preferRelativeResize="0"/>
          <p:nvPr/>
        </p:nvPicPr>
        <p:blipFill rotWithShape="1">
          <a:blip r:embed="rId4">
            <a:alphaModFix/>
          </a:blip>
          <a:srcRect/>
          <a:stretch/>
        </p:blipFill>
        <p:spPr>
          <a:xfrm>
            <a:off x="5129784" y="1472184"/>
            <a:ext cx="256032" cy="256032"/>
          </a:xfrm>
          <a:prstGeom prst="rect">
            <a:avLst/>
          </a:prstGeom>
          <a:noFill/>
          <a:ln>
            <a:noFill/>
          </a:ln>
        </p:spPr>
      </p:pic>
      <p:sp>
        <p:nvSpPr>
          <p:cNvPr id="379" name="Google Shape;379;p23"/>
          <p:cNvSpPr txBox="1"/>
          <p:nvPr/>
        </p:nvSpPr>
        <p:spPr>
          <a:xfrm>
            <a:off x="5623560" y="1371600"/>
            <a:ext cx="29260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What they do not change</a:t>
            </a:r>
            <a:endParaRPr sz="1700" b="0" i="0" u="none" strike="noStrike" cap="none">
              <a:solidFill>
                <a:schemeClr val="dk1"/>
              </a:solidFill>
              <a:latin typeface="Calibri"/>
              <a:ea typeface="Calibri"/>
              <a:cs typeface="Calibri"/>
              <a:sym typeface="Calibri"/>
            </a:endParaRPr>
          </a:p>
        </p:txBody>
      </p:sp>
      <p:sp>
        <p:nvSpPr>
          <p:cNvPr id="380" name="Google Shape;380;p23"/>
          <p:cNvSpPr txBox="1"/>
          <p:nvPr/>
        </p:nvSpPr>
        <p:spPr>
          <a:xfrm>
            <a:off x="5029200" y="2011680"/>
            <a:ext cx="3474720" cy="1371600"/>
          </a:xfrm>
          <a:prstGeom prst="rect">
            <a:avLst/>
          </a:prstGeom>
          <a:noFill/>
          <a:ln>
            <a:noFill/>
          </a:ln>
        </p:spPr>
        <p:txBody>
          <a:bodyPr spcFirstLastPara="1" wrap="square" lIns="0" tIns="0" rIns="0" bIns="0" anchor="t" anchorCtr="0">
            <a:noAutofit/>
          </a:bodyPr>
          <a:lstStyle/>
          <a:p>
            <a:pPr marL="342900" marR="0" lvl="0" indent="-342900" algn="l" rtl="0">
              <a:spcBef>
                <a:spcPts val="0"/>
              </a:spcBef>
              <a:spcAft>
                <a:spcPts val="0"/>
              </a:spcAft>
              <a:buClr>
                <a:schemeClr val="dk1"/>
              </a:buClr>
              <a:buSzPts val="1400"/>
              <a:buFont typeface="Calibri"/>
              <a:buChar char="•"/>
            </a:pPr>
            <a:r>
              <a:rPr lang="en-US" sz="1400" b="0" i="0" u="none" strike="noStrike" cap="none">
                <a:solidFill>
                  <a:schemeClr val="dk1"/>
                </a:solidFill>
                <a:latin typeface="Calibri"/>
                <a:ea typeface="Calibri"/>
                <a:cs typeface="Calibri"/>
                <a:sym typeface="Calibri"/>
              </a:rPr>
              <a:t>Knowledge of your code base</a:t>
            </a:r>
            <a:endParaRPr sz="14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chemeClr val="dk1"/>
              </a:buClr>
              <a:buSzPts val="1400"/>
              <a:buFont typeface="Calibri"/>
              <a:buChar char="•"/>
            </a:pPr>
            <a:r>
              <a:rPr lang="en-US" sz="1400" b="0" i="0" u="none" strike="noStrike" cap="none">
                <a:solidFill>
                  <a:schemeClr val="dk1"/>
                </a:solidFill>
                <a:latin typeface="Calibri"/>
                <a:ea typeface="Calibri"/>
                <a:cs typeface="Calibri"/>
                <a:sym typeface="Calibri"/>
              </a:rPr>
              <a:t>The base model's reasoning ceiling</a:t>
            </a:r>
            <a:endParaRPr sz="14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chemeClr val="dk1"/>
              </a:buClr>
              <a:buSzPts val="1400"/>
              <a:buFont typeface="Calibri"/>
              <a:buChar char="•"/>
            </a:pPr>
            <a:r>
              <a:rPr lang="en-US" sz="1400" b="0" i="0" u="none" strike="noStrike" cap="none">
                <a:solidFill>
                  <a:schemeClr val="dk1"/>
                </a:solidFill>
                <a:latin typeface="Calibri"/>
                <a:ea typeface="Calibri"/>
                <a:cs typeface="Calibri"/>
                <a:sym typeface="Calibri"/>
              </a:rPr>
              <a:t>Inference about unfamiliar macro logic</a:t>
            </a:r>
            <a:endParaRPr sz="1400" b="0" i="0" u="none" strike="noStrike" cap="none">
              <a:solidFill>
                <a:schemeClr val="dk1"/>
              </a:solidFill>
              <a:latin typeface="Calibri"/>
              <a:ea typeface="Calibri"/>
              <a:cs typeface="Calibri"/>
              <a:sym typeface="Calibri"/>
            </a:endParaRPr>
          </a:p>
        </p:txBody>
      </p:sp>
      <p:sp>
        <p:nvSpPr>
          <p:cNvPr id="381" name="Google Shape;381;p23"/>
          <p:cNvSpPr txBox="1"/>
          <p:nvPr/>
        </p:nvSpPr>
        <p:spPr>
          <a:xfrm>
            <a:off x="457200" y="3520440"/>
            <a:ext cx="8229600" cy="4572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accent2"/>
              </a:buClr>
              <a:buSzPts val="2000"/>
              <a:buFont typeface="Cambria"/>
              <a:buNone/>
            </a:pPr>
            <a:r>
              <a:rPr lang="en-US" sz="2000" b="0" i="1" u="none" strike="noStrike" cap="none">
                <a:solidFill>
                  <a:schemeClr val="accent2"/>
                </a:solidFill>
                <a:latin typeface="Cambria"/>
                <a:ea typeface="Cambria"/>
                <a:cs typeface="Cambria"/>
                <a:sym typeface="Cambria"/>
              </a:rPr>
              <a:t>“A small model with adapters is still a small model.”</a:t>
            </a:r>
            <a:endParaRPr sz="2000" b="0" i="0" u="none" strike="noStrike" cap="none">
              <a:solidFill>
                <a:schemeClr val="dk1"/>
              </a:solidFill>
              <a:latin typeface="Calibri"/>
              <a:ea typeface="Calibri"/>
              <a:cs typeface="Calibri"/>
              <a:sym typeface="Calibri"/>
            </a:endParaRPr>
          </a:p>
        </p:txBody>
      </p:sp>
      <p:sp>
        <p:nvSpPr>
          <p:cNvPr id="382" name="Google Shape;382;p23"/>
          <p:cNvSpPr txBox="1"/>
          <p:nvPr/>
        </p:nvSpPr>
        <p:spPr>
          <a:xfrm>
            <a:off x="457200" y="4498848"/>
            <a:ext cx="768096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900"/>
              <a:buFont typeface="Calibri"/>
              <a:buNone/>
            </a:pPr>
            <a:r>
              <a:rPr lang="en-US" sz="900" b="0" i="1" u="none" strike="noStrike" cap="none">
                <a:solidFill>
                  <a:schemeClr val="accent6"/>
                </a:solidFill>
                <a:latin typeface="Calibri"/>
                <a:ea typeface="Calibri"/>
                <a:cs typeface="Calibri"/>
                <a:sym typeface="Calibri"/>
              </a:rPr>
              <a:t>Hu et al. 2021; Dettmers et al. 2023</a:t>
            </a:r>
            <a:endParaRPr sz="900" b="0" i="0" u="none" strike="noStrike" cap="none">
              <a:solidFill>
                <a:schemeClr val="dk1"/>
              </a:solidFill>
              <a:latin typeface="Calibri"/>
              <a:ea typeface="Calibri"/>
              <a:cs typeface="Calibri"/>
              <a:sym typeface="Calibri"/>
            </a:endParaRPr>
          </a:p>
        </p:txBody>
      </p:sp>
      <p:sp>
        <p:nvSpPr>
          <p:cNvPr id="383" name="Google Shape;383;p23"/>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17</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24"/>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Practical lessons</a:t>
            </a:r>
            <a:endParaRPr sz="3000"/>
          </a:p>
        </p:txBody>
      </p:sp>
      <p:sp>
        <p:nvSpPr>
          <p:cNvPr id="390" name="Google Shape;390;p24"/>
          <p:cNvSpPr/>
          <p:nvPr/>
        </p:nvSpPr>
        <p:spPr>
          <a:xfrm>
            <a:off x="457200" y="1188720"/>
            <a:ext cx="4023360" cy="1371600"/>
          </a:xfrm>
          <a:prstGeom prst="roundRect">
            <a:avLst>
              <a:gd name="adj" fmla="val 5333"/>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4"/>
          <p:cNvSpPr/>
          <p:nvPr/>
        </p:nvSpPr>
        <p:spPr>
          <a:xfrm>
            <a:off x="685800" y="1417320"/>
            <a:ext cx="548640" cy="54864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92" name="Google Shape;392;p24" descr="icon"/>
          <p:cNvPicPr preferRelativeResize="0"/>
          <p:nvPr/>
        </p:nvPicPr>
        <p:blipFill rotWithShape="1">
          <a:blip r:embed="rId3">
            <a:alphaModFix/>
          </a:blip>
          <a:srcRect/>
          <a:stretch/>
        </p:blipFill>
        <p:spPr>
          <a:xfrm>
            <a:off x="806501" y="1538021"/>
            <a:ext cx="307238" cy="307238"/>
          </a:xfrm>
          <a:prstGeom prst="rect">
            <a:avLst/>
          </a:prstGeom>
          <a:noFill/>
          <a:ln>
            <a:noFill/>
          </a:ln>
        </p:spPr>
      </p:pic>
      <p:sp>
        <p:nvSpPr>
          <p:cNvPr id="393" name="Google Shape;393;p24"/>
          <p:cNvSpPr txBox="1"/>
          <p:nvPr/>
        </p:nvSpPr>
        <p:spPr>
          <a:xfrm>
            <a:off x="1417320" y="1417320"/>
            <a:ext cx="292608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Target all linear layers</a:t>
            </a:r>
            <a:endParaRPr sz="1600" b="0" i="0" u="none" strike="noStrike" cap="none">
              <a:solidFill>
                <a:schemeClr val="dk1"/>
              </a:solidFill>
              <a:latin typeface="Calibri"/>
              <a:ea typeface="Calibri"/>
              <a:cs typeface="Calibri"/>
              <a:sym typeface="Calibri"/>
            </a:endParaRPr>
          </a:p>
        </p:txBody>
      </p:sp>
      <p:sp>
        <p:nvSpPr>
          <p:cNvPr id="394" name="Google Shape;394;p24"/>
          <p:cNvSpPr txBox="1"/>
          <p:nvPr/>
        </p:nvSpPr>
        <p:spPr>
          <a:xfrm>
            <a:off x="1417320" y="1783080"/>
            <a:ext cx="292608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Attention and MLP projections, not attention alone</a:t>
            </a:r>
            <a:endParaRPr sz="1400" b="0" i="0" u="none" strike="noStrike" cap="none">
              <a:solidFill>
                <a:schemeClr val="dk1"/>
              </a:solidFill>
              <a:latin typeface="Calibri"/>
              <a:ea typeface="Calibri"/>
              <a:cs typeface="Calibri"/>
              <a:sym typeface="Calibri"/>
            </a:endParaRPr>
          </a:p>
        </p:txBody>
      </p:sp>
      <p:sp>
        <p:nvSpPr>
          <p:cNvPr id="395" name="Google Shape;395;p24"/>
          <p:cNvSpPr/>
          <p:nvPr/>
        </p:nvSpPr>
        <p:spPr>
          <a:xfrm>
            <a:off x="4663440" y="1188720"/>
            <a:ext cx="4023360" cy="1371600"/>
          </a:xfrm>
          <a:prstGeom prst="roundRect">
            <a:avLst>
              <a:gd name="adj" fmla="val 5333"/>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4"/>
          <p:cNvSpPr/>
          <p:nvPr/>
        </p:nvSpPr>
        <p:spPr>
          <a:xfrm>
            <a:off x="4892040" y="1417320"/>
            <a:ext cx="548640" cy="54864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97" name="Google Shape;397;p24" descr="icon"/>
          <p:cNvPicPr preferRelativeResize="0"/>
          <p:nvPr/>
        </p:nvPicPr>
        <p:blipFill rotWithShape="1">
          <a:blip r:embed="rId4">
            <a:alphaModFix/>
          </a:blip>
          <a:srcRect/>
          <a:stretch/>
        </p:blipFill>
        <p:spPr>
          <a:xfrm>
            <a:off x="5012741" y="1538021"/>
            <a:ext cx="307238" cy="307238"/>
          </a:xfrm>
          <a:prstGeom prst="rect">
            <a:avLst/>
          </a:prstGeom>
          <a:noFill/>
          <a:ln>
            <a:noFill/>
          </a:ln>
        </p:spPr>
      </p:pic>
      <p:sp>
        <p:nvSpPr>
          <p:cNvPr id="398" name="Google Shape;398;p24"/>
          <p:cNvSpPr txBox="1"/>
          <p:nvPr/>
        </p:nvSpPr>
        <p:spPr>
          <a:xfrm>
            <a:off x="5623560" y="1417320"/>
            <a:ext cx="292608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Start with α ≈ 2r</a:t>
            </a:r>
            <a:endParaRPr sz="1600" b="0" i="0" u="none" strike="noStrike" cap="none">
              <a:solidFill>
                <a:schemeClr val="dk1"/>
              </a:solidFill>
              <a:latin typeface="Calibri"/>
              <a:ea typeface="Calibri"/>
              <a:cs typeface="Calibri"/>
              <a:sym typeface="Calibri"/>
            </a:endParaRPr>
          </a:p>
        </p:txBody>
      </p:sp>
      <p:sp>
        <p:nvSpPr>
          <p:cNvPr id="399" name="Google Shape;399;p24"/>
          <p:cNvSpPr txBox="1"/>
          <p:nvPr/>
        </p:nvSpPr>
        <p:spPr>
          <a:xfrm>
            <a:off x="5623560" y="1783080"/>
            <a:ext cx="292608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Scale rank and alpha together</a:t>
            </a:r>
            <a:endParaRPr sz="1400" b="0" i="0" u="none" strike="noStrike" cap="none">
              <a:solidFill>
                <a:schemeClr val="dk1"/>
              </a:solidFill>
              <a:latin typeface="Calibri"/>
              <a:ea typeface="Calibri"/>
              <a:cs typeface="Calibri"/>
              <a:sym typeface="Calibri"/>
            </a:endParaRPr>
          </a:p>
        </p:txBody>
      </p:sp>
      <p:sp>
        <p:nvSpPr>
          <p:cNvPr id="400" name="Google Shape;400;p24"/>
          <p:cNvSpPr/>
          <p:nvPr/>
        </p:nvSpPr>
        <p:spPr>
          <a:xfrm>
            <a:off x="457200" y="2788920"/>
            <a:ext cx="4023360" cy="1371600"/>
          </a:xfrm>
          <a:prstGeom prst="roundRect">
            <a:avLst>
              <a:gd name="adj" fmla="val 5333"/>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4"/>
          <p:cNvSpPr/>
          <p:nvPr/>
        </p:nvSpPr>
        <p:spPr>
          <a:xfrm>
            <a:off x="685800" y="3017520"/>
            <a:ext cx="548640" cy="54864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02" name="Google Shape;402;p24" descr="icon"/>
          <p:cNvPicPr preferRelativeResize="0"/>
          <p:nvPr/>
        </p:nvPicPr>
        <p:blipFill rotWithShape="1">
          <a:blip r:embed="rId5">
            <a:alphaModFix/>
          </a:blip>
          <a:srcRect/>
          <a:stretch/>
        </p:blipFill>
        <p:spPr>
          <a:xfrm>
            <a:off x="806501" y="3138221"/>
            <a:ext cx="307238" cy="307238"/>
          </a:xfrm>
          <a:prstGeom prst="rect">
            <a:avLst/>
          </a:prstGeom>
          <a:noFill/>
          <a:ln>
            <a:noFill/>
          </a:ln>
        </p:spPr>
      </p:pic>
      <p:sp>
        <p:nvSpPr>
          <p:cNvPr id="403" name="Google Shape;403;p24"/>
          <p:cNvSpPr txBox="1"/>
          <p:nvPr/>
        </p:nvSpPr>
        <p:spPr>
          <a:xfrm>
            <a:off x="1417320" y="3017520"/>
            <a:ext cx="292608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Tune learning rate first</a:t>
            </a:r>
            <a:endParaRPr sz="1600" b="0" i="0" u="none" strike="noStrike" cap="none">
              <a:solidFill>
                <a:schemeClr val="dk1"/>
              </a:solidFill>
              <a:latin typeface="Calibri"/>
              <a:ea typeface="Calibri"/>
              <a:cs typeface="Calibri"/>
              <a:sym typeface="Calibri"/>
            </a:endParaRPr>
          </a:p>
        </p:txBody>
      </p:sp>
      <p:sp>
        <p:nvSpPr>
          <p:cNvPr id="404" name="Google Shape;404;p24"/>
          <p:cNvSpPr txBox="1"/>
          <p:nvPr/>
        </p:nvSpPr>
        <p:spPr>
          <a:xfrm>
            <a:off x="1417320" y="3383280"/>
            <a:ext cx="292608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The most sensitive knob in LoRA training</a:t>
            </a:r>
            <a:endParaRPr sz="1400" b="0" i="0" u="none" strike="noStrike" cap="none">
              <a:solidFill>
                <a:schemeClr val="dk1"/>
              </a:solidFill>
              <a:latin typeface="Calibri"/>
              <a:ea typeface="Calibri"/>
              <a:cs typeface="Calibri"/>
              <a:sym typeface="Calibri"/>
            </a:endParaRPr>
          </a:p>
        </p:txBody>
      </p:sp>
      <p:sp>
        <p:nvSpPr>
          <p:cNvPr id="405" name="Google Shape;405;p24"/>
          <p:cNvSpPr/>
          <p:nvPr/>
        </p:nvSpPr>
        <p:spPr>
          <a:xfrm>
            <a:off x="4663440" y="2788920"/>
            <a:ext cx="4023360" cy="1371600"/>
          </a:xfrm>
          <a:prstGeom prst="roundRect">
            <a:avLst>
              <a:gd name="adj" fmla="val 5333"/>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4"/>
          <p:cNvSpPr/>
          <p:nvPr/>
        </p:nvSpPr>
        <p:spPr>
          <a:xfrm>
            <a:off x="4892040" y="3017520"/>
            <a:ext cx="548640" cy="54864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07" name="Google Shape;407;p24" descr="icon"/>
          <p:cNvPicPr preferRelativeResize="0"/>
          <p:nvPr/>
        </p:nvPicPr>
        <p:blipFill rotWithShape="1">
          <a:blip r:embed="rId6">
            <a:alphaModFix/>
          </a:blip>
          <a:srcRect/>
          <a:stretch/>
        </p:blipFill>
        <p:spPr>
          <a:xfrm>
            <a:off x="5012741" y="3138221"/>
            <a:ext cx="307238" cy="307238"/>
          </a:xfrm>
          <a:prstGeom prst="rect">
            <a:avLst/>
          </a:prstGeom>
          <a:noFill/>
          <a:ln>
            <a:noFill/>
          </a:ln>
        </p:spPr>
      </p:pic>
      <p:sp>
        <p:nvSpPr>
          <p:cNvPr id="408" name="Google Shape;408;p24"/>
          <p:cNvSpPr txBox="1"/>
          <p:nvPr/>
        </p:nvSpPr>
        <p:spPr>
          <a:xfrm>
            <a:off x="5623560" y="3017520"/>
            <a:ext cx="292608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Clean pairs, held-out eval</a:t>
            </a:r>
            <a:endParaRPr sz="1600" b="0" i="0" u="none" strike="noStrike" cap="none">
              <a:solidFill>
                <a:schemeClr val="dk1"/>
              </a:solidFill>
              <a:latin typeface="Calibri"/>
              <a:ea typeface="Calibri"/>
              <a:cs typeface="Calibri"/>
              <a:sym typeface="Calibri"/>
            </a:endParaRPr>
          </a:p>
        </p:txBody>
      </p:sp>
      <p:sp>
        <p:nvSpPr>
          <p:cNvPr id="409" name="Google Shape;409;p24"/>
          <p:cNvSpPr txBox="1"/>
          <p:nvPr/>
        </p:nvSpPr>
        <p:spPr>
          <a:xfrm>
            <a:off x="5623560" y="3383280"/>
            <a:ext cx="292608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Training pairs must be schema-valid; test programs stay unseen</a:t>
            </a:r>
            <a:endParaRPr sz="1400" b="0" i="0" u="none" strike="noStrike" cap="none">
              <a:solidFill>
                <a:schemeClr val="dk1"/>
              </a:solidFill>
              <a:latin typeface="Calibri"/>
              <a:ea typeface="Calibri"/>
              <a:cs typeface="Calibri"/>
              <a:sym typeface="Calibri"/>
            </a:endParaRPr>
          </a:p>
        </p:txBody>
      </p:sp>
      <p:sp>
        <p:nvSpPr>
          <p:cNvPr id="410" name="Google Shape;410;p24"/>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18</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25"/>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Config 3: a frontier model, grounded</a:t>
            </a:r>
            <a:endParaRPr sz="3000"/>
          </a:p>
        </p:txBody>
      </p:sp>
      <p:sp>
        <p:nvSpPr>
          <p:cNvPr id="417" name="Google Shape;417;p25"/>
          <p:cNvSpPr/>
          <p:nvPr/>
        </p:nvSpPr>
        <p:spPr>
          <a:xfrm>
            <a:off x="3200400" y="1234440"/>
            <a:ext cx="2743200" cy="1097280"/>
          </a:xfrm>
          <a:prstGeom prst="roundRect">
            <a:avLst>
              <a:gd name="adj" fmla="val 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5"/>
          <p:cNvSpPr txBox="1"/>
          <p:nvPr/>
        </p:nvSpPr>
        <p:spPr>
          <a:xfrm>
            <a:off x="3291840" y="1234440"/>
            <a:ext cx="2560320" cy="10972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800"/>
              <a:buFont typeface="Calibri"/>
              <a:buNone/>
            </a:pPr>
            <a:r>
              <a:rPr lang="en-US" sz="1800" b="1" i="0" u="none" strike="noStrike" cap="none">
                <a:solidFill>
                  <a:schemeClr val="lt1"/>
                </a:solidFill>
                <a:latin typeface="Calibri"/>
                <a:ea typeface="Calibri"/>
                <a:cs typeface="Calibri"/>
                <a:sym typeface="Calibri"/>
              </a:rPr>
              <a:t>Claude Opus 5</a:t>
            </a:r>
            <a:endParaRPr sz="14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chemeClr val="lt1"/>
              </a:buClr>
              <a:buSzPts val="1300"/>
              <a:buFont typeface="Calibri"/>
              <a:buNone/>
            </a:pPr>
            <a:r>
              <a:rPr lang="en-US" sz="1300" b="0" i="0" u="none" strike="noStrike" cap="none">
                <a:solidFill>
                  <a:schemeClr val="lt1"/>
                </a:solidFill>
                <a:latin typeface="Calibri"/>
                <a:ea typeface="Calibri"/>
                <a:cs typeface="Calibri"/>
                <a:sym typeface="Calibri"/>
              </a:rPr>
              <a:t>query → parse → only then write</a:t>
            </a:r>
            <a:endParaRPr sz="1400" b="0" i="0" u="none" strike="noStrike" cap="none">
              <a:solidFill>
                <a:schemeClr val="dk1"/>
              </a:solidFill>
              <a:latin typeface="Calibri"/>
              <a:ea typeface="Calibri"/>
              <a:cs typeface="Calibri"/>
              <a:sym typeface="Calibri"/>
            </a:endParaRPr>
          </a:p>
        </p:txBody>
      </p:sp>
      <p:sp>
        <p:nvSpPr>
          <p:cNvPr id="419" name="Google Shape;419;p25"/>
          <p:cNvSpPr/>
          <p:nvPr/>
        </p:nvSpPr>
        <p:spPr>
          <a:xfrm>
            <a:off x="457200" y="2697480"/>
            <a:ext cx="3931920" cy="1554480"/>
          </a:xfrm>
          <a:prstGeom prst="roundRect">
            <a:avLst>
              <a:gd name="adj" fmla="val 470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5"/>
          <p:cNvSpPr/>
          <p:nvPr/>
        </p:nvSpPr>
        <p:spPr>
          <a:xfrm>
            <a:off x="685800" y="2880360"/>
            <a:ext cx="502920" cy="50292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21" name="Google Shape;421;p25" descr="icon"/>
          <p:cNvPicPr preferRelativeResize="0"/>
          <p:nvPr/>
        </p:nvPicPr>
        <p:blipFill rotWithShape="1">
          <a:blip r:embed="rId3">
            <a:alphaModFix/>
          </a:blip>
          <a:srcRect/>
          <a:stretch/>
        </p:blipFill>
        <p:spPr>
          <a:xfrm>
            <a:off x="796442" y="2991002"/>
            <a:ext cx="281635" cy="281635"/>
          </a:xfrm>
          <a:prstGeom prst="rect">
            <a:avLst/>
          </a:prstGeom>
          <a:noFill/>
          <a:ln>
            <a:noFill/>
          </a:ln>
        </p:spPr>
      </p:pic>
      <p:sp>
        <p:nvSpPr>
          <p:cNvPr id="422" name="Google Shape;422;p25"/>
          <p:cNvSpPr txBox="1"/>
          <p:nvPr/>
        </p:nvSpPr>
        <p:spPr>
          <a:xfrm>
            <a:off x="1325880" y="2880360"/>
            <a:ext cx="292608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500" b="1" i="0" u="none" strike="noStrike" cap="none">
                <a:solidFill>
                  <a:schemeClr val="dk1"/>
                </a:solidFill>
                <a:latin typeface="Calibri"/>
                <a:ea typeface="Calibri"/>
                <a:cs typeface="Calibri"/>
                <a:sym typeface="Calibri"/>
              </a:rPr>
              <a:t>DICTIONARY tables via PROC SQL</a:t>
            </a:r>
            <a:endParaRPr sz="1500" b="0" i="0" u="none" strike="noStrike" cap="none">
              <a:solidFill>
                <a:schemeClr val="dk1"/>
              </a:solidFill>
              <a:latin typeface="Calibri"/>
              <a:ea typeface="Calibri"/>
              <a:cs typeface="Calibri"/>
              <a:sym typeface="Calibri"/>
            </a:endParaRPr>
          </a:p>
        </p:txBody>
      </p:sp>
      <p:sp>
        <p:nvSpPr>
          <p:cNvPr id="423" name="Google Shape;423;p25"/>
          <p:cNvSpPr txBox="1"/>
          <p:nvPr/>
        </p:nvSpPr>
        <p:spPr>
          <a:xfrm>
            <a:off x="685800" y="3474720"/>
            <a:ext cx="352044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Which data sets exist, shared keys, names reused with different attributes</a:t>
            </a:r>
            <a:endParaRPr sz="1400" b="0" i="0" u="none" strike="noStrike" cap="none">
              <a:solidFill>
                <a:schemeClr val="dk1"/>
              </a:solidFill>
              <a:latin typeface="Calibri"/>
              <a:ea typeface="Calibri"/>
              <a:cs typeface="Calibri"/>
              <a:sym typeface="Calibri"/>
            </a:endParaRPr>
          </a:p>
        </p:txBody>
      </p:sp>
      <p:sp>
        <p:nvSpPr>
          <p:cNvPr id="424" name="Google Shape;424;p25"/>
          <p:cNvSpPr/>
          <p:nvPr/>
        </p:nvSpPr>
        <p:spPr>
          <a:xfrm>
            <a:off x="4754880" y="2697480"/>
            <a:ext cx="3931920" cy="1554480"/>
          </a:xfrm>
          <a:prstGeom prst="roundRect">
            <a:avLst>
              <a:gd name="adj" fmla="val 470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5"/>
          <p:cNvSpPr/>
          <p:nvPr/>
        </p:nvSpPr>
        <p:spPr>
          <a:xfrm>
            <a:off x="4983480" y="2880360"/>
            <a:ext cx="502920" cy="50292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26" name="Google Shape;426;p25" descr="icon"/>
          <p:cNvPicPr preferRelativeResize="0"/>
          <p:nvPr/>
        </p:nvPicPr>
        <p:blipFill rotWithShape="1">
          <a:blip r:embed="rId4">
            <a:alphaModFix/>
          </a:blip>
          <a:srcRect/>
          <a:stretch/>
        </p:blipFill>
        <p:spPr>
          <a:xfrm>
            <a:off x="5094122" y="2991002"/>
            <a:ext cx="281635" cy="281635"/>
          </a:xfrm>
          <a:prstGeom prst="rect">
            <a:avLst/>
          </a:prstGeom>
          <a:noFill/>
          <a:ln>
            <a:noFill/>
          </a:ln>
        </p:spPr>
      </p:pic>
      <p:sp>
        <p:nvSpPr>
          <p:cNvPr id="427" name="Google Shape;427;p25"/>
          <p:cNvSpPr txBox="1"/>
          <p:nvPr/>
        </p:nvSpPr>
        <p:spPr>
          <a:xfrm>
            <a:off x="5623560" y="2880360"/>
            <a:ext cx="292608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500" b="1" i="0" u="none" strike="noStrike" cap="none">
                <a:solidFill>
                  <a:schemeClr val="dk1"/>
                </a:solidFill>
                <a:latin typeface="Calibri"/>
                <a:ea typeface="Calibri"/>
                <a:cs typeface="Calibri"/>
                <a:sym typeface="Calibri"/>
              </a:rPr>
              <a:t>Custom Python source parser</a:t>
            </a:r>
            <a:endParaRPr sz="1500" b="0" i="0" u="none" strike="noStrike" cap="none">
              <a:solidFill>
                <a:schemeClr val="dk1"/>
              </a:solidFill>
              <a:latin typeface="Calibri"/>
              <a:ea typeface="Calibri"/>
              <a:cs typeface="Calibri"/>
              <a:sym typeface="Calibri"/>
            </a:endParaRPr>
          </a:p>
        </p:txBody>
      </p:sp>
      <p:sp>
        <p:nvSpPr>
          <p:cNvPr id="428" name="Google Shape;428;p25"/>
          <p:cNvSpPr txBox="1"/>
          <p:nvPr/>
        </p:nvSpPr>
        <p:spPr>
          <a:xfrm>
            <a:off x="4983480" y="3474720"/>
            <a:ext cx="352044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Macro definitions, parameter lists, %LET assignments, line numbers of each assignment</a:t>
            </a:r>
            <a:endParaRPr sz="1400" b="0" i="0" u="none" strike="noStrike" cap="none">
              <a:solidFill>
                <a:schemeClr val="dk1"/>
              </a:solidFill>
              <a:latin typeface="Calibri"/>
              <a:ea typeface="Calibri"/>
              <a:cs typeface="Calibri"/>
              <a:sym typeface="Calibri"/>
            </a:endParaRPr>
          </a:p>
        </p:txBody>
      </p:sp>
      <p:cxnSp>
        <p:nvCxnSpPr>
          <p:cNvPr id="429" name="Google Shape;429;p25"/>
          <p:cNvCxnSpPr/>
          <p:nvPr/>
        </p:nvCxnSpPr>
        <p:spPr>
          <a:xfrm flipH="1">
            <a:off x="2423160" y="2331720"/>
            <a:ext cx="1097280" cy="365760"/>
          </a:xfrm>
          <a:prstGeom prst="straightConnector1">
            <a:avLst/>
          </a:prstGeom>
          <a:noFill/>
          <a:ln w="19050" cap="flat" cmpd="sng">
            <a:solidFill>
              <a:schemeClr val="accent3"/>
            </a:solidFill>
            <a:prstDash val="solid"/>
            <a:round/>
            <a:headEnd type="none" w="sm" len="sm"/>
            <a:tailEnd type="none" w="sm" len="sm"/>
          </a:ln>
        </p:spPr>
      </p:cxnSp>
      <p:cxnSp>
        <p:nvCxnSpPr>
          <p:cNvPr id="430" name="Google Shape;430;p25"/>
          <p:cNvCxnSpPr/>
          <p:nvPr/>
        </p:nvCxnSpPr>
        <p:spPr>
          <a:xfrm>
            <a:off x="5623560" y="2331720"/>
            <a:ext cx="1097280" cy="365760"/>
          </a:xfrm>
          <a:prstGeom prst="straightConnector1">
            <a:avLst/>
          </a:prstGeom>
          <a:noFill/>
          <a:ln w="19050" cap="flat" cmpd="sng">
            <a:solidFill>
              <a:schemeClr val="accent3"/>
            </a:solidFill>
            <a:prstDash val="solid"/>
            <a:round/>
            <a:headEnd type="none" w="sm" len="sm"/>
            <a:tailEnd type="none" w="sm" len="sm"/>
          </a:ln>
        </p:spPr>
      </p:cxnSp>
      <p:sp>
        <p:nvSpPr>
          <p:cNvPr id="431" name="Google Shape;431;p25"/>
          <p:cNvSpPr txBox="1"/>
          <p:nvPr/>
        </p:nvSpPr>
        <p:spPr>
          <a:xfrm>
            <a:off x="457200" y="1417320"/>
            <a:ext cx="2560320" cy="8229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1400"/>
              <a:buFont typeface="Calibri"/>
              <a:buNone/>
            </a:pPr>
            <a:r>
              <a:rPr lang="en-US" sz="1400" b="0" i="1" u="none" strike="noStrike" cap="none">
                <a:solidFill>
                  <a:schemeClr val="accent6"/>
                </a:solidFill>
                <a:latin typeface="Calibri"/>
                <a:ea typeface="Calibri"/>
                <a:cs typeface="Calibri"/>
                <a:sym typeface="Calibri"/>
              </a:rPr>
              <a:t>Two read-only tools. Every claim must trace to one of them.</a:t>
            </a:r>
            <a:endParaRPr sz="1400" b="0" i="0" u="none" strike="noStrike" cap="none">
              <a:solidFill>
                <a:schemeClr val="dk1"/>
              </a:solidFill>
              <a:latin typeface="Calibri"/>
              <a:ea typeface="Calibri"/>
              <a:cs typeface="Calibri"/>
              <a:sym typeface="Calibri"/>
            </a:endParaRPr>
          </a:p>
        </p:txBody>
      </p:sp>
      <p:sp>
        <p:nvSpPr>
          <p:cNvPr id="432" name="Google Shape;432;p25"/>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19</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26"/>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DICTIONARY tables, not PROC CONTENTS</a:t>
            </a:r>
            <a:endParaRPr sz="3000"/>
          </a:p>
        </p:txBody>
      </p:sp>
      <p:sp>
        <p:nvSpPr>
          <p:cNvPr id="439" name="Google Shape;439;p26"/>
          <p:cNvSpPr/>
          <p:nvPr/>
        </p:nvSpPr>
        <p:spPr>
          <a:xfrm>
            <a:off x="457200" y="1188720"/>
            <a:ext cx="4754880" cy="3200400"/>
          </a:xfrm>
          <a:prstGeom prst="roundRect">
            <a:avLst>
              <a:gd name="adj" fmla="val 2286"/>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6"/>
          <p:cNvSpPr txBox="1"/>
          <p:nvPr/>
        </p:nvSpPr>
        <p:spPr>
          <a:xfrm>
            <a:off x="640080" y="1325880"/>
            <a:ext cx="4389120" cy="29260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proc sql noprint;</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create table work._sdgcols as</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select memname, name, type, length,</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format, informat, label, varnum</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from dictionary.columns</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where libname='WORK'</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order by memname, varnum;</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create table work._sdgtabs as</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select memname, nobs, nvar,</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memlabel as table_label</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from dictionary.tables</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where libname='WORK' and memtype='DATA';</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quit;</a:t>
            </a:r>
            <a:endParaRPr sz="1200" b="0" i="0" u="none" strike="noStrike" cap="none">
              <a:solidFill>
                <a:schemeClr val="dk1"/>
              </a:solidFill>
              <a:latin typeface="Calibri"/>
              <a:ea typeface="Calibri"/>
              <a:cs typeface="Calibri"/>
              <a:sym typeface="Calibri"/>
            </a:endParaRPr>
          </a:p>
        </p:txBody>
      </p:sp>
      <p:sp>
        <p:nvSpPr>
          <p:cNvPr id="441" name="Google Shape;441;p26"/>
          <p:cNvSpPr/>
          <p:nvPr/>
        </p:nvSpPr>
        <p:spPr>
          <a:xfrm>
            <a:off x="5486400" y="1188720"/>
            <a:ext cx="457200" cy="457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42" name="Google Shape;442;p26" descr="icon"/>
          <p:cNvPicPr preferRelativeResize="0"/>
          <p:nvPr/>
        </p:nvPicPr>
        <p:blipFill rotWithShape="1">
          <a:blip r:embed="rId3">
            <a:alphaModFix/>
          </a:blip>
          <a:srcRect/>
          <a:stretch/>
        </p:blipFill>
        <p:spPr>
          <a:xfrm>
            <a:off x="5586984" y="1289304"/>
            <a:ext cx="256032" cy="256032"/>
          </a:xfrm>
          <a:prstGeom prst="rect">
            <a:avLst/>
          </a:prstGeom>
          <a:noFill/>
          <a:ln>
            <a:noFill/>
          </a:ln>
        </p:spPr>
      </p:pic>
      <p:sp>
        <p:nvSpPr>
          <p:cNvPr id="443" name="Google Shape;443;p26"/>
          <p:cNvSpPr txBox="1"/>
          <p:nvPr/>
        </p:nvSpPr>
        <p:spPr>
          <a:xfrm>
            <a:off x="6080760" y="1170432"/>
            <a:ext cx="2606040" cy="10058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PROC CONTENTS</a:t>
            </a:r>
            <a:endParaRPr sz="1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Built to be read by people</a:t>
            </a:r>
            <a:endParaRPr sz="1400" b="0" i="0" u="none" strike="noStrike" cap="none">
              <a:solidFill>
                <a:schemeClr val="dk1"/>
              </a:solidFill>
              <a:latin typeface="Calibri"/>
              <a:ea typeface="Calibri"/>
              <a:cs typeface="Calibri"/>
              <a:sym typeface="Calibri"/>
            </a:endParaRPr>
          </a:p>
        </p:txBody>
      </p:sp>
      <p:sp>
        <p:nvSpPr>
          <p:cNvPr id="444" name="Google Shape;444;p26"/>
          <p:cNvSpPr/>
          <p:nvPr/>
        </p:nvSpPr>
        <p:spPr>
          <a:xfrm>
            <a:off x="5486400" y="2267712"/>
            <a:ext cx="457200" cy="45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45" name="Google Shape;445;p26" descr="icon"/>
          <p:cNvPicPr preferRelativeResize="0"/>
          <p:nvPr/>
        </p:nvPicPr>
        <p:blipFill rotWithShape="1">
          <a:blip r:embed="rId4">
            <a:alphaModFix/>
          </a:blip>
          <a:srcRect/>
          <a:stretch/>
        </p:blipFill>
        <p:spPr>
          <a:xfrm>
            <a:off x="5586984" y="2368296"/>
            <a:ext cx="256032" cy="256032"/>
          </a:xfrm>
          <a:prstGeom prst="rect">
            <a:avLst/>
          </a:prstGeom>
          <a:noFill/>
          <a:ln>
            <a:noFill/>
          </a:ln>
        </p:spPr>
      </p:pic>
      <p:sp>
        <p:nvSpPr>
          <p:cNvPr id="446" name="Google Shape;446;p26"/>
          <p:cNvSpPr txBox="1"/>
          <p:nvPr/>
        </p:nvSpPr>
        <p:spPr>
          <a:xfrm>
            <a:off x="6080760" y="2249424"/>
            <a:ext cx="2606040" cy="10058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DICTIONARY views</a:t>
            </a:r>
            <a:endParaRPr sz="1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Already tables: SASPy .sd2df() drops them straight into a pandas data frame</a:t>
            </a:r>
            <a:endParaRPr sz="1400" b="0" i="0" u="none" strike="noStrike" cap="none">
              <a:solidFill>
                <a:schemeClr val="dk1"/>
              </a:solidFill>
              <a:latin typeface="Calibri"/>
              <a:ea typeface="Calibri"/>
              <a:cs typeface="Calibri"/>
              <a:sym typeface="Calibri"/>
            </a:endParaRPr>
          </a:p>
        </p:txBody>
      </p:sp>
      <p:sp>
        <p:nvSpPr>
          <p:cNvPr id="447" name="Google Shape;447;p26"/>
          <p:cNvSpPr/>
          <p:nvPr/>
        </p:nvSpPr>
        <p:spPr>
          <a:xfrm>
            <a:off x="5486400" y="3346704"/>
            <a:ext cx="457200" cy="457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48" name="Google Shape;448;p26" descr="icon"/>
          <p:cNvPicPr preferRelativeResize="0"/>
          <p:nvPr/>
        </p:nvPicPr>
        <p:blipFill rotWithShape="1">
          <a:blip r:embed="rId5">
            <a:alphaModFix/>
          </a:blip>
          <a:srcRect/>
          <a:stretch/>
        </p:blipFill>
        <p:spPr>
          <a:xfrm>
            <a:off x="5586984" y="3447288"/>
            <a:ext cx="256032" cy="256032"/>
          </a:xfrm>
          <a:prstGeom prst="rect">
            <a:avLst/>
          </a:prstGeom>
          <a:noFill/>
          <a:ln>
            <a:noFill/>
          </a:ln>
        </p:spPr>
      </p:pic>
      <p:sp>
        <p:nvSpPr>
          <p:cNvPr id="449" name="Google Shape;449;p26"/>
          <p:cNvSpPr txBox="1"/>
          <p:nvPr/>
        </p:nvSpPr>
        <p:spPr>
          <a:xfrm>
            <a:off x="6080760" y="3328416"/>
            <a:ext cx="2606040" cy="10058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Portability</a:t>
            </a:r>
            <a:endParaRPr sz="1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Skills follow Claude's format; other providers need adaptation</a:t>
            </a:r>
            <a:endParaRPr sz="1400" b="0" i="0" u="none" strike="noStrike" cap="none">
              <a:solidFill>
                <a:schemeClr val="dk1"/>
              </a:solidFill>
              <a:latin typeface="Calibri"/>
              <a:ea typeface="Calibri"/>
              <a:cs typeface="Calibri"/>
              <a:sym typeface="Calibri"/>
            </a:endParaRPr>
          </a:p>
        </p:txBody>
      </p:sp>
      <p:sp>
        <p:nvSpPr>
          <p:cNvPr id="450" name="Google Shape;450;p26"/>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20</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27"/>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Evaluation: 20 held-out synthetic programs</a:t>
            </a:r>
            <a:endParaRPr sz="3000"/>
          </a:p>
        </p:txBody>
      </p:sp>
      <p:sp>
        <p:nvSpPr>
          <p:cNvPr id="457" name="Google Shape;457;p27"/>
          <p:cNvSpPr/>
          <p:nvPr/>
        </p:nvSpPr>
        <p:spPr>
          <a:xfrm>
            <a:off x="457200" y="1188720"/>
            <a:ext cx="3291840" cy="868680"/>
          </a:xfrm>
          <a:prstGeom prst="roundRect">
            <a:avLst>
              <a:gd name="adj" fmla="val 842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7"/>
          <p:cNvSpPr txBox="1"/>
          <p:nvPr/>
        </p:nvSpPr>
        <p:spPr>
          <a:xfrm>
            <a:off x="640080" y="1188720"/>
            <a:ext cx="123444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3200"/>
              <a:buFont typeface="Cambria"/>
              <a:buNone/>
            </a:pPr>
            <a:r>
              <a:rPr lang="en-US" sz="3200" b="1" i="0" u="none" strike="noStrike" cap="none">
                <a:solidFill>
                  <a:schemeClr val="accent2"/>
                </a:solidFill>
                <a:latin typeface="Cambria"/>
                <a:ea typeface="Cambria"/>
                <a:cs typeface="Cambria"/>
                <a:sym typeface="Cambria"/>
              </a:rPr>
              <a:t>20</a:t>
            </a:r>
            <a:endParaRPr sz="3200" b="0" i="0" u="none" strike="noStrike" cap="none">
              <a:solidFill>
                <a:schemeClr val="dk1"/>
              </a:solidFill>
              <a:latin typeface="Calibri"/>
              <a:ea typeface="Calibri"/>
              <a:cs typeface="Calibri"/>
              <a:sym typeface="Calibri"/>
            </a:endParaRPr>
          </a:p>
        </p:txBody>
      </p:sp>
      <p:sp>
        <p:nvSpPr>
          <p:cNvPr id="459" name="Google Shape;459;p27"/>
          <p:cNvSpPr txBox="1"/>
          <p:nvPr/>
        </p:nvSpPr>
        <p:spPr>
          <a:xfrm>
            <a:off x="1874520" y="1188720"/>
            <a:ext cx="178308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500" b="0" i="0" u="none" strike="noStrike" cap="none">
                <a:solidFill>
                  <a:schemeClr val="dk1"/>
                </a:solidFill>
                <a:latin typeface="Calibri"/>
                <a:ea typeface="Calibri"/>
                <a:cs typeface="Calibri"/>
                <a:sym typeface="Calibri"/>
              </a:rPr>
              <a:t>held-out programs</a:t>
            </a:r>
            <a:endParaRPr sz="1500" b="0" i="0" u="none" strike="noStrike" cap="none">
              <a:solidFill>
                <a:schemeClr val="dk1"/>
              </a:solidFill>
              <a:latin typeface="Calibri"/>
              <a:ea typeface="Calibri"/>
              <a:cs typeface="Calibri"/>
              <a:sym typeface="Calibri"/>
            </a:endParaRPr>
          </a:p>
        </p:txBody>
      </p:sp>
      <p:sp>
        <p:nvSpPr>
          <p:cNvPr id="460" name="Google Shape;460;p27"/>
          <p:cNvSpPr/>
          <p:nvPr/>
        </p:nvSpPr>
        <p:spPr>
          <a:xfrm>
            <a:off x="457200" y="2240280"/>
            <a:ext cx="3291840" cy="868680"/>
          </a:xfrm>
          <a:prstGeom prst="roundRect">
            <a:avLst>
              <a:gd name="adj" fmla="val 842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7"/>
          <p:cNvSpPr txBox="1"/>
          <p:nvPr/>
        </p:nvSpPr>
        <p:spPr>
          <a:xfrm>
            <a:off x="640080" y="2240280"/>
            <a:ext cx="123444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3200"/>
              <a:buFont typeface="Cambria"/>
              <a:buNone/>
            </a:pPr>
            <a:r>
              <a:rPr lang="en-US" sz="3200" b="1" i="0" u="none" strike="noStrike" cap="none">
                <a:solidFill>
                  <a:schemeClr val="accent2"/>
                </a:solidFill>
                <a:latin typeface="Cambria"/>
                <a:ea typeface="Cambria"/>
                <a:cs typeface="Cambria"/>
                <a:sym typeface="Cambria"/>
              </a:rPr>
              <a:t>3</a:t>
            </a:r>
            <a:endParaRPr sz="3200" b="0" i="0" u="none" strike="noStrike" cap="none">
              <a:solidFill>
                <a:schemeClr val="dk1"/>
              </a:solidFill>
              <a:latin typeface="Calibri"/>
              <a:ea typeface="Calibri"/>
              <a:cs typeface="Calibri"/>
              <a:sym typeface="Calibri"/>
            </a:endParaRPr>
          </a:p>
        </p:txBody>
      </p:sp>
      <p:sp>
        <p:nvSpPr>
          <p:cNvPr id="462" name="Google Shape;462;p27"/>
          <p:cNvSpPr txBox="1"/>
          <p:nvPr/>
        </p:nvSpPr>
        <p:spPr>
          <a:xfrm>
            <a:off x="1874520" y="2240280"/>
            <a:ext cx="178308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500" b="0" i="0" u="none" strike="noStrike" cap="none">
                <a:solidFill>
                  <a:schemeClr val="dk1"/>
                </a:solidFill>
                <a:latin typeface="Calibri"/>
                <a:ea typeface="Calibri"/>
                <a:cs typeface="Calibri"/>
                <a:sym typeface="Calibri"/>
              </a:rPr>
              <a:t>runs each</a:t>
            </a:r>
            <a:endParaRPr sz="1500" b="0" i="0" u="none" strike="noStrike" cap="none">
              <a:solidFill>
                <a:schemeClr val="dk1"/>
              </a:solidFill>
              <a:latin typeface="Calibri"/>
              <a:ea typeface="Calibri"/>
              <a:cs typeface="Calibri"/>
              <a:sym typeface="Calibri"/>
            </a:endParaRPr>
          </a:p>
        </p:txBody>
      </p:sp>
      <p:sp>
        <p:nvSpPr>
          <p:cNvPr id="463" name="Google Shape;463;p27"/>
          <p:cNvSpPr/>
          <p:nvPr/>
        </p:nvSpPr>
        <p:spPr>
          <a:xfrm>
            <a:off x="457200" y="3291840"/>
            <a:ext cx="3291840" cy="868680"/>
          </a:xfrm>
          <a:prstGeom prst="roundRect">
            <a:avLst>
              <a:gd name="adj" fmla="val 842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7"/>
          <p:cNvSpPr txBox="1"/>
          <p:nvPr/>
        </p:nvSpPr>
        <p:spPr>
          <a:xfrm>
            <a:off x="640080" y="3291840"/>
            <a:ext cx="123444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3200"/>
              <a:buFont typeface="Cambria"/>
              <a:buNone/>
            </a:pPr>
            <a:r>
              <a:rPr lang="en-US" sz="3200" b="1" i="0" u="none" strike="noStrike" cap="none">
                <a:solidFill>
                  <a:schemeClr val="accent2"/>
                </a:solidFill>
                <a:latin typeface="Cambria"/>
                <a:ea typeface="Cambria"/>
                <a:cs typeface="Cambria"/>
                <a:sym typeface="Cambria"/>
              </a:rPr>
              <a:t>Gold</a:t>
            </a:r>
            <a:endParaRPr sz="3200" b="0" i="0" u="none" strike="noStrike" cap="none">
              <a:solidFill>
                <a:schemeClr val="dk1"/>
              </a:solidFill>
              <a:latin typeface="Calibri"/>
              <a:ea typeface="Calibri"/>
              <a:cs typeface="Calibri"/>
              <a:sym typeface="Calibri"/>
            </a:endParaRPr>
          </a:p>
        </p:txBody>
      </p:sp>
      <p:sp>
        <p:nvSpPr>
          <p:cNvPr id="465" name="Google Shape;465;p27"/>
          <p:cNvSpPr txBox="1"/>
          <p:nvPr/>
        </p:nvSpPr>
        <p:spPr>
          <a:xfrm>
            <a:off x="1874520" y="3291840"/>
            <a:ext cx="178308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500" b="0" i="0" u="none" strike="noStrike" cap="none">
                <a:solidFill>
                  <a:schemeClr val="dk1"/>
                </a:solidFill>
                <a:latin typeface="Calibri"/>
                <a:ea typeface="Calibri"/>
                <a:cs typeface="Calibri"/>
                <a:sym typeface="Calibri"/>
              </a:rPr>
              <a:t>by construction</a:t>
            </a:r>
            <a:endParaRPr sz="1500" b="0" i="0" u="none" strike="noStrike" cap="none">
              <a:solidFill>
                <a:schemeClr val="dk1"/>
              </a:solidFill>
              <a:latin typeface="Calibri"/>
              <a:ea typeface="Calibri"/>
              <a:cs typeface="Calibri"/>
              <a:sym typeface="Calibri"/>
            </a:endParaRPr>
          </a:p>
        </p:txBody>
      </p:sp>
      <p:sp>
        <p:nvSpPr>
          <p:cNvPr id="466" name="Google Shape;466;p27"/>
          <p:cNvSpPr txBox="1"/>
          <p:nvPr/>
        </p:nvSpPr>
        <p:spPr>
          <a:xfrm>
            <a:off x="4114800" y="1188720"/>
            <a:ext cx="457200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Legacy flaws, on purpose</a:t>
            </a:r>
            <a:endParaRPr sz="1700" b="0" i="0" u="none" strike="noStrike" cap="none">
              <a:solidFill>
                <a:schemeClr val="dk1"/>
              </a:solidFill>
              <a:latin typeface="Calibri"/>
              <a:ea typeface="Calibri"/>
              <a:cs typeface="Calibri"/>
              <a:sym typeface="Calibri"/>
            </a:endParaRPr>
          </a:p>
        </p:txBody>
      </p:sp>
      <p:sp>
        <p:nvSpPr>
          <p:cNvPr id="467" name="Google Shape;467;p27"/>
          <p:cNvSpPr/>
          <p:nvPr/>
        </p:nvSpPr>
        <p:spPr>
          <a:xfrm>
            <a:off x="4114800" y="1691640"/>
            <a:ext cx="2194560" cy="594360"/>
          </a:xfrm>
          <a:prstGeom prst="roundRect">
            <a:avLst>
              <a:gd name="adj" fmla="val 12308"/>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7"/>
          <p:cNvSpPr txBox="1"/>
          <p:nvPr/>
        </p:nvSpPr>
        <p:spPr>
          <a:xfrm>
            <a:off x="4224528" y="1691640"/>
            <a:ext cx="1975104"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200"/>
              <a:buFont typeface="Courier New"/>
              <a:buNone/>
            </a:pPr>
            <a:r>
              <a:rPr lang="en-US" sz="1200" b="0" i="0" u="none" strike="noStrike" cap="none">
                <a:solidFill>
                  <a:schemeClr val="dk1"/>
                </a:solidFill>
                <a:latin typeface="Courier New"/>
                <a:ea typeface="Courier New"/>
                <a:cs typeface="Courier New"/>
                <a:sym typeface="Courier New"/>
              </a:rPr>
              <a:t>EMPL, EM for employment_level</a:t>
            </a:r>
            <a:endParaRPr sz="1200" b="0" i="0" u="none" strike="noStrike" cap="none">
              <a:solidFill>
                <a:schemeClr val="dk1"/>
              </a:solidFill>
              <a:latin typeface="Calibri"/>
              <a:ea typeface="Calibri"/>
              <a:cs typeface="Calibri"/>
              <a:sym typeface="Calibri"/>
            </a:endParaRPr>
          </a:p>
        </p:txBody>
      </p:sp>
      <p:sp>
        <p:nvSpPr>
          <p:cNvPr id="469" name="Google Shape;469;p27"/>
          <p:cNvSpPr/>
          <p:nvPr/>
        </p:nvSpPr>
        <p:spPr>
          <a:xfrm>
            <a:off x="6446520" y="1691640"/>
            <a:ext cx="2194560" cy="594360"/>
          </a:xfrm>
          <a:prstGeom prst="roundRect">
            <a:avLst>
              <a:gd name="adj" fmla="val 12308"/>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7"/>
          <p:cNvSpPr txBox="1"/>
          <p:nvPr/>
        </p:nvSpPr>
        <p:spPr>
          <a:xfrm>
            <a:off x="6556248" y="1691640"/>
            <a:ext cx="1975104"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200"/>
              <a:buFont typeface="Courier New"/>
              <a:buNone/>
            </a:pPr>
            <a:r>
              <a:rPr lang="en-US" sz="1200" b="0" i="0" u="none" strike="noStrike" cap="none">
                <a:solidFill>
                  <a:schemeClr val="dk1"/>
                </a:solidFill>
                <a:latin typeface="Courier New"/>
                <a:ea typeface="Courier New"/>
                <a:cs typeface="Courier New"/>
                <a:sym typeface="Courier New"/>
              </a:rPr>
              <a:t>%macro x(p, lb, thr, dbg)</a:t>
            </a:r>
            <a:endParaRPr sz="1200" b="0" i="0" u="none" strike="noStrike" cap="none">
              <a:solidFill>
                <a:schemeClr val="dk1"/>
              </a:solidFill>
              <a:latin typeface="Calibri"/>
              <a:ea typeface="Calibri"/>
              <a:cs typeface="Calibri"/>
              <a:sym typeface="Calibri"/>
            </a:endParaRPr>
          </a:p>
        </p:txBody>
      </p:sp>
      <p:sp>
        <p:nvSpPr>
          <p:cNvPr id="471" name="Google Shape;471;p27"/>
          <p:cNvSpPr/>
          <p:nvPr/>
        </p:nvSpPr>
        <p:spPr>
          <a:xfrm>
            <a:off x="4114800" y="2423160"/>
            <a:ext cx="2194560" cy="594360"/>
          </a:xfrm>
          <a:prstGeom prst="roundRect">
            <a:avLst>
              <a:gd name="adj" fmla="val 12308"/>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7"/>
          <p:cNvSpPr txBox="1"/>
          <p:nvPr/>
        </p:nvSpPr>
        <p:spPr>
          <a:xfrm>
            <a:off x="4224528" y="2423160"/>
            <a:ext cx="1975104"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200"/>
              <a:buFont typeface="Courier New"/>
              <a:buNone/>
            </a:pPr>
            <a:r>
              <a:rPr lang="en-US" sz="1200" b="0" i="0" u="none" strike="noStrike" cap="none">
                <a:solidFill>
                  <a:schemeClr val="dk1"/>
                </a:solidFill>
                <a:latin typeface="Courier New"/>
                <a:ea typeface="Courier New"/>
                <a:cs typeface="Courier New"/>
                <a:sym typeface="Courier New"/>
              </a:rPr>
              <a:t>options nomprint nosymbolgen</a:t>
            </a:r>
            <a:endParaRPr sz="1200" b="0" i="0" u="none" strike="noStrike" cap="none">
              <a:solidFill>
                <a:schemeClr val="dk1"/>
              </a:solidFill>
              <a:latin typeface="Calibri"/>
              <a:ea typeface="Calibri"/>
              <a:cs typeface="Calibri"/>
              <a:sym typeface="Calibri"/>
            </a:endParaRPr>
          </a:p>
        </p:txBody>
      </p:sp>
      <p:sp>
        <p:nvSpPr>
          <p:cNvPr id="473" name="Google Shape;473;p27"/>
          <p:cNvSpPr/>
          <p:nvPr/>
        </p:nvSpPr>
        <p:spPr>
          <a:xfrm>
            <a:off x="6446520" y="2423160"/>
            <a:ext cx="2194560" cy="594360"/>
          </a:xfrm>
          <a:prstGeom prst="roundRect">
            <a:avLst>
              <a:gd name="adj" fmla="val 12308"/>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7"/>
          <p:cNvSpPr txBox="1"/>
          <p:nvPr/>
        </p:nvSpPr>
        <p:spPr>
          <a:xfrm>
            <a:off x="6556248" y="2423160"/>
            <a:ext cx="1975104"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200"/>
              <a:buFont typeface="Calibri"/>
              <a:buNone/>
            </a:pPr>
            <a:r>
              <a:rPr lang="en-US" sz="1200" b="0" i="0" u="none" strike="noStrike" cap="none">
                <a:solidFill>
                  <a:schemeClr val="dk1"/>
                </a:solidFill>
                <a:latin typeface="Calibri"/>
                <a:ea typeface="Calibri"/>
                <a:cs typeface="Calibri"/>
                <a:sym typeface="Calibri"/>
              </a:rPr>
              <a:t>Hardcoded paths and periods</a:t>
            </a:r>
            <a:endParaRPr sz="1200" b="0" i="0" u="none" strike="noStrike" cap="none">
              <a:solidFill>
                <a:schemeClr val="dk1"/>
              </a:solidFill>
              <a:latin typeface="Calibri"/>
              <a:ea typeface="Calibri"/>
              <a:cs typeface="Calibri"/>
              <a:sym typeface="Calibri"/>
            </a:endParaRPr>
          </a:p>
        </p:txBody>
      </p:sp>
      <p:sp>
        <p:nvSpPr>
          <p:cNvPr id="475" name="Google Shape;475;p27"/>
          <p:cNvSpPr/>
          <p:nvPr/>
        </p:nvSpPr>
        <p:spPr>
          <a:xfrm>
            <a:off x="4114800" y="3154680"/>
            <a:ext cx="2194560" cy="594360"/>
          </a:xfrm>
          <a:prstGeom prst="roundRect">
            <a:avLst>
              <a:gd name="adj" fmla="val 12308"/>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7"/>
          <p:cNvSpPr txBox="1"/>
          <p:nvPr/>
        </p:nvSpPr>
        <p:spPr>
          <a:xfrm>
            <a:off x="4224528" y="3154680"/>
            <a:ext cx="1975104"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200"/>
              <a:buFont typeface="Calibri"/>
              <a:buNone/>
            </a:pPr>
            <a:r>
              <a:rPr lang="en-US" sz="1200" b="0" i="0" u="none" strike="noStrike" cap="none">
                <a:solidFill>
                  <a:schemeClr val="dk1"/>
                </a:solidFill>
                <a:latin typeface="Calibri"/>
                <a:ea typeface="Calibri"/>
                <a:cs typeface="Calibri"/>
                <a:sym typeface="Calibri"/>
              </a:rPr>
              <a:t>No headers, few comments</a:t>
            </a:r>
            <a:endParaRPr sz="1200" b="0" i="0" u="none" strike="noStrike" cap="none">
              <a:solidFill>
                <a:schemeClr val="dk1"/>
              </a:solidFill>
              <a:latin typeface="Calibri"/>
              <a:ea typeface="Calibri"/>
              <a:cs typeface="Calibri"/>
              <a:sym typeface="Calibri"/>
            </a:endParaRPr>
          </a:p>
        </p:txBody>
      </p:sp>
      <p:sp>
        <p:nvSpPr>
          <p:cNvPr id="477" name="Google Shape;477;p27"/>
          <p:cNvSpPr/>
          <p:nvPr/>
        </p:nvSpPr>
        <p:spPr>
          <a:xfrm>
            <a:off x="6446520" y="3154680"/>
            <a:ext cx="2194560" cy="594360"/>
          </a:xfrm>
          <a:prstGeom prst="roundRect">
            <a:avLst>
              <a:gd name="adj" fmla="val 12308"/>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7"/>
          <p:cNvSpPr txBox="1"/>
          <p:nvPr/>
        </p:nvSpPr>
        <p:spPr>
          <a:xfrm>
            <a:off x="6556248" y="3154680"/>
            <a:ext cx="1975104"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200"/>
              <a:buFont typeface="Calibri"/>
              <a:buNone/>
            </a:pPr>
            <a:r>
              <a:rPr lang="en-US" sz="1200" b="0" i="0" u="none" strike="noStrike" cap="none">
                <a:solidFill>
                  <a:schemeClr val="dk1"/>
                </a:solidFill>
                <a:latin typeface="Calibri"/>
                <a:ea typeface="Calibri"/>
                <a:cs typeface="Calibri"/>
                <a:sym typeface="Calibri"/>
              </a:rPr>
              <a:t>Throwaway intermediate data sets</a:t>
            </a:r>
            <a:endParaRPr sz="1200" b="0" i="0" u="none" strike="noStrike" cap="none">
              <a:solidFill>
                <a:schemeClr val="dk1"/>
              </a:solidFill>
              <a:latin typeface="Calibri"/>
              <a:ea typeface="Calibri"/>
              <a:cs typeface="Calibri"/>
              <a:sym typeface="Calibri"/>
            </a:endParaRPr>
          </a:p>
        </p:txBody>
      </p:sp>
      <p:sp>
        <p:nvSpPr>
          <p:cNvPr id="479" name="Google Shape;479;p27"/>
          <p:cNvSpPr txBox="1"/>
          <p:nvPr/>
        </p:nvSpPr>
        <p:spPr>
          <a:xfrm>
            <a:off x="4114800" y="3931920"/>
            <a:ext cx="45720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1200"/>
              <a:buFont typeface="Calibri"/>
              <a:buNone/>
            </a:pPr>
            <a:r>
              <a:rPr lang="en-US" sz="1200" b="0" i="1" u="none" strike="noStrike" cap="none">
                <a:solidFill>
                  <a:schemeClr val="accent6"/>
                </a:solidFill>
                <a:latin typeface="Calibri"/>
                <a:ea typeface="Calibri"/>
                <a:cs typeface="Calibri"/>
                <a:sym typeface="Calibri"/>
              </a:rPr>
              <a:t>Generated with Mistral Large 3 (a different provider from the frontier model under test)</a:t>
            </a:r>
            <a:endParaRPr sz="1200" b="0" i="0" u="none" strike="noStrike" cap="none">
              <a:solidFill>
                <a:schemeClr val="dk1"/>
              </a:solidFill>
              <a:latin typeface="Calibri"/>
              <a:ea typeface="Calibri"/>
              <a:cs typeface="Calibri"/>
              <a:sym typeface="Calibri"/>
            </a:endParaRPr>
          </a:p>
        </p:txBody>
      </p:sp>
      <p:sp>
        <p:nvSpPr>
          <p:cNvPr id="480" name="Google Shape;480;p27"/>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21</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28"/>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Fine-tuning closes most of the gap</a:t>
            </a:r>
            <a:endParaRPr sz="3000"/>
          </a:p>
        </p:txBody>
      </p:sp>
      <p:pic>
        <p:nvPicPr>
          <p:cNvPr id="487" name="Google Shape;487;p28"/>
          <p:cNvPicPr preferRelativeResize="0"/>
          <p:nvPr/>
        </p:nvPicPr>
        <p:blipFill rotWithShape="1">
          <a:blip r:embed="rId3">
            <a:alphaModFix/>
          </a:blip>
          <a:srcRect/>
          <a:stretch/>
        </p:blipFill>
        <p:spPr>
          <a:xfrm>
            <a:off x="457200" y="1097280"/>
            <a:ext cx="5852160" cy="3337560"/>
          </a:xfrm>
          <a:prstGeom prst="rect">
            <a:avLst/>
          </a:prstGeom>
          <a:noFill/>
          <a:ln>
            <a:noFill/>
          </a:ln>
        </p:spPr>
      </p:pic>
      <p:sp>
        <p:nvSpPr>
          <p:cNvPr id="488" name="Google Shape;488;p28"/>
          <p:cNvSpPr/>
          <p:nvPr/>
        </p:nvSpPr>
        <p:spPr>
          <a:xfrm>
            <a:off x="6583680" y="1188720"/>
            <a:ext cx="2103120" cy="3154680"/>
          </a:xfrm>
          <a:prstGeom prst="roundRect">
            <a:avLst>
              <a:gd name="adj" fmla="val 3478"/>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8"/>
          <p:cNvSpPr txBox="1"/>
          <p:nvPr/>
        </p:nvSpPr>
        <p:spPr>
          <a:xfrm>
            <a:off x="6766560" y="1371600"/>
            <a:ext cx="1783080" cy="2834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4"/>
              </a:buClr>
              <a:buSzPts val="2600"/>
              <a:buFont typeface="Cambria"/>
              <a:buNone/>
            </a:pPr>
            <a:r>
              <a:rPr lang="en-US" sz="2600" b="1" i="0" u="none" strike="noStrike" cap="none">
                <a:solidFill>
                  <a:schemeClr val="accent4"/>
                </a:solidFill>
                <a:latin typeface="Cambria"/>
                <a:ea typeface="Cambria"/>
                <a:cs typeface="Cambria"/>
                <a:sym typeface="Cambria"/>
              </a:rPr>
              <a:t>9 of 20</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300"/>
              <a:buFont typeface="Calibri"/>
              <a:buNone/>
            </a:pPr>
            <a:r>
              <a:rPr lang="en-US" sz="1300" b="0" i="0" u="none" strike="noStrike" cap="none">
                <a:solidFill>
                  <a:schemeClr val="dk1"/>
                </a:solidFill>
                <a:latin typeface="Calibri"/>
                <a:ea typeface="Calibri"/>
                <a:cs typeface="Calibri"/>
                <a:sym typeface="Calibri"/>
              </a:rPr>
              <a:t>Config 1 programs with schema-valid output</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800"/>
              <a:buFont typeface="Calibri"/>
              <a:buNone/>
            </a:pPr>
            <a:r>
              <a:rPr lang="en-US" sz="800" b="0" i="0" u="none" strike="noStrike" cap="none">
                <a:solidFill>
                  <a:schemeClr val="dk1"/>
                </a:solidFill>
                <a:latin typeface="Calibri"/>
                <a:ea typeface="Calibri"/>
                <a:cs typeface="Calibri"/>
                <a:sym typeface="Calibri"/>
              </a:rPr>
              <a:t> </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accent1"/>
              </a:buClr>
              <a:buSzPts val="2400"/>
              <a:buFont typeface="Calibri"/>
              <a:buNone/>
            </a:pPr>
            <a:r>
              <a:rPr lang="en-US" sz="2400" b="1" i="0" u="none" strike="noStrike" cap="none">
                <a:solidFill>
                  <a:schemeClr val="accent1"/>
                </a:solidFill>
                <a:latin typeface="Calibri"/>
                <a:ea typeface="Calibri"/>
                <a:cs typeface="Calibri"/>
                <a:sym typeface="Calibri"/>
              </a:rPr>
              <a:t>0.01 → 0.92</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300"/>
              <a:buFont typeface="Calibri"/>
              <a:buNone/>
            </a:pPr>
            <a:r>
              <a:rPr lang="en-US" sz="1300" b="0" i="0" u="none" strike="noStrike" cap="none">
                <a:solidFill>
                  <a:schemeClr val="dk1"/>
                </a:solidFill>
                <a:latin typeface="Calibri"/>
                <a:ea typeface="Calibri"/>
                <a:cs typeface="Calibri"/>
                <a:sym typeface="Calibri"/>
              </a:rPr>
              <a:t>Variable F1, same base model, after QLoRA</a:t>
            </a:r>
            <a:endParaRPr sz="1300" b="0" i="0" u="none" strike="noStrike" cap="none">
              <a:solidFill>
                <a:schemeClr val="dk1"/>
              </a:solidFill>
              <a:latin typeface="Calibri"/>
              <a:ea typeface="Calibri"/>
              <a:cs typeface="Calibri"/>
              <a:sym typeface="Calibri"/>
            </a:endParaRPr>
          </a:p>
        </p:txBody>
      </p:sp>
      <p:sp>
        <p:nvSpPr>
          <p:cNvPr id="490" name="Google Shape;490;p28"/>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22</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29"/>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The metric that decides: hallucination</a:t>
            </a:r>
            <a:endParaRPr sz="3000"/>
          </a:p>
        </p:txBody>
      </p:sp>
      <p:sp>
        <p:nvSpPr>
          <p:cNvPr id="497" name="Google Shape;497;p29"/>
          <p:cNvSpPr/>
          <p:nvPr/>
        </p:nvSpPr>
        <p:spPr>
          <a:xfrm>
            <a:off x="457200" y="1188720"/>
            <a:ext cx="2560320" cy="3017520"/>
          </a:xfrm>
          <a:prstGeom prst="roundRect">
            <a:avLst>
              <a:gd name="adj" fmla="val 285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9"/>
          <p:cNvSpPr txBox="1"/>
          <p:nvPr/>
        </p:nvSpPr>
        <p:spPr>
          <a:xfrm>
            <a:off x="685800" y="1325880"/>
            <a:ext cx="21031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1400"/>
              <a:buFont typeface="Calibri"/>
              <a:buNone/>
            </a:pPr>
            <a:r>
              <a:rPr lang="en-US" sz="1400" b="1" i="0" u="none" strike="noStrike" cap="none">
                <a:solidFill>
                  <a:schemeClr val="accent6"/>
                </a:solidFill>
                <a:latin typeface="Calibri"/>
                <a:ea typeface="Calibri"/>
                <a:cs typeface="Calibri"/>
                <a:sym typeface="Calibri"/>
              </a:rPr>
              <a:t>Config 1  </a:t>
            </a:r>
            <a:r>
              <a:rPr lang="en-US" sz="1400" b="1" i="0" u="none" strike="noStrike" cap="none">
                <a:solidFill>
                  <a:schemeClr val="dk1"/>
                </a:solidFill>
                <a:latin typeface="Calibri"/>
                <a:ea typeface="Calibri"/>
                <a:cs typeface="Calibri"/>
                <a:sym typeface="Calibri"/>
              </a:rPr>
              <a:t>Zero-shot</a:t>
            </a:r>
            <a:endParaRPr sz="1400" b="0" i="0" u="none" strike="noStrike" cap="none">
              <a:solidFill>
                <a:schemeClr val="dk1"/>
              </a:solidFill>
              <a:latin typeface="Calibri"/>
              <a:ea typeface="Calibri"/>
              <a:cs typeface="Calibri"/>
              <a:sym typeface="Calibri"/>
            </a:endParaRPr>
          </a:p>
        </p:txBody>
      </p:sp>
      <p:sp>
        <p:nvSpPr>
          <p:cNvPr id="499" name="Google Shape;499;p29"/>
          <p:cNvSpPr txBox="1"/>
          <p:nvPr/>
        </p:nvSpPr>
        <p:spPr>
          <a:xfrm>
            <a:off x="685800" y="1691640"/>
            <a:ext cx="2103120" cy="914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accent4"/>
              </a:buClr>
              <a:buSzPts val="5600"/>
              <a:buFont typeface="Cambria"/>
              <a:buNone/>
            </a:pPr>
            <a:r>
              <a:rPr lang="en-US" sz="5600" b="1" i="0" u="none" strike="noStrike" cap="none">
                <a:solidFill>
                  <a:schemeClr val="accent4"/>
                </a:solidFill>
                <a:latin typeface="Cambria"/>
                <a:ea typeface="Cambria"/>
                <a:cs typeface="Cambria"/>
                <a:sym typeface="Cambria"/>
              </a:rPr>
              <a:t>57%</a:t>
            </a:r>
            <a:endParaRPr sz="5600" b="0" i="0" u="none" strike="noStrike" cap="none">
              <a:solidFill>
                <a:schemeClr val="dk1"/>
              </a:solidFill>
              <a:latin typeface="Calibri"/>
              <a:ea typeface="Calibri"/>
              <a:cs typeface="Calibri"/>
              <a:sym typeface="Calibri"/>
            </a:endParaRPr>
          </a:p>
        </p:txBody>
      </p:sp>
      <p:sp>
        <p:nvSpPr>
          <p:cNvPr id="500" name="Google Shape;500;p29"/>
          <p:cNvSpPr txBox="1"/>
          <p:nvPr/>
        </p:nvSpPr>
        <p:spPr>
          <a:xfrm>
            <a:off x="685800" y="2606040"/>
            <a:ext cx="2103120" cy="2743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300"/>
              <a:buFont typeface="Calibri"/>
              <a:buNone/>
            </a:pPr>
            <a:r>
              <a:rPr lang="en-US" sz="1300" b="0" i="0" u="none" strike="noStrike" cap="none">
                <a:solidFill>
                  <a:schemeClr val="dk1"/>
                </a:solidFill>
                <a:latin typeface="Calibri"/>
                <a:ea typeface="Calibri"/>
                <a:cs typeface="Calibri"/>
                <a:sym typeface="Calibri"/>
              </a:rPr>
              <a:t>hallucination rate</a:t>
            </a:r>
            <a:endParaRPr sz="1300" b="0" i="0" u="none" strike="noStrike" cap="none">
              <a:solidFill>
                <a:schemeClr val="dk1"/>
              </a:solidFill>
              <a:latin typeface="Calibri"/>
              <a:ea typeface="Calibri"/>
              <a:cs typeface="Calibri"/>
              <a:sym typeface="Calibri"/>
            </a:endParaRPr>
          </a:p>
        </p:txBody>
      </p:sp>
      <p:sp>
        <p:nvSpPr>
          <p:cNvPr id="501" name="Google Shape;501;p29"/>
          <p:cNvSpPr txBox="1"/>
          <p:nvPr/>
        </p:nvSpPr>
        <p:spPr>
          <a:xfrm>
            <a:off x="685800" y="2880360"/>
            <a:ext cx="2103120" cy="2743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2"/>
              </a:buClr>
              <a:buSzPts val="1200"/>
              <a:buFont typeface="Calibri"/>
              <a:buNone/>
            </a:pPr>
            <a:r>
              <a:rPr lang="en-US" sz="1200" b="0" i="1" u="none" strike="noStrike" cap="none">
                <a:solidFill>
                  <a:schemeClr val="dk2"/>
                </a:solidFill>
                <a:latin typeface="Calibri"/>
                <a:ea typeface="Calibri"/>
                <a:cs typeface="Calibri"/>
                <a:sym typeface="Calibri"/>
              </a:rPr>
              <a:t>range 37–81% across runs</a:t>
            </a:r>
            <a:endParaRPr sz="1200" b="0" i="0" u="none" strike="noStrike" cap="none">
              <a:solidFill>
                <a:schemeClr val="dk1"/>
              </a:solidFill>
              <a:latin typeface="Calibri"/>
              <a:ea typeface="Calibri"/>
              <a:cs typeface="Calibri"/>
              <a:sym typeface="Calibri"/>
            </a:endParaRPr>
          </a:p>
        </p:txBody>
      </p:sp>
      <p:sp>
        <p:nvSpPr>
          <p:cNvPr id="502" name="Google Shape;502;p29"/>
          <p:cNvSpPr txBox="1"/>
          <p:nvPr/>
        </p:nvSpPr>
        <p:spPr>
          <a:xfrm>
            <a:off x="685800" y="3383280"/>
            <a:ext cx="2103120" cy="6858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88 sec</a:t>
            </a:r>
            <a:endParaRPr sz="14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chemeClr val="dk2"/>
              </a:buClr>
              <a:buSzPts val="1200"/>
              <a:buFont typeface="Calibri"/>
              <a:buNone/>
            </a:pPr>
            <a:r>
              <a:rPr lang="en-US" sz="1200" b="0" i="0" u="none" strike="noStrike" cap="none">
                <a:solidFill>
                  <a:schemeClr val="dk2"/>
                </a:solidFill>
                <a:latin typeface="Calibri"/>
                <a:ea typeface="Calibri"/>
                <a:cs typeface="Calibri"/>
                <a:sym typeface="Calibri"/>
              </a:rPr>
              <a:t>per program</a:t>
            </a:r>
            <a:endParaRPr sz="1400" b="0" i="0" u="none" strike="noStrike" cap="none">
              <a:solidFill>
                <a:schemeClr val="dk1"/>
              </a:solidFill>
              <a:latin typeface="Calibri"/>
              <a:ea typeface="Calibri"/>
              <a:cs typeface="Calibri"/>
              <a:sym typeface="Calibri"/>
            </a:endParaRPr>
          </a:p>
        </p:txBody>
      </p:sp>
      <p:sp>
        <p:nvSpPr>
          <p:cNvPr id="503" name="Google Shape;503;p29"/>
          <p:cNvSpPr/>
          <p:nvPr/>
        </p:nvSpPr>
        <p:spPr>
          <a:xfrm>
            <a:off x="3291840" y="1188720"/>
            <a:ext cx="2560320" cy="3017520"/>
          </a:xfrm>
          <a:prstGeom prst="roundRect">
            <a:avLst>
              <a:gd name="adj" fmla="val 285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9"/>
          <p:cNvSpPr txBox="1"/>
          <p:nvPr/>
        </p:nvSpPr>
        <p:spPr>
          <a:xfrm>
            <a:off x="3520440" y="1325880"/>
            <a:ext cx="21031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1400"/>
              <a:buFont typeface="Calibri"/>
              <a:buNone/>
            </a:pPr>
            <a:r>
              <a:rPr lang="en-US" sz="1400" b="1" i="0" u="none" strike="noStrike" cap="none">
                <a:solidFill>
                  <a:schemeClr val="accent6"/>
                </a:solidFill>
                <a:latin typeface="Calibri"/>
                <a:ea typeface="Calibri"/>
                <a:cs typeface="Calibri"/>
                <a:sym typeface="Calibri"/>
              </a:rPr>
              <a:t>Config 2  </a:t>
            </a:r>
            <a:r>
              <a:rPr lang="en-US" sz="1400" b="1" i="0" u="none" strike="noStrike" cap="none">
                <a:solidFill>
                  <a:schemeClr val="dk1"/>
                </a:solidFill>
                <a:latin typeface="Calibri"/>
                <a:ea typeface="Calibri"/>
                <a:cs typeface="Calibri"/>
                <a:sym typeface="Calibri"/>
              </a:rPr>
              <a:t>QLoRA</a:t>
            </a:r>
            <a:endParaRPr sz="1400" b="0" i="0" u="none" strike="noStrike" cap="none">
              <a:solidFill>
                <a:schemeClr val="dk1"/>
              </a:solidFill>
              <a:latin typeface="Calibri"/>
              <a:ea typeface="Calibri"/>
              <a:cs typeface="Calibri"/>
              <a:sym typeface="Calibri"/>
            </a:endParaRPr>
          </a:p>
        </p:txBody>
      </p:sp>
      <p:sp>
        <p:nvSpPr>
          <p:cNvPr id="505" name="Google Shape;505;p29"/>
          <p:cNvSpPr txBox="1"/>
          <p:nvPr/>
        </p:nvSpPr>
        <p:spPr>
          <a:xfrm>
            <a:off x="3520440" y="1691640"/>
            <a:ext cx="2103120" cy="914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accent1"/>
              </a:buClr>
              <a:buSzPts val="5600"/>
              <a:buFont typeface="Cambria"/>
              <a:buNone/>
            </a:pPr>
            <a:r>
              <a:rPr lang="en-US" sz="5600" b="1" i="0" u="none" strike="noStrike" cap="none">
                <a:solidFill>
                  <a:schemeClr val="accent1"/>
                </a:solidFill>
                <a:latin typeface="Cambria"/>
                <a:ea typeface="Cambria"/>
                <a:cs typeface="Cambria"/>
                <a:sym typeface="Cambria"/>
              </a:rPr>
              <a:t>0%</a:t>
            </a:r>
            <a:endParaRPr sz="5600" b="0" i="0" u="none" strike="noStrike" cap="none">
              <a:solidFill>
                <a:schemeClr val="dk1"/>
              </a:solidFill>
              <a:latin typeface="Calibri"/>
              <a:ea typeface="Calibri"/>
              <a:cs typeface="Calibri"/>
              <a:sym typeface="Calibri"/>
            </a:endParaRPr>
          </a:p>
        </p:txBody>
      </p:sp>
      <p:sp>
        <p:nvSpPr>
          <p:cNvPr id="506" name="Google Shape;506;p29"/>
          <p:cNvSpPr txBox="1"/>
          <p:nvPr/>
        </p:nvSpPr>
        <p:spPr>
          <a:xfrm>
            <a:off x="3520440" y="2606040"/>
            <a:ext cx="2103120" cy="2743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300"/>
              <a:buFont typeface="Calibri"/>
              <a:buNone/>
            </a:pPr>
            <a:r>
              <a:rPr lang="en-US" sz="1300" b="0" i="0" u="none" strike="noStrike" cap="none">
                <a:solidFill>
                  <a:schemeClr val="dk1"/>
                </a:solidFill>
                <a:latin typeface="Calibri"/>
                <a:ea typeface="Calibri"/>
                <a:cs typeface="Calibri"/>
                <a:sym typeface="Calibri"/>
              </a:rPr>
              <a:t>hallucination rate</a:t>
            </a:r>
            <a:endParaRPr sz="1300" b="0" i="0" u="none" strike="noStrike" cap="none">
              <a:solidFill>
                <a:schemeClr val="dk1"/>
              </a:solidFill>
              <a:latin typeface="Calibri"/>
              <a:ea typeface="Calibri"/>
              <a:cs typeface="Calibri"/>
              <a:sym typeface="Calibri"/>
            </a:endParaRPr>
          </a:p>
        </p:txBody>
      </p:sp>
      <p:sp>
        <p:nvSpPr>
          <p:cNvPr id="507" name="Google Shape;507;p29"/>
          <p:cNvSpPr txBox="1"/>
          <p:nvPr/>
        </p:nvSpPr>
        <p:spPr>
          <a:xfrm>
            <a:off x="3520440" y="2880360"/>
            <a:ext cx="2103120" cy="2743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2"/>
              </a:buClr>
              <a:buSzPts val="1200"/>
              <a:buFont typeface="Calibri"/>
              <a:buNone/>
            </a:pPr>
            <a:r>
              <a:rPr lang="en-US" sz="1200" b="0" i="1" u="none" strike="noStrike" cap="none">
                <a:solidFill>
                  <a:schemeClr val="dk2"/>
                </a:solidFill>
                <a:latin typeface="Calibri"/>
                <a:ea typeface="Calibri"/>
                <a:cs typeface="Calibri"/>
                <a:sym typeface="Calibri"/>
              </a:rPr>
              <a:t>no invented names</a:t>
            </a:r>
            <a:endParaRPr sz="1200" b="0" i="0" u="none" strike="noStrike" cap="none">
              <a:solidFill>
                <a:schemeClr val="dk1"/>
              </a:solidFill>
              <a:latin typeface="Calibri"/>
              <a:ea typeface="Calibri"/>
              <a:cs typeface="Calibri"/>
              <a:sym typeface="Calibri"/>
            </a:endParaRPr>
          </a:p>
        </p:txBody>
      </p:sp>
      <p:sp>
        <p:nvSpPr>
          <p:cNvPr id="508" name="Google Shape;508;p29"/>
          <p:cNvSpPr txBox="1"/>
          <p:nvPr/>
        </p:nvSpPr>
        <p:spPr>
          <a:xfrm>
            <a:off x="3520440" y="3383280"/>
            <a:ext cx="2103120" cy="6858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210 sec</a:t>
            </a:r>
            <a:endParaRPr sz="14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chemeClr val="dk2"/>
              </a:buClr>
              <a:buSzPts val="1200"/>
              <a:buFont typeface="Calibri"/>
              <a:buNone/>
            </a:pPr>
            <a:r>
              <a:rPr lang="en-US" sz="1200" b="0" i="0" u="none" strike="noStrike" cap="none">
                <a:solidFill>
                  <a:schemeClr val="dk2"/>
                </a:solidFill>
                <a:latin typeface="Calibri"/>
                <a:ea typeface="Calibri"/>
                <a:cs typeface="Calibri"/>
                <a:sym typeface="Calibri"/>
              </a:rPr>
              <a:t>per program</a:t>
            </a:r>
            <a:endParaRPr sz="1400" b="0" i="0" u="none" strike="noStrike" cap="none">
              <a:solidFill>
                <a:schemeClr val="dk1"/>
              </a:solidFill>
              <a:latin typeface="Calibri"/>
              <a:ea typeface="Calibri"/>
              <a:cs typeface="Calibri"/>
              <a:sym typeface="Calibri"/>
            </a:endParaRPr>
          </a:p>
        </p:txBody>
      </p:sp>
      <p:sp>
        <p:nvSpPr>
          <p:cNvPr id="509" name="Google Shape;509;p29"/>
          <p:cNvSpPr/>
          <p:nvPr/>
        </p:nvSpPr>
        <p:spPr>
          <a:xfrm>
            <a:off x="6126480" y="1188720"/>
            <a:ext cx="2560320" cy="3017520"/>
          </a:xfrm>
          <a:prstGeom prst="roundRect">
            <a:avLst>
              <a:gd name="adj" fmla="val 285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9"/>
          <p:cNvSpPr txBox="1"/>
          <p:nvPr/>
        </p:nvSpPr>
        <p:spPr>
          <a:xfrm>
            <a:off x="6355080" y="1325880"/>
            <a:ext cx="21031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1400"/>
              <a:buFont typeface="Calibri"/>
              <a:buNone/>
            </a:pPr>
            <a:r>
              <a:rPr lang="en-US" sz="1400" b="1" i="0" u="none" strike="noStrike" cap="none">
                <a:solidFill>
                  <a:schemeClr val="accent6"/>
                </a:solidFill>
                <a:latin typeface="Calibri"/>
                <a:ea typeface="Calibri"/>
                <a:cs typeface="Calibri"/>
                <a:sym typeface="Calibri"/>
              </a:rPr>
              <a:t>Config 3  </a:t>
            </a:r>
            <a:r>
              <a:rPr lang="en-US" sz="1400" b="1" i="0" u="none" strike="noStrike" cap="none">
                <a:solidFill>
                  <a:schemeClr val="dk1"/>
                </a:solidFill>
                <a:latin typeface="Calibri"/>
                <a:ea typeface="Calibri"/>
                <a:cs typeface="Calibri"/>
                <a:sym typeface="Calibri"/>
              </a:rPr>
              <a:t>Frontier + skills</a:t>
            </a:r>
            <a:endParaRPr sz="1400" b="0" i="0" u="none" strike="noStrike" cap="none">
              <a:solidFill>
                <a:schemeClr val="dk1"/>
              </a:solidFill>
              <a:latin typeface="Calibri"/>
              <a:ea typeface="Calibri"/>
              <a:cs typeface="Calibri"/>
              <a:sym typeface="Calibri"/>
            </a:endParaRPr>
          </a:p>
        </p:txBody>
      </p:sp>
      <p:sp>
        <p:nvSpPr>
          <p:cNvPr id="511" name="Google Shape;511;p29"/>
          <p:cNvSpPr txBox="1"/>
          <p:nvPr/>
        </p:nvSpPr>
        <p:spPr>
          <a:xfrm>
            <a:off x="6355080" y="1691640"/>
            <a:ext cx="2103120" cy="914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accent2"/>
              </a:buClr>
              <a:buSzPts val="5600"/>
              <a:buFont typeface="Cambria"/>
              <a:buNone/>
            </a:pPr>
            <a:r>
              <a:rPr lang="en-US" sz="5600" b="1" i="0" u="none" strike="noStrike" cap="none">
                <a:solidFill>
                  <a:schemeClr val="accent2"/>
                </a:solidFill>
                <a:latin typeface="Cambria"/>
                <a:ea typeface="Cambria"/>
                <a:cs typeface="Cambria"/>
                <a:sym typeface="Cambria"/>
              </a:rPr>
              <a:t>0%</a:t>
            </a:r>
            <a:endParaRPr sz="5600" b="0" i="0" u="none" strike="noStrike" cap="none">
              <a:solidFill>
                <a:schemeClr val="dk1"/>
              </a:solidFill>
              <a:latin typeface="Calibri"/>
              <a:ea typeface="Calibri"/>
              <a:cs typeface="Calibri"/>
              <a:sym typeface="Calibri"/>
            </a:endParaRPr>
          </a:p>
        </p:txBody>
      </p:sp>
      <p:sp>
        <p:nvSpPr>
          <p:cNvPr id="512" name="Google Shape;512;p29"/>
          <p:cNvSpPr txBox="1"/>
          <p:nvPr/>
        </p:nvSpPr>
        <p:spPr>
          <a:xfrm>
            <a:off x="6355080" y="2606040"/>
            <a:ext cx="2103120" cy="2743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300"/>
              <a:buFont typeface="Calibri"/>
              <a:buNone/>
            </a:pPr>
            <a:r>
              <a:rPr lang="en-US" sz="1300" b="0" i="0" u="none" strike="noStrike" cap="none">
                <a:solidFill>
                  <a:schemeClr val="dk1"/>
                </a:solidFill>
                <a:latin typeface="Calibri"/>
                <a:ea typeface="Calibri"/>
                <a:cs typeface="Calibri"/>
                <a:sym typeface="Calibri"/>
              </a:rPr>
              <a:t>hallucination rate</a:t>
            </a:r>
            <a:endParaRPr sz="1300" b="0" i="0" u="none" strike="noStrike" cap="none">
              <a:solidFill>
                <a:schemeClr val="dk1"/>
              </a:solidFill>
              <a:latin typeface="Calibri"/>
              <a:ea typeface="Calibri"/>
              <a:cs typeface="Calibri"/>
              <a:sym typeface="Calibri"/>
            </a:endParaRPr>
          </a:p>
        </p:txBody>
      </p:sp>
      <p:sp>
        <p:nvSpPr>
          <p:cNvPr id="513" name="Google Shape;513;p29"/>
          <p:cNvSpPr txBox="1"/>
          <p:nvPr/>
        </p:nvSpPr>
        <p:spPr>
          <a:xfrm>
            <a:off x="6355080" y="2880360"/>
            <a:ext cx="2103120" cy="2743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2"/>
              </a:buClr>
              <a:buSzPts val="1200"/>
              <a:buFont typeface="Calibri"/>
              <a:buNone/>
            </a:pPr>
            <a:r>
              <a:rPr lang="en-US" sz="1200" b="0" i="1" u="none" strike="noStrike" cap="none">
                <a:solidFill>
                  <a:schemeClr val="dk2"/>
                </a:solidFill>
                <a:latin typeface="Calibri"/>
                <a:ea typeface="Calibri"/>
                <a:cs typeface="Calibri"/>
                <a:sym typeface="Calibri"/>
              </a:rPr>
              <a:t>no invented names</a:t>
            </a:r>
            <a:endParaRPr sz="1200" b="0" i="0" u="none" strike="noStrike" cap="none">
              <a:solidFill>
                <a:schemeClr val="dk1"/>
              </a:solidFill>
              <a:latin typeface="Calibri"/>
              <a:ea typeface="Calibri"/>
              <a:cs typeface="Calibri"/>
              <a:sym typeface="Calibri"/>
            </a:endParaRPr>
          </a:p>
        </p:txBody>
      </p:sp>
      <p:sp>
        <p:nvSpPr>
          <p:cNvPr id="514" name="Google Shape;514;p29"/>
          <p:cNvSpPr txBox="1"/>
          <p:nvPr/>
        </p:nvSpPr>
        <p:spPr>
          <a:xfrm>
            <a:off x="6355080" y="3383280"/>
            <a:ext cx="2103120" cy="6858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61 sec</a:t>
            </a:r>
            <a:endParaRPr sz="14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chemeClr val="dk2"/>
              </a:buClr>
              <a:buSzPts val="1200"/>
              <a:buFont typeface="Calibri"/>
              <a:buNone/>
            </a:pPr>
            <a:r>
              <a:rPr lang="en-US" sz="1200" b="0" i="0" u="none" strike="noStrike" cap="none">
                <a:solidFill>
                  <a:schemeClr val="dk2"/>
                </a:solidFill>
                <a:latin typeface="Calibri"/>
                <a:ea typeface="Calibri"/>
                <a:cs typeface="Calibri"/>
                <a:sym typeface="Calibri"/>
              </a:rPr>
              <a:t>per program</a:t>
            </a:r>
            <a:endParaRPr sz="1400" b="0" i="0" u="none" strike="noStrike" cap="none">
              <a:solidFill>
                <a:schemeClr val="dk1"/>
              </a:solidFill>
              <a:latin typeface="Calibri"/>
              <a:ea typeface="Calibri"/>
              <a:cs typeface="Calibri"/>
              <a:sym typeface="Calibri"/>
            </a:endParaRPr>
          </a:p>
        </p:txBody>
      </p:sp>
      <p:sp>
        <p:nvSpPr>
          <p:cNvPr id="515" name="Google Shape;515;p29"/>
          <p:cNvSpPr txBox="1"/>
          <p:nvPr/>
        </p:nvSpPr>
        <p:spPr>
          <a:xfrm>
            <a:off x="457200" y="4498848"/>
            <a:ext cx="768096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900"/>
              <a:buFont typeface="Calibri"/>
              <a:buNone/>
            </a:pPr>
            <a:r>
              <a:rPr lang="en-US" sz="900" b="0" i="1" u="none" strike="noStrike" cap="none">
                <a:solidFill>
                  <a:schemeClr val="accent6"/>
                </a:solidFill>
                <a:latin typeface="Calibri"/>
                <a:ea typeface="Calibri"/>
                <a:cs typeface="Calibri"/>
                <a:sym typeface="Calibri"/>
              </a:rPr>
              <a:t>Hallucination = any variable, data set or macro-parameter name not found in the source (or, for Config 3, in SASPy-retrieved metadata).</a:t>
            </a:r>
            <a:endParaRPr sz="900" b="0" i="0" u="none" strike="noStrike" cap="none">
              <a:solidFill>
                <a:schemeClr val="dk1"/>
              </a:solidFill>
              <a:latin typeface="Calibri"/>
              <a:ea typeface="Calibri"/>
              <a:cs typeface="Calibri"/>
              <a:sym typeface="Calibri"/>
            </a:endParaRPr>
          </a:p>
        </p:txBody>
      </p:sp>
      <p:sp>
        <p:nvSpPr>
          <p:cNvPr id="516" name="Google Shape;516;p29"/>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23</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30"/>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Reading the results</a:t>
            </a:r>
            <a:endParaRPr sz="3000"/>
          </a:p>
        </p:txBody>
      </p:sp>
      <p:sp>
        <p:nvSpPr>
          <p:cNvPr id="523" name="Google Shape;523;p30"/>
          <p:cNvSpPr/>
          <p:nvPr/>
        </p:nvSpPr>
        <p:spPr>
          <a:xfrm>
            <a:off x="457200" y="1188720"/>
            <a:ext cx="8229600" cy="868680"/>
          </a:xfrm>
          <a:prstGeom prst="roundRect">
            <a:avLst>
              <a:gd name="adj" fmla="val 842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0"/>
          <p:cNvSpPr/>
          <p:nvPr/>
        </p:nvSpPr>
        <p:spPr>
          <a:xfrm>
            <a:off x="640080" y="1353312"/>
            <a:ext cx="548640" cy="54864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25" name="Google Shape;525;p30" descr="icon"/>
          <p:cNvPicPr preferRelativeResize="0"/>
          <p:nvPr/>
        </p:nvPicPr>
        <p:blipFill rotWithShape="1">
          <a:blip r:embed="rId3">
            <a:alphaModFix/>
          </a:blip>
          <a:srcRect/>
          <a:stretch/>
        </p:blipFill>
        <p:spPr>
          <a:xfrm>
            <a:off x="760781" y="1474013"/>
            <a:ext cx="307238" cy="307238"/>
          </a:xfrm>
          <a:prstGeom prst="rect">
            <a:avLst/>
          </a:prstGeom>
          <a:noFill/>
          <a:ln>
            <a:noFill/>
          </a:ln>
        </p:spPr>
      </p:pic>
      <p:sp>
        <p:nvSpPr>
          <p:cNvPr id="526" name="Google Shape;526;p30"/>
          <p:cNvSpPr txBox="1"/>
          <p:nvPr/>
        </p:nvSpPr>
        <p:spPr>
          <a:xfrm>
            <a:off x="1371600" y="1188720"/>
            <a:ext cx="118872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Config 1</a:t>
            </a:r>
            <a:endParaRPr sz="1600" b="0" i="0" u="none" strike="noStrike" cap="none">
              <a:solidFill>
                <a:schemeClr val="dk1"/>
              </a:solidFill>
              <a:latin typeface="Calibri"/>
              <a:ea typeface="Calibri"/>
              <a:cs typeface="Calibri"/>
              <a:sym typeface="Calibri"/>
            </a:endParaRPr>
          </a:p>
        </p:txBody>
      </p:sp>
      <p:sp>
        <p:nvSpPr>
          <p:cNvPr id="527" name="Google Shape;527;p30"/>
          <p:cNvSpPr txBox="1"/>
          <p:nvPr/>
        </p:nvSpPr>
        <p:spPr>
          <a:xfrm>
            <a:off x="2560320" y="1188720"/>
            <a:ext cx="594360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Not viable on its own: invalid output and highly variable hallucination</a:t>
            </a:r>
            <a:r>
              <a:rPr lang="en-US">
                <a:solidFill>
                  <a:schemeClr val="dk1"/>
                </a:solidFill>
                <a:latin typeface="Calibri"/>
                <a:ea typeface="Calibri"/>
                <a:cs typeface="Calibri"/>
                <a:sym typeface="Calibri"/>
              </a:rPr>
              <a:t>. W</a:t>
            </a:r>
            <a:r>
              <a:rPr lang="en-US" sz="1400" b="0" i="0" u="none" strike="noStrike" cap="none">
                <a:solidFill>
                  <a:schemeClr val="dk1"/>
                </a:solidFill>
                <a:latin typeface="Calibri"/>
                <a:ea typeface="Calibri"/>
                <a:cs typeface="Calibri"/>
                <a:sym typeface="Calibri"/>
              </a:rPr>
              <a:t>ould be more viable with higher parameter model.</a:t>
            </a:r>
            <a:endParaRPr sz="1400" b="0" i="0" u="none" strike="noStrike" cap="none">
              <a:solidFill>
                <a:schemeClr val="dk1"/>
              </a:solidFill>
              <a:latin typeface="Calibri"/>
              <a:ea typeface="Calibri"/>
              <a:cs typeface="Calibri"/>
              <a:sym typeface="Calibri"/>
            </a:endParaRPr>
          </a:p>
        </p:txBody>
      </p:sp>
      <p:sp>
        <p:nvSpPr>
          <p:cNvPr id="528" name="Google Shape;528;p30"/>
          <p:cNvSpPr/>
          <p:nvPr/>
        </p:nvSpPr>
        <p:spPr>
          <a:xfrm>
            <a:off x="457200" y="2212848"/>
            <a:ext cx="8229600" cy="868680"/>
          </a:xfrm>
          <a:prstGeom prst="roundRect">
            <a:avLst>
              <a:gd name="adj" fmla="val 842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0"/>
          <p:cNvSpPr/>
          <p:nvPr/>
        </p:nvSpPr>
        <p:spPr>
          <a:xfrm>
            <a:off x="640080" y="2377440"/>
            <a:ext cx="548640" cy="54864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30" name="Google Shape;530;p30" descr="icon"/>
          <p:cNvPicPr preferRelativeResize="0"/>
          <p:nvPr/>
        </p:nvPicPr>
        <p:blipFill rotWithShape="1">
          <a:blip r:embed="rId4">
            <a:alphaModFix/>
          </a:blip>
          <a:srcRect/>
          <a:stretch/>
        </p:blipFill>
        <p:spPr>
          <a:xfrm>
            <a:off x="760781" y="2498141"/>
            <a:ext cx="307238" cy="307238"/>
          </a:xfrm>
          <a:prstGeom prst="rect">
            <a:avLst/>
          </a:prstGeom>
          <a:noFill/>
          <a:ln>
            <a:noFill/>
          </a:ln>
        </p:spPr>
      </p:pic>
      <p:sp>
        <p:nvSpPr>
          <p:cNvPr id="531" name="Google Shape;531;p30"/>
          <p:cNvSpPr txBox="1"/>
          <p:nvPr/>
        </p:nvSpPr>
        <p:spPr>
          <a:xfrm>
            <a:off x="1371600" y="2212848"/>
            <a:ext cx="118872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Config 2</a:t>
            </a:r>
            <a:endParaRPr sz="1600" b="0" i="0" u="none" strike="noStrike" cap="none">
              <a:solidFill>
                <a:schemeClr val="dk1"/>
              </a:solidFill>
              <a:latin typeface="Calibri"/>
              <a:ea typeface="Calibri"/>
              <a:cs typeface="Calibri"/>
              <a:sym typeface="Calibri"/>
            </a:endParaRPr>
          </a:p>
        </p:txBody>
      </p:sp>
      <p:sp>
        <p:nvSpPr>
          <p:cNvPr id="532" name="Google Shape;532;p30"/>
          <p:cNvSpPr txBox="1"/>
          <p:nvPr/>
        </p:nvSpPr>
        <p:spPr>
          <a:xfrm>
            <a:off x="2560320" y="2212848"/>
            <a:ext cx="594360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A practical, locally deployable option. More data or a larger Gemma-class base could narrow the remaining gap</a:t>
            </a:r>
            <a:endParaRPr sz="1400" b="0" i="0" u="none" strike="noStrike" cap="none">
              <a:solidFill>
                <a:schemeClr val="dk1"/>
              </a:solidFill>
              <a:latin typeface="Calibri"/>
              <a:ea typeface="Calibri"/>
              <a:cs typeface="Calibri"/>
              <a:sym typeface="Calibri"/>
            </a:endParaRPr>
          </a:p>
        </p:txBody>
      </p:sp>
      <p:sp>
        <p:nvSpPr>
          <p:cNvPr id="533" name="Google Shape;533;p30"/>
          <p:cNvSpPr/>
          <p:nvPr/>
        </p:nvSpPr>
        <p:spPr>
          <a:xfrm>
            <a:off x="457200" y="3236976"/>
            <a:ext cx="8229600" cy="868680"/>
          </a:xfrm>
          <a:prstGeom prst="roundRect">
            <a:avLst>
              <a:gd name="adj" fmla="val 842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0"/>
          <p:cNvSpPr/>
          <p:nvPr/>
        </p:nvSpPr>
        <p:spPr>
          <a:xfrm>
            <a:off x="640080" y="3401568"/>
            <a:ext cx="548640" cy="54864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35" name="Google Shape;535;p30" descr="icon"/>
          <p:cNvPicPr preferRelativeResize="0"/>
          <p:nvPr/>
        </p:nvPicPr>
        <p:blipFill rotWithShape="1">
          <a:blip r:embed="rId5">
            <a:alphaModFix/>
          </a:blip>
          <a:srcRect/>
          <a:stretch/>
        </p:blipFill>
        <p:spPr>
          <a:xfrm>
            <a:off x="760781" y="3522269"/>
            <a:ext cx="307238" cy="307238"/>
          </a:xfrm>
          <a:prstGeom prst="rect">
            <a:avLst/>
          </a:prstGeom>
          <a:noFill/>
          <a:ln>
            <a:noFill/>
          </a:ln>
        </p:spPr>
      </p:pic>
      <p:sp>
        <p:nvSpPr>
          <p:cNvPr id="536" name="Google Shape;536;p30"/>
          <p:cNvSpPr txBox="1"/>
          <p:nvPr/>
        </p:nvSpPr>
        <p:spPr>
          <a:xfrm>
            <a:off x="1371600" y="3236976"/>
            <a:ext cx="118872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Config 3</a:t>
            </a:r>
            <a:endParaRPr sz="1600" b="0" i="0" u="none" strike="noStrike" cap="none">
              <a:solidFill>
                <a:schemeClr val="dk1"/>
              </a:solidFill>
              <a:latin typeface="Calibri"/>
              <a:ea typeface="Calibri"/>
              <a:cs typeface="Calibri"/>
              <a:sym typeface="Calibri"/>
            </a:endParaRPr>
          </a:p>
        </p:txBody>
      </p:sp>
      <p:sp>
        <p:nvSpPr>
          <p:cNvPr id="537" name="Google Shape;537;p30"/>
          <p:cNvSpPr txBox="1"/>
          <p:nvPr/>
        </p:nvSpPr>
        <p:spPr>
          <a:xfrm>
            <a:off x="2560320" y="3236976"/>
            <a:ext cx="594360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Strongest headline scores, but positional-vs-keyword parameter usage averaged only 0.64</a:t>
            </a:r>
            <a:endParaRPr sz="1400" b="0" i="0" u="none" strike="noStrike" cap="none">
              <a:solidFill>
                <a:schemeClr val="dk1"/>
              </a:solidFill>
              <a:latin typeface="Calibri"/>
              <a:ea typeface="Calibri"/>
              <a:cs typeface="Calibri"/>
              <a:sym typeface="Calibri"/>
            </a:endParaRPr>
          </a:p>
        </p:txBody>
      </p:sp>
      <p:sp>
        <p:nvSpPr>
          <p:cNvPr id="538" name="Google Shape;538;p30"/>
          <p:cNvSpPr txBox="1"/>
          <p:nvPr/>
        </p:nvSpPr>
        <p:spPr>
          <a:xfrm>
            <a:off x="457200" y="4297680"/>
            <a:ext cx="82296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1400"/>
              <a:buFont typeface="Calibri"/>
              <a:buNone/>
            </a:pPr>
            <a:r>
              <a:rPr lang="en-US" sz="1400" b="0" i="1" u="none" strike="noStrike" cap="none">
                <a:solidFill>
                  <a:schemeClr val="accent6"/>
                </a:solidFill>
                <a:latin typeface="Calibri"/>
                <a:ea typeface="Calibri"/>
                <a:cs typeface="Calibri"/>
                <a:sym typeface="Calibri"/>
              </a:rPr>
              <a:t>Human review remains essential in every configuration</a:t>
            </a:r>
            <a:endParaRPr sz="1400" b="0" i="0" u="none" strike="noStrike" cap="none">
              <a:solidFill>
                <a:schemeClr val="dk1"/>
              </a:solidFill>
              <a:latin typeface="Calibri"/>
              <a:ea typeface="Calibri"/>
              <a:cs typeface="Calibri"/>
              <a:sym typeface="Calibri"/>
            </a:endParaRPr>
          </a:p>
        </p:txBody>
      </p:sp>
      <p:sp>
        <p:nvSpPr>
          <p:cNvPr id="539" name="Google Shape;539;p30"/>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24</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31"/>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Limitations</a:t>
            </a:r>
            <a:endParaRPr sz="3000"/>
          </a:p>
        </p:txBody>
      </p:sp>
      <p:sp>
        <p:nvSpPr>
          <p:cNvPr id="546" name="Google Shape;546;p31"/>
          <p:cNvSpPr/>
          <p:nvPr/>
        </p:nvSpPr>
        <p:spPr>
          <a:xfrm>
            <a:off x="457200" y="1188720"/>
            <a:ext cx="2560320" cy="3017520"/>
          </a:xfrm>
          <a:prstGeom prst="roundRect">
            <a:avLst>
              <a:gd name="adj" fmla="val 285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1"/>
          <p:cNvSpPr/>
          <p:nvPr/>
        </p:nvSpPr>
        <p:spPr>
          <a:xfrm>
            <a:off x="731520" y="1417320"/>
            <a:ext cx="594360" cy="59436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48" name="Google Shape;548;p31" descr="icon"/>
          <p:cNvPicPr preferRelativeResize="0"/>
          <p:nvPr/>
        </p:nvPicPr>
        <p:blipFill rotWithShape="1">
          <a:blip r:embed="rId3">
            <a:alphaModFix/>
          </a:blip>
          <a:srcRect/>
          <a:stretch/>
        </p:blipFill>
        <p:spPr>
          <a:xfrm>
            <a:off x="862279" y="1548079"/>
            <a:ext cx="332842" cy="332842"/>
          </a:xfrm>
          <a:prstGeom prst="rect">
            <a:avLst/>
          </a:prstGeom>
          <a:noFill/>
          <a:ln>
            <a:noFill/>
          </a:ln>
        </p:spPr>
      </p:pic>
      <p:sp>
        <p:nvSpPr>
          <p:cNvPr id="549" name="Google Shape;549;p31"/>
          <p:cNvSpPr txBox="1"/>
          <p:nvPr/>
        </p:nvSpPr>
        <p:spPr>
          <a:xfrm>
            <a:off x="731520" y="2194560"/>
            <a:ext cx="210312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Synthetic by design</a:t>
            </a:r>
            <a:endParaRPr sz="1600" b="0" i="0" u="none" strike="noStrike" cap="none">
              <a:solidFill>
                <a:schemeClr val="dk1"/>
              </a:solidFill>
              <a:latin typeface="Calibri"/>
              <a:ea typeface="Calibri"/>
              <a:cs typeface="Calibri"/>
              <a:sym typeface="Calibri"/>
            </a:endParaRPr>
          </a:p>
        </p:txBody>
      </p:sp>
      <p:sp>
        <p:nvSpPr>
          <p:cNvPr id="550" name="Google Shape;550;p31"/>
          <p:cNvSpPr txBox="1"/>
          <p:nvPr/>
        </p:nvSpPr>
        <p:spPr>
          <a:xfrm>
            <a:off x="731520" y="2606040"/>
            <a:ext cx="2103120" cy="1463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Exact automated scoring, but real code has conventions and interdependencies a synthetic set may miss</a:t>
            </a:r>
            <a:endParaRPr sz="1400" b="0" i="0" u="none" strike="noStrike" cap="none">
              <a:solidFill>
                <a:schemeClr val="dk1"/>
              </a:solidFill>
              <a:latin typeface="Calibri"/>
              <a:ea typeface="Calibri"/>
              <a:cs typeface="Calibri"/>
              <a:sym typeface="Calibri"/>
            </a:endParaRPr>
          </a:p>
        </p:txBody>
      </p:sp>
      <p:sp>
        <p:nvSpPr>
          <p:cNvPr id="551" name="Google Shape;551;p31"/>
          <p:cNvSpPr/>
          <p:nvPr/>
        </p:nvSpPr>
        <p:spPr>
          <a:xfrm>
            <a:off x="3291840" y="1188720"/>
            <a:ext cx="2560320" cy="3017520"/>
          </a:xfrm>
          <a:prstGeom prst="roundRect">
            <a:avLst>
              <a:gd name="adj" fmla="val 285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1"/>
          <p:cNvSpPr/>
          <p:nvPr/>
        </p:nvSpPr>
        <p:spPr>
          <a:xfrm>
            <a:off x="3566160" y="1417320"/>
            <a:ext cx="594360" cy="59436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53" name="Google Shape;553;p31" descr="icon"/>
          <p:cNvPicPr preferRelativeResize="0"/>
          <p:nvPr/>
        </p:nvPicPr>
        <p:blipFill rotWithShape="1">
          <a:blip r:embed="rId4">
            <a:alphaModFix/>
          </a:blip>
          <a:srcRect/>
          <a:stretch/>
        </p:blipFill>
        <p:spPr>
          <a:xfrm>
            <a:off x="3696919" y="1548079"/>
            <a:ext cx="332842" cy="332842"/>
          </a:xfrm>
          <a:prstGeom prst="rect">
            <a:avLst/>
          </a:prstGeom>
          <a:noFill/>
          <a:ln>
            <a:noFill/>
          </a:ln>
        </p:spPr>
      </p:pic>
      <p:sp>
        <p:nvSpPr>
          <p:cNvPr id="554" name="Google Shape;554;p31"/>
          <p:cNvSpPr txBox="1"/>
          <p:nvPr/>
        </p:nvSpPr>
        <p:spPr>
          <a:xfrm>
            <a:off x="3566160" y="2194560"/>
            <a:ext cx="210312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Not like-for-like</a:t>
            </a:r>
            <a:endParaRPr sz="1600" b="0" i="0" u="none" strike="noStrike" cap="none">
              <a:solidFill>
                <a:schemeClr val="dk1"/>
              </a:solidFill>
              <a:latin typeface="Calibri"/>
              <a:ea typeface="Calibri"/>
              <a:cs typeface="Calibri"/>
              <a:sym typeface="Calibri"/>
            </a:endParaRPr>
          </a:p>
        </p:txBody>
      </p:sp>
      <p:sp>
        <p:nvSpPr>
          <p:cNvPr id="555" name="Google Shape;555;p31"/>
          <p:cNvSpPr txBox="1"/>
          <p:nvPr/>
        </p:nvSpPr>
        <p:spPr>
          <a:xfrm>
            <a:off x="3566160" y="2606040"/>
            <a:ext cx="2103120" cy="1463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Config 3 is a practical alternative, not a controlled ablation of Configs 1 and 2.</a:t>
            </a:r>
          </a:p>
        </p:txBody>
      </p:sp>
      <p:sp>
        <p:nvSpPr>
          <p:cNvPr id="556" name="Google Shape;556;p31"/>
          <p:cNvSpPr/>
          <p:nvPr/>
        </p:nvSpPr>
        <p:spPr>
          <a:xfrm>
            <a:off x="6126480" y="1188720"/>
            <a:ext cx="2560320" cy="3017520"/>
          </a:xfrm>
          <a:prstGeom prst="roundRect">
            <a:avLst>
              <a:gd name="adj" fmla="val 285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1"/>
          <p:cNvSpPr/>
          <p:nvPr/>
        </p:nvSpPr>
        <p:spPr>
          <a:xfrm>
            <a:off x="6400800" y="1417320"/>
            <a:ext cx="594360" cy="59436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58" name="Google Shape;558;p31" descr="icon"/>
          <p:cNvPicPr preferRelativeResize="0"/>
          <p:nvPr/>
        </p:nvPicPr>
        <p:blipFill rotWithShape="1">
          <a:blip r:embed="rId5">
            <a:alphaModFix/>
          </a:blip>
          <a:srcRect/>
          <a:stretch/>
        </p:blipFill>
        <p:spPr>
          <a:xfrm>
            <a:off x="6531559" y="1548079"/>
            <a:ext cx="332842" cy="332842"/>
          </a:xfrm>
          <a:prstGeom prst="rect">
            <a:avLst/>
          </a:prstGeom>
          <a:noFill/>
          <a:ln>
            <a:noFill/>
          </a:ln>
        </p:spPr>
      </p:pic>
      <p:sp>
        <p:nvSpPr>
          <p:cNvPr id="559" name="Google Shape;559;p31"/>
          <p:cNvSpPr txBox="1"/>
          <p:nvPr/>
        </p:nvSpPr>
        <p:spPr>
          <a:xfrm>
            <a:off x="6400800" y="2194560"/>
            <a:ext cx="210312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Names, not meaning</a:t>
            </a:r>
            <a:endParaRPr sz="1600" b="0" i="0" u="none" strike="noStrike" cap="none">
              <a:solidFill>
                <a:schemeClr val="dk1"/>
              </a:solidFill>
              <a:latin typeface="Calibri"/>
              <a:ea typeface="Calibri"/>
              <a:cs typeface="Calibri"/>
              <a:sym typeface="Calibri"/>
            </a:endParaRPr>
          </a:p>
        </p:txBody>
      </p:sp>
      <p:sp>
        <p:nvSpPr>
          <p:cNvPr id="560" name="Google Shape;560;p31"/>
          <p:cNvSpPr txBox="1"/>
          <p:nvPr/>
        </p:nvSpPr>
        <p:spPr>
          <a:xfrm>
            <a:off x="6400800" y="2606040"/>
            <a:ext cx="2103120" cy="1463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Hallucination metric catches invented names, not a real variable described wrongly</a:t>
            </a:r>
            <a:endParaRPr sz="1400" b="0" i="0" u="none" strike="noStrike" cap="none">
              <a:solidFill>
                <a:schemeClr val="dk1"/>
              </a:solidFill>
              <a:latin typeface="Calibri"/>
              <a:ea typeface="Calibri"/>
              <a:cs typeface="Calibri"/>
              <a:sym typeface="Calibri"/>
            </a:endParaRPr>
          </a:p>
        </p:txBody>
      </p:sp>
      <p:sp>
        <p:nvSpPr>
          <p:cNvPr id="561" name="Google Shape;561;p31"/>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25</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Google Shape;567;p32"/>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The LoRA family keeps growing</a:t>
            </a:r>
            <a:endParaRPr sz="3000"/>
          </a:p>
        </p:txBody>
      </p:sp>
      <p:sp>
        <p:nvSpPr>
          <p:cNvPr id="568" name="Google Shape;568;p32"/>
          <p:cNvSpPr/>
          <p:nvPr/>
        </p:nvSpPr>
        <p:spPr>
          <a:xfrm>
            <a:off x="457200" y="1188720"/>
            <a:ext cx="2423160" cy="1234440"/>
          </a:xfrm>
          <a:prstGeom prst="roundRect">
            <a:avLst>
              <a:gd name="adj" fmla="val 592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2"/>
          <p:cNvSpPr txBox="1"/>
          <p:nvPr/>
        </p:nvSpPr>
        <p:spPr>
          <a:xfrm>
            <a:off x="640080" y="1325880"/>
            <a:ext cx="21031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500"/>
              <a:buFont typeface="Calibri"/>
              <a:buNone/>
            </a:pPr>
            <a:r>
              <a:rPr lang="en-US" sz="1500" b="1" i="0" u="none" strike="noStrike" cap="none">
                <a:solidFill>
                  <a:schemeClr val="accent2"/>
                </a:solidFill>
                <a:latin typeface="Calibri"/>
                <a:ea typeface="Calibri"/>
                <a:cs typeface="Calibri"/>
                <a:sym typeface="Calibri"/>
              </a:rPr>
              <a:t>Rank</a:t>
            </a:r>
            <a:endParaRPr sz="1500" b="0" i="0" u="none" strike="noStrike" cap="none">
              <a:solidFill>
                <a:schemeClr val="dk1"/>
              </a:solidFill>
              <a:latin typeface="Calibri"/>
              <a:ea typeface="Calibri"/>
              <a:cs typeface="Calibri"/>
              <a:sym typeface="Calibri"/>
            </a:endParaRPr>
          </a:p>
        </p:txBody>
      </p:sp>
      <p:sp>
        <p:nvSpPr>
          <p:cNvPr id="570" name="Google Shape;570;p32"/>
          <p:cNvSpPr txBox="1"/>
          <p:nvPr/>
        </p:nvSpPr>
        <p:spPr>
          <a:xfrm>
            <a:off x="640080" y="1664208"/>
            <a:ext cx="2103120" cy="7132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300"/>
              <a:buFont typeface="Calibri"/>
              <a:buNone/>
            </a:pPr>
            <a:r>
              <a:rPr lang="en-US" sz="1300" b="0" i="0" u="none" strike="noStrike" cap="none">
                <a:solidFill>
                  <a:schemeClr val="dk1"/>
                </a:solidFill>
                <a:latin typeface="Calibri"/>
                <a:ea typeface="Calibri"/>
                <a:cs typeface="Calibri"/>
                <a:sym typeface="Calibri"/>
              </a:rPr>
              <a:t>AdaLoRA, rsLoRA, VeRA, VB-LoRA</a:t>
            </a:r>
            <a:endParaRPr sz="1300" b="0" i="0" u="none" strike="noStrike" cap="none">
              <a:solidFill>
                <a:schemeClr val="dk1"/>
              </a:solidFill>
              <a:latin typeface="Calibri"/>
              <a:ea typeface="Calibri"/>
              <a:cs typeface="Calibri"/>
              <a:sym typeface="Calibri"/>
            </a:endParaRPr>
          </a:p>
        </p:txBody>
      </p:sp>
      <p:sp>
        <p:nvSpPr>
          <p:cNvPr id="571" name="Google Shape;571;p32"/>
          <p:cNvSpPr/>
          <p:nvPr/>
        </p:nvSpPr>
        <p:spPr>
          <a:xfrm>
            <a:off x="3063240" y="1188720"/>
            <a:ext cx="2423160" cy="1234440"/>
          </a:xfrm>
          <a:prstGeom prst="roundRect">
            <a:avLst>
              <a:gd name="adj" fmla="val 592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2"/>
          <p:cNvSpPr txBox="1"/>
          <p:nvPr/>
        </p:nvSpPr>
        <p:spPr>
          <a:xfrm>
            <a:off x="3246120" y="1325880"/>
            <a:ext cx="21031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500"/>
              <a:buFont typeface="Calibri"/>
              <a:buNone/>
            </a:pPr>
            <a:r>
              <a:rPr lang="en-US" sz="1500" b="1" i="0" u="none" strike="noStrike" cap="none">
                <a:solidFill>
                  <a:schemeClr val="accent2"/>
                </a:solidFill>
                <a:latin typeface="Calibri"/>
                <a:ea typeface="Calibri"/>
                <a:cs typeface="Calibri"/>
                <a:sym typeface="Calibri"/>
              </a:rPr>
              <a:t>Optimization dynamics</a:t>
            </a:r>
            <a:endParaRPr sz="1500" b="0" i="0" u="none" strike="noStrike" cap="none">
              <a:solidFill>
                <a:schemeClr val="dk1"/>
              </a:solidFill>
              <a:latin typeface="Calibri"/>
              <a:ea typeface="Calibri"/>
              <a:cs typeface="Calibri"/>
              <a:sym typeface="Calibri"/>
            </a:endParaRPr>
          </a:p>
        </p:txBody>
      </p:sp>
      <p:sp>
        <p:nvSpPr>
          <p:cNvPr id="573" name="Google Shape;573;p32"/>
          <p:cNvSpPr txBox="1"/>
          <p:nvPr/>
        </p:nvSpPr>
        <p:spPr>
          <a:xfrm>
            <a:off x="3246120" y="1664208"/>
            <a:ext cx="2103120" cy="7132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300"/>
              <a:buFont typeface="Calibri"/>
              <a:buNone/>
            </a:pPr>
            <a:r>
              <a:rPr lang="en-US" sz="1300" b="0" i="0" u="none" strike="noStrike" cap="none">
                <a:solidFill>
                  <a:schemeClr val="dk1"/>
                </a:solidFill>
                <a:latin typeface="Calibri"/>
                <a:ea typeface="Calibri"/>
                <a:cs typeface="Calibri"/>
                <a:sym typeface="Calibri"/>
              </a:rPr>
              <a:t>LoRA+, DoRA (magnitude + direction)</a:t>
            </a:r>
            <a:endParaRPr sz="1300" b="0" i="0" u="none" strike="noStrike" cap="none">
              <a:solidFill>
                <a:schemeClr val="dk1"/>
              </a:solidFill>
              <a:latin typeface="Calibri"/>
              <a:ea typeface="Calibri"/>
              <a:cs typeface="Calibri"/>
              <a:sym typeface="Calibri"/>
            </a:endParaRPr>
          </a:p>
        </p:txBody>
      </p:sp>
      <p:sp>
        <p:nvSpPr>
          <p:cNvPr id="574" name="Google Shape;574;p32"/>
          <p:cNvSpPr/>
          <p:nvPr/>
        </p:nvSpPr>
        <p:spPr>
          <a:xfrm>
            <a:off x="457200" y="2606040"/>
            <a:ext cx="2423160" cy="1234440"/>
          </a:xfrm>
          <a:prstGeom prst="roundRect">
            <a:avLst>
              <a:gd name="adj" fmla="val 5926"/>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2"/>
          <p:cNvSpPr txBox="1"/>
          <p:nvPr/>
        </p:nvSpPr>
        <p:spPr>
          <a:xfrm>
            <a:off x="640080" y="2743200"/>
            <a:ext cx="21031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1"/>
              </a:buClr>
              <a:buSzPts val="1500"/>
              <a:buFont typeface="Calibri"/>
              <a:buNone/>
            </a:pPr>
            <a:r>
              <a:rPr lang="en-US" sz="1500" b="1" i="0" u="none" strike="noStrike" cap="none">
                <a:solidFill>
                  <a:schemeClr val="lt1"/>
                </a:solidFill>
                <a:latin typeface="Calibri"/>
                <a:ea typeface="Calibri"/>
                <a:cs typeface="Calibri"/>
                <a:sym typeface="Calibri"/>
              </a:rPr>
              <a:t>Initialization</a:t>
            </a:r>
            <a:endParaRPr sz="1500" b="0" i="0" u="none" strike="noStrike" cap="none">
              <a:solidFill>
                <a:schemeClr val="dk1"/>
              </a:solidFill>
              <a:latin typeface="Calibri"/>
              <a:ea typeface="Calibri"/>
              <a:cs typeface="Calibri"/>
              <a:sym typeface="Calibri"/>
            </a:endParaRPr>
          </a:p>
        </p:txBody>
      </p:sp>
      <p:sp>
        <p:nvSpPr>
          <p:cNvPr id="576" name="Google Shape;576;p32"/>
          <p:cNvSpPr txBox="1"/>
          <p:nvPr/>
        </p:nvSpPr>
        <p:spPr>
          <a:xfrm>
            <a:off x="640080" y="3081528"/>
            <a:ext cx="2103120" cy="7132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1"/>
              </a:buClr>
              <a:buSzPts val="1300"/>
              <a:buFont typeface="Calibri"/>
              <a:buNone/>
            </a:pPr>
            <a:r>
              <a:rPr lang="en-US" sz="1300" b="0" i="0" u="none" strike="noStrike" cap="none">
                <a:solidFill>
                  <a:schemeClr val="lt1"/>
                </a:solidFill>
                <a:latin typeface="Calibri"/>
                <a:ea typeface="Calibri"/>
                <a:cs typeface="Calibri"/>
                <a:sym typeface="Calibri"/>
              </a:rPr>
              <a:t>PiSSA, LoftQ (quantization-aware), EVA, LoRA-GA</a:t>
            </a:r>
            <a:endParaRPr sz="1300" b="0" i="0" u="none" strike="noStrike" cap="none">
              <a:solidFill>
                <a:schemeClr val="dk1"/>
              </a:solidFill>
              <a:latin typeface="Calibri"/>
              <a:ea typeface="Calibri"/>
              <a:cs typeface="Calibri"/>
              <a:sym typeface="Calibri"/>
            </a:endParaRPr>
          </a:p>
        </p:txBody>
      </p:sp>
      <p:sp>
        <p:nvSpPr>
          <p:cNvPr id="577" name="Google Shape;577;p32"/>
          <p:cNvSpPr/>
          <p:nvPr/>
        </p:nvSpPr>
        <p:spPr>
          <a:xfrm>
            <a:off x="3063240" y="2606040"/>
            <a:ext cx="2423160" cy="1234440"/>
          </a:xfrm>
          <a:prstGeom prst="roundRect">
            <a:avLst>
              <a:gd name="adj" fmla="val 592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2"/>
          <p:cNvSpPr txBox="1"/>
          <p:nvPr/>
        </p:nvSpPr>
        <p:spPr>
          <a:xfrm>
            <a:off x="3246120" y="2743200"/>
            <a:ext cx="21031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500"/>
              <a:buFont typeface="Calibri"/>
              <a:buNone/>
            </a:pPr>
            <a:r>
              <a:rPr lang="en-US" sz="1500" b="1" i="0" u="none" strike="noStrike" cap="none">
                <a:solidFill>
                  <a:schemeClr val="accent2"/>
                </a:solidFill>
                <a:latin typeface="Calibri"/>
                <a:ea typeface="Calibri"/>
                <a:cs typeface="Calibri"/>
                <a:sym typeface="Calibri"/>
              </a:rPr>
              <a:t>Mixture of experts</a:t>
            </a:r>
            <a:endParaRPr sz="1500" b="0" i="0" u="none" strike="noStrike" cap="none">
              <a:solidFill>
                <a:schemeClr val="dk1"/>
              </a:solidFill>
              <a:latin typeface="Calibri"/>
              <a:ea typeface="Calibri"/>
              <a:cs typeface="Calibri"/>
              <a:sym typeface="Calibri"/>
            </a:endParaRPr>
          </a:p>
        </p:txBody>
      </p:sp>
      <p:sp>
        <p:nvSpPr>
          <p:cNvPr id="579" name="Google Shape;579;p32"/>
          <p:cNvSpPr txBox="1"/>
          <p:nvPr/>
        </p:nvSpPr>
        <p:spPr>
          <a:xfrm>
            <a:off x="3246120" y="3081528"/>
            <a:ext cx="2103120" cy="7132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300"/>
              <a:buFont typeface="Calibri"/>
              <a:buNone/>
            </a:pPr>
            <a:r>
              <a:rPr lang="en-US" sz="1300" b="0" i="0" u="none" strike="noStrike" cap="none">
                <a:solidFill>
                  <a:schemeClr val="dk1"/>
                </a:solidFill>
                <a:latin typeface="Calibri"/>
                <a:ea typeface="Calibri"/>
                <a:cs typeface="Calibri"/>
                <a:sym typeface="Calibri"/>
              </a:rPr>
              <a:t>X-LoRA and LoRA-expert routing</a:t>
            </a:r>
            <a:endParaRPr sz="1300" b="0" i="0" u="none" strike="noStrike" cap="none">
              <a:solidFill>
                <a:schemeClr val="dk1"/>
              </a:solidFill>
              <a:latin typeface="Calibri"/>
              <a:ea typeface="Calibri"/>
              <a:cs typeface="Calibri"/>
              <a:sym typeface="Calibri"/>
            </a:endParaRPr>
          </a:p>
        </p:txBody>
      </p:sp>
      <p:sp>
        <p:nvSpPr>
          <p:cNvPr id="580" name="Google Shape;580;p32"/>
          <p:cNvSpPr txBox="1"/>
          <p:nvPr/>
        </p:nvSpPr>
        <p:spPr>
          <a:xfrm>
            <a:off x="5806440" y="1188720"/>
            <a:ext cx="283464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2026 so far</a:t>
            </a:r>
            <a:endParaRPr sz="1600" b="0" i="0" u="none" strike="noStrike" cap="none">
              <a:solidFill>
                <a:schemeClr val="dk1"/>
              </a:solidFill>
              <a:latin typeface="Calibri"/>
              <a:ea typeface="Calibri"/>
              <a:cs typeface="Calibri"/>
              <a:sym typeface="Calibri"/>
            </a:endParaRPr>
          </a:p>
        </p:txBody>
      </p:sp>
      <p:sp>
        <p:nvSpPr>
          <p:cNvPr id="581" name="Google Shape;581;p32"/>
          <p:cNvSpPr/>
          <p:nvPr/>
        </p:nvSpPr>
        <p:spPr>
          <a:xfrm>
            <a:off x="5806440" y="1691640"/>
            <a:ext cx="109728" cy="109728"/>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2"/>
          <p:cNvSpPr txBox="1"/>
          <p:nvPr/>
        </p:nvSpPr>
        <p:spPr>
          <a:xfrm>
            <a:off x="5806440" y="1691640"/>
            <a:ext cx="109728" cy="1097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583" name="Google Shape;583;p32"/>
          <p:cNvSpPr txBox="1"/>
          <p:nvPr/>
        </p:nvSpPr>
        <p:spPr>
          <a:xfrm>
            <a:off x="6035040" y="1645920"/>
            <a:ext cx="2651760" cy="65836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200"/>
              <a:buFont typeface="Calibri"/>
              <a:buNone/>
            </a:pPr>
            <a:r>
              <a:rPr lang="en-US" sz="1200" b="1" i="0" u="none" strike="noStrike" cap="none">
                <a:solidFill>
                  <a:schemeClr val="accent2"/>
                </a:solidFill>
                <a:latin typeface="Calibri"/>
                <a:ea typeface="Calibri"/>
                <a:cs typeface="Calibri"/>
                <a:sym typeface="Calibri"/>
              </a:rPr>
              <a:t>Jan  </a:t>
            </a:r>
            <a:r>
              <a:rPr lang="en-US" sz="1200" b="0" i="0" u="none" strike="noStrike" cap="none">
                <a:solidFill>
                  <a:schemeClr val="dk1"/>
                </a:solidFill>
                <a:latin typeface="Calibri"/>
                <a:ea typeface="Calibri"/>
                <a:cs typeface="Calibri"/>
                <a:sym typeface="Calibri"/>
              </a:rPr>
              <a:t>Unified study of LoRA variants: four-axis taxonomy, LoRAFactory codebase</a:t>
            </a:r>
            <a:endParaRPr sz="1200" b="0" i="0" u="none" strike="noStrike" cap="none">
              <a:solidFill>
                <a:schemeClr val="dk1"/>
              </a:solidFill>
              <a:latin typeface="Calibri"/>
              <a:ea typeface="Calibri"/>
              <a:cs typeface="Calibri"/>
              <a:sym typeface="Calibri"/>
            </a:endParaRPr>
          </a:p>
        </p:txBody>
      </p:sp>
      <p:sp>
        <p:nvSpPr>
          <p:cNvPr id="584" name="Google Shape;584;p32"/>
          <p:cNvSpPr/>
          <p:nvPr/>
        </p:nvSpPr>
        <p:spPr>
          <a:xfrm>
            <a:off x="5806440" y="2377440"/>
            <a:ext cx="109728" cy="109728"/>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2"/>
          <p:cNvSpPr txBox="1"/>
          <p:nvPr/>
        </p:nvSpPr>
        <p:spPr>
          <a:xfrm>
            <a:off x="5806440" y="2377440"/>
            <a:ext cx="109728" cy="1097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586" name="Google Shape;586;p32"/>
          <p:cNvSpPr txBox="1"/>
          <p:nvPr/>
        </p:nvSpPr>
        <p:spPr>
          <a:xfrm>
            <a:off x="6035040" y="2331720"/>
            <a:ext cx="2651760" cy="65836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200"/>
              <a:buFont typeface="Calibri"/>
              <a:buNone/>
            </a:pPr>
            <a:r>
              <a:rPr lang="en-US" sz="1200" b="1" i="0" u="none" strike="noStrike" cap="none">
                <a:solidFill>
                  <a:schemeClr val="accent2"/>
                </a:solidFill>
                <a:latin typeface="Calibri"/>
                <a:ea typeface="Calibri"/>
                <a:cs typeface="Calibri"/>
                <a:sym typeface="Calibri"/>
              </a:rPr>
              <a:t>Apr  </a:t>
            </a:r>
            <a:r>
              <a:rPr lang="en-US" sz="1200" b="0" i="0" u="none" strike="noStrike" cap="none">
                <a:solidFill>
                  <a:schemeClr val="dk1"/>
                </a:solidFill>
                <a:latin typeface="Calibri"/>
                <a:ea typeface="Calibri"/>
                <a:cs typeface="Calibri"/>
                <a:sym typeface="Calibri"/>
              </a:rPr>
              <a:t>peft v0.19: nine new methods incl. Lily, AdaMSS, LoRA-GA; non-LoRA → LoRA conversion</a:t>
            </a:r>
            <a:endParaRPr sz="1200" b="0" i="0" u="none" strike="noStrike" cap="none">
              <a:solidFill>
                <a:schemeClr val="dk1"/>
              </a:solidFill>
              <a:latin typeface="Calibri"/>
              <a:ea typeface="Calibri"/>
              <a:cs typeface="Calibri"/>
              <a:sym typeface="Calibri"/>
            </a:endParaRPr>
          </a:p>
        </p:txBody>
      </p:sp>
      <p:sp>
        <p:nvSpPr>
          <p:cNvPr id="587" name="Google Shape;587;p32"/>
          <p:cNvSpPr/>
          <p:nvPr/>
        </p:nvSpPr>
        <p:spPr>
          <a:xfrm>
            <a:off x="5806440" y="3063240"/>
            <a:ext cx="109728" cy="109728"/>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2"/>
          <p:cNvSpPr txBox="1"/>
          <p:nvPr/>
        </p:nvSpPr>
        <p:spPr>
          <a:xfrm>
            <a:off x="5806440" y="3063240"/>
            <a:ext cx="109728" cy="1097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589" name="Google Shape;589;p32"/>
          <p:cNvSpPr txBox="1"/>
          <p:nvPr/>
        </p:nvSpPr>
        <p:spPr>
          <a:xfrm>
            <a:off x="6035040" y="3017520"/>
            <a:ext cx="2651760" cy="65836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200"/>
              <a:buFont typeface="Calibri"/>
              <a:buNone/>
            </a:pPr>
            <a:r>
              <a:rPr lang="en-US" sz="1200" b="1" i="0" u="none" strike="noStrike" cap="none">
                <a:solidFill>
                  <a:schemeClr val="accent2"/>
                </a:solidFill>
                <a:latin typeface="Calibri"/>
                <a:ea typeface="Calibri"/>
                <a:cs typeface="Calibri"/>
                <a:sym typeface="Calibri"/>
              </a:rPr>
              <a:t>Jun  </a:t>
            </a:r>
            <a:r>
              <a:rPr lang="en-US" sz="1200" b="0" i="0" u="none" strike="noStrike" cap="none">
                <a:solidFill>
                  <a:schemeClr val="dk1"/>
                </a:solidFill>
                <a:latin typeface="Calibri"/>
                <a:ea typeface="Calibri"/>
                <a:cs typeface="Calibri"/>
                <a:sym typeface="Calibri"/>
              </a:rPr>
              <a:t>Hugging Face “Beyond LoRA”: OFT, BEFT, Lily beat LoRA on some tasks</a:t>
            </a:r>
            <a:endParaRPr sz="1200" b="0" i="0" u="none" strike="noStrike" cap="none">
              <a:solidFill>
                <a:schemeClr val="dk1"/>
              </a:solidFill>
              <a:latin typeface="Calibri"/>
              <a:ea typeface="Calibri"/>
              <a:cs typeface="Calibri"/>
              <a:sym typeface="Calibri"/>
            </a:endParaRPr>
          </a:p>
        </p:txBody>
      </p:sp>
      <p:sp>
        <p:nvSpPr>
          <p:cNvPr id="590" name="Google Shape;590;p32"/>
          <p:cNvSpPr/>
          <p:nvPr/>
        </p:nvSpPr>
        <p:spPr>
          <a:xfrm>
            <a:off x="5806440" y="3749040"/>
            <a:ext cx="109728" cy="109728"/>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2"/>
          <p:cNvSpPr txBox="1"/>
          <p:nvPr/>
        </p:nvSpPr>
        <p:spPr>
          <a:xfrm>
            <a:off x="5806440" y="3749040"/>
            <a:ext cx="109728" cy="1097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592" name="Google Shape;592;p32"/>
          <p:cNvSpPr txBox="1"/>
          <p:nvPr/>
        </p:nvSpPr>
        <p:spPr>
          <a:xfrm>
            <a:off x="6035040" y="3703320"/>
            <a:ext cx="2651760" cy="65836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200"/>
              <a:buFont typeface="Calibri"/>
              <a:buNone/>
            </a:pPr>
            <a:r>
              <a:rPr lang="en-US" sz="1200" b="1" i="0" u="none" strike="noStrike" cap="none">
                <a:solidFill>
                  <a:schemeClr val="accent2"/>
                </a:solidFill>
                <a:latin typeface="Calibri"/>
                <a:ea typeface="Calibri"/>
                <a:cs typeface="Calibri"/>
                <a:sym typeface="Calibri"/>
              </a:rPr>
              <a:t>Jul  </a:t>
            </a:r>
            <a:r>
              <a:rPr lang="en-US" sz="1200" b="0" i="0" u="none" strike="noStrike" cap="none">
                <a:solidFill>
                  <a:schemeClr val="dk1"/>
                </a:solidFill>
                <a:latin typeface="Calibri"/>
                <a:ea typeface="Calibri"/>
                <a:cs typeface="Calibri"/>
                <a:sym typeface="Calibri"/>
              </a:rPr>
              <a:t>peft v0.20: nine more methods incl. HiRA, GLoRA</a:t>
            </a:r>
            <a:endParaRPr sz="1200" b="0" i="0" u="none" strike="noStrike" cap="none">
              <a:solidFill>
                <a:schemeClr val="dk1"/>
              </a:solidFill>
              <a:latin typeface="Calibri"/>
              <a:ea typeface="Calibri"/>
              <a:cs typeface="Calibri"/>
              <a:sym typeface="Calibri"/>
            </a:endParaRPr>
          </a:p>
        </p:txBody>
      </p:sp>
      <p:sp>
        <p:nvSpPr>
          <p:cNvPr id="593" name="Google Shape;593;p32"/>
          <p:cNvSpPr txBox="1"/>
          <p:nvPr/>
        </p:nvSpPr>
        <p:spPr>
          <a:xfrm>
            <a:off x="457200" y="4498848"/>
            <a:ext cx="768096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900"/>
              <a:buFont typeface="Calibri"/>
              <a:buNone/>
            </a:pPr>
            <a:r>
              <a:rPr lang="en-US" sz="900" b="0" i="1" u="none" strike="noStrike" cap="none">
                <a:solidFill>
                  <a:schemeClr val="accent6"/>
                </a:solidFill>
                <a:latin typeface="Calibri"/>
                <a:ea typeface="Calibri"/>
                <a:cs typeface="Calibri"/>
                <a:sym typeface="Calibri"/>
              </a:rPr>
              <a:t>He et al. 2026, arXiv:2601.22708; Hugging Face peft release notes v0.19.0 and v0.20.0; Hugging Face “Beyond LoRA” (June 2026)</a:t>
            </a:r>
            <a:endParaRPr sz="900" b="0" i="0" u="none" strike="noStrike" cap="none">
              <a:solidFill>
                <a:schemeClr val="dk1"/>
              </a:solidFill>
              <a:latin typeface="Calibri"/>
              <a:ea typeface="Calibri"/>
              <a:cs typeface="Calibri"/>
              <a:sym typeface="Calibri"/>
            </a:endParaRPr>
          </a:p>
        </p:txBody>
      </p:sp>
      <p:sp>
        <p:nvSpPr>
          <p:cNvPr id="594" name="Google Shape;594;p32"/>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26</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33"/>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Worth exploring for SAS documentation</a:t>
            </a:r>
            <a:endParaRPr sz="3000"/>
          </a:p>
        </p:txBody>
      </p:sp>
      <p:sp>
        <p:nvSpPr>
          <p:cNvPr id="601" name="Google Shape;601;p33"/>
          <p:cNvSpPr/>
          <p:nvPr/>
        </p:nvSpPr>
        <p:spPr>
          <a:xfrm>
            <a:off x="457200" y="1188720"/>
            <a:ext cx="4480560" cy="2514600"/>
          </a:xfrm>
          <a:prstGeom prst="roundRect">
            <a:avLst>
              <a:gd name="adj" fmla="val 2909"/>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3"/>
          <p:cNvSpPr txBox="1"/>
          <p:nvPr/>
        </p:nvSpPr>
        <p:spPr>
          <a:xfrm>
            <a:off x="640080" y="1325880"/>
            <a:ext cx="4114800" cy="22402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1"/>
              </a:buClr>
              <a:buSzPts val="1200"/>
              <a:buFont typeface="Courier New"/>
              <a:buNone/>
            </a:pPr>
            <a:r>
              <a:rPr lang="en-US" sz="1200" b="0" i="0" u="none" strike="noStrike" cap="none">
                <a:solidFill>
                  <a:schemeClr val="accent1"/>
                </a:solidFill>
                <a:latin typeface="Courier New"/>
                <a:ea typeface="Courier New"/>
                <a:cs typeface="Courier New"/>
                <a:sym typeface="Courier New"/>
              </a:rPr>
              <a:t># 0. Sweep the learning rate first</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accent1"/>
              </a:buClr>
              <a:buSzPts val="1200"/>
              <a:buFont typeface="Courier New"/>
              <a:buNone/>
            </a:pPr>
            <a:r>
              <a:rPr lang="en-US" sz="1200" b="0" i="0" u="none" strike="noStrike" cap="none">
                <a:solidFill>
                  <a:schemeClr val="accent1"/>
                </a:solidFill>
                <a:latin typeface="Courier New"/>
                <a:ea typeface="Courier New"/>
                <a:cs typeface="Courier New"/>
                <a:sym typeface="Courier New"/>
              </a:rPr>
              <a:t># 1. DoRA: magnitude + direction</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LoraConfig(r=32, lora_alpha=64,</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use_dora=True, ...)</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accent1"/>
              </a:buClr>
              <a:buSzPts val="1200"/>
              <a:buFont typeface="Courier New"/>
              <a:buNone/>
            </a:pPr>
            <a:r>
              <a:rPr lang="en-US" sz="1200" b="0" i="0" u="none" strike="noStrike" cap="none">
                <a:solidFill>
                  <a:schemeClr val="accent1"/>
                </a:solidFill>
                <a:latin typeface="Courier New"/>
                <a:ea typeface="Courier New"/>
                <a:cs typeface="Courier New"/>
                <a:sym typeface="Courier New"/>
              </a:rPr>
              <a:t># 2. rsLoRA: stable at higher rank</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LoraConfig(r=64, use_rslora=True, ...)</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accent1"/>
              </a:buClr>
              <a:buSzPts val="1200"/>
              <a:buFont typeface="Courier New"/>
              <a:buNone/>
            </a:pPr>
            <a:r>
              <a:rPr lang="en-US" sz="1200" b="0" i="0" u="none" strike="noStrike" cap="none">
                <a:solidFill>
                  <a:schemeClr val="accent1"/>
                </a:solidFill>
                <a:latin typeface="Courier New"/>
                <a:ea typeface="Courier New"/>
                <a:cs typeface="Courier New"/>
                <a:sym typeface="Courier New"/>
              </a:rPr>
              <a:t># 3. Smarter starting point</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LoraConfig(..., init_lora_weights="pissa")</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accent1"/>
              </a:buClr>
              <a:buSzPts val="1200"/>
              <a:buFont typeface="Courier New"/>
              <a:buNone/>
            </a:pPr>
            <a:r>
              <a:rPr lang="en-US" sz="1200" b="0" i="0" u="none" strike="noStrike" cap="none">
                <a:solidFill>
                  <a:schemeClr val="accent1"/>
                </a:solidFill>
                <a:latin typeface="Courier New"/>
                <a:ea typeface="Courier New"/>
                <a:cs typeface="Courier New"/>
                <a:sym typeface="Courier New"/>
              </a:rPr>
              <a:t>#    also "loftq", "eva", "olora"</a:t>
            </a:r>
            <a:endParaRPr sz="1200" b="0" i="0" u="none" strike="noStrike" cap="none">
              <a:solidFill>
                <a:schemeClr val="dk1"/>
              </a:solidFill>
              <a:latin typeface="Calibri"/>
              <a:ea typeface="Calibri"/>
              <a:cs typeface="Calibri"/>
              <a:sym typeface="Calibri"/>
            </a:endParaRPr>
          </a:p>
        </p:txBody>
      </p:sp>
      <p:sp>
        <p:nvSpPr>
          <p:cNvPr id="603" name="Google Shape;603;p33"/>
          <p:cNvSpPr/>
          <p:nvPr/>
        </p:nvSpPr>
        <p:spPr>
          <a:xfrm>
            <a:off x="5212080" y="1188720"/>
            <a:ext cx="411480" cy="41148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04" name="Google Shape;604;p33" descr="icon"/>
          <p:cNvPicPr preferRelativeResize="0"/>
          <p:nvPr/>
        </p:nvPicPr>
        <p:blipFill rotWithShape="1">
          <a:blip r:embed="rId3">
            <a:alphaModFix/>
          </a:blip>
          <a:srcRect/>
          <a:stretch/>
        </p:blipFill>
        <p:spPr>
          <a:xfrm>
            <a:off x="5302606" y="1279246"/>
            <a:ext cx="230429" cy="230429"/>
          </a:xfrm>
          <a:prstGeom prst="rect">
            <a:avLst/>
          </a:prstGeom>
          <a:noFill/>
          <a:ln>
            <a:noFill/>
          </a:ln>
        </p:spPr>
      </p:pic>
      <p:sp>
        <p:nvSpPr>
          <p:cNvPr id="605" name="Google Shape;605;p33"/>
          <p:cNvSpPr txBox="1"/>
          <p:nvPr/>
        </p:nvSpPr>
        <p:spPr>
          <a:xfrm>
            <a:off x="5760720" y="1152144"/>
            <a:ext cx="2926080" cy="7498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Learning rate before variants</a:t>
            </a:r>
            <a:endParaRPr sz="1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2"/>
              </a:buClr>
              <a:buSzPts val="1200"/>
              <a:buFont typeface="Calibri"/>
              <a:buNone/>
            </a:pPr>
            <a:r>
              <a:rPr lang="en-US" sz="1200" b="0" i="0" u="none" strike="noStrike" cap="none">
                <a:solidFill>
                  <a:schemeClr val="dk2"/>
                </a:solidFill>
                <a:latin typeface="Calibri"/>
                <a:ea typeface="Calibri"/>
                <a:cs typeface="Calibri"/>
                <a:sym typeface="Calibri"/>
              </a:rPr>
              <a:t>Tuned vanilla LoRA matches or beats most variants (He et al. 2026)</a:t>
            </a:r>
            <a:endParaRPr sz="1400" b="0" i="0" u="none" strike="noStrike" cap="none">
              <a:solidFill>
                <a:schemeClr val="dk1"/>
              </a:solidFill>
              <a:latin typeface="Calibri"/>
              <a:ea typeface="Calibri"/>
              <a:cs typeface="Calibri"/>
              <a:sym typeface="Calibri"/>
            </a:endParaRPr>
          </a:p>
        </p:txBody>
      </p:sp>
      <p:sp>
        <p:nvSpPr>
          <p:cNvPr id="606" name="Google Shape;606;p33"/>
          <p:cNvSpPr/>
          <p:nvPr/>
        </p:nvSpPr>
        <p:spPr>
          <a:xfrm>
            <a:off x="5212080" y="1965960"/>
            <a:ext cx="411480" cy="41148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07" name="Google Shape;607;p33" descr="icon"/>
          <p:cNvPicPr preferRelativeResize="0"/>
          <p:nvPr/>
        </p:nvPicPr>
        <p:blipFill rotWithShape="1">
          <a:blip r:embed="rId4">
            <a:alphaModFix/>
          </a:blip>
          <a:srcRect/>
          <a:stretch/>
        </p:blipFill>
        <p:spPr>
          <a:xfrm>
            <a:off x="5302606" y="2056486"/>
            <a:ext cx="230429" cy="230429"/>
          </a:xfrm>
          <a:prstGeom prst="rect">
            <a:avLst/>
          </a:prstGeom>
          <a:noFill/>
          <a:ln>
            <a:noFill/>
          </a:ln>
        </p:spPr>
      </p:pic>
      <p:sp>
        <p:nvSpPr>
          <p:cNvPr id="608" name="Google Shape;608;p33"/>
          <p:cNvSpPr txBox="1"/>
          <p:nvPr/>
        </p:nvSpPr>
        <p:spPr>
          <a:xfrm>
            <a:off x="5760720" y="1929384"/>
            <a:ext cx="2926080" cy="7498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LoftQ fits our setting</a:t>
            </a:r>
            <a:endParaRPr sz="1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2"/>
              </a:buClr>
              <a:buSzPts val="1200"/>
              <a:buFont typeface="Calibri"/>
              <a:buNone/>
            </a:pPr>
            <a:r>
              <a:rPr lang="en-US" sz="1200" b="0" i="0" u="none" strike="noStrike" cap="none">
                <a:solidFill>
                  <a:schemeClr val="dk2"/>
                </a:solidFill>
                <a:latin typeface="Calibri"/>
                <a:ea typeface="Calibri"/>
                <a:cs typeface="Calibri"/>
                <a:sym typeface="Calibri"/>
              </a:rPr>
              <a:t>Initialization designed for quantized base models</a:t>
            </a:r>
            <a:endParaRPr sz="1400" b="0" i="0" u="none" strike="noStrike" cap="none">
              <a:solidFill>
                <a:schemeClr val="dk1"/>
              </a:solidFill>
              <a:latin typeface="Calibri"/>
              <a:ea typeface="Calibri"/>
              <a:cs typeface="Calibri"/>
              <a:sym typeface="Calibri"/>
            </a:endParaRPr>
          </a:p>
        </p:txBody>
      </p:sp>
      <p:sp>
        <p:nvSpPr>
          <p:cNvPr id="609" name="Google Shape;609;p33"/>
          <p:cNvSpPr/>
          <p:nvPr/>
        </p:nvSpPr>
        <p:spPr>
          <a:xfrm>
            <a:off x="5212080" y="2743200"/>
            <a:ext cx="411480" cy="41148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10" name="Google Shape;610;p33" descr="icon"/>
          <p:cNvPicPr preferRelativeResize="0"/>
          <p:nvPr/>
        </p:nvPicPr>
        <p:blipFill rotWithShape="1">
          <a:blip r:embed="rId5">
            <a:alphaModFix/>
          </a:blip>
          <a:srcRect/>
          <a:stretch/>
        </p:blipFill>
        <p:spPr>
          <a:xfrm>
            <a:off x="5302606" y="2833726"/>
            <a:ext cx="230429" cy="230429"/>
          </a:xfrm>
          <a:prstGeom prst="rect">
            <a:avLst/>
          </a:prstGeom>
          <a:noFill/>
          <a:ln>
            <a:noFill/>
          </a:ln>
        </p:spPr>
      </p:pic>
      <p:sp>
        <p:nvSpPr>
          <p:cNvPr id="611" name="Google Shape;611;p33"/>
          <p:cNvSpPr txBox="1"/>
          <p:nvPr/>
        </p:nvSpPr>
        <p:spPr>
          <a:xfrm>
            <a:off x="5760720" y="2706624"/>
            <a:ext cx="2926080" cy="7498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Serve anywhere</a:t>
            </a:r>
            <a:endParaRPr sz="1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2"/>
              </a:buClr>
              <a:buSzPts val="1200"/>
              <a:buFont typeface="Calibri"/>
              <a:buNone/>
            </a:pPr>
            <a:r>
              <a:rPr lang="en-US" sz="1200" b="0" i="0" u="none" strike="noStrike" cap="none">
                <a:solidFill>
                  <a:schemeClr val="dk2"/>
                </a:solidFill>
                <a:latin typeface="Calibri"/>
                <a:ea typeface="Calibri"/>
                <a:cs typeface="Calibri"/>
                <a:sym typeface="Calibri"/>
              </a:rPr>
              <a:t>peft converts many adapters to LoRA format for vLLM</a:t>
            </a:r>
            <a:endParaRPr sz="1400" b="0" i="0" u="none" strike="noStrike" cap="none">
              <a:solidFill>
                <a:schemeClr val="dk1"/>
              </a:solidFill>
              <a:latin typeface="Calibri"/>
              <a:ea typeface="Calibri"/>
              <a:cs typeface="Calibri"/>
              <a:sym typeface="Calibri"/>
            </a:endParaRPr>
          </a:p>
        </p:txBody>
      </p:sp>
      <p:sp>
        <p:nvSpPr>
          <p:cNvPr id="612" name="Google Shape;612;p33"/>
          <p:cNvSpPr/>
          <p:nvPr/>
        </p:nvSpPr>
        <p:spPr>
          <a:xfrm>
            <a:off x="5212080" y="3520440"/>
            <a:ext cx="411480" cy="41148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13" name="Google Shape;613;p33" descr="icon"/>
          <p:cNvPicPr preferRelativeResize="0"/>
          <p:nvPr/>
        </p:nvPicPr>
        <p:blipFill rotWithShape="1">
          <a:blip r:embed="rId6">
            <a:alphaModFix/>
          </a:blip>
          <a:srcRect/>
          <a:stretch/>
        </p:blipFill>
        <p:spPr>
          <a:xfrm>
            <a:off x="5302606" y="3610966"/>
            <a:ext cx="230429" cy="230429"/>
          </a:xfrm>
          <a:prstGeom prst="rect">
            <a:avLst/>
          </a:prstGeom>
          <a:noFill/>
          <a:ln>
            <a:noFill/>
          </a:ln>
        </p:spPr>
      </p:pic>
      <p:sp>
        <p:nvSpPr>
          <p:cNvPr id="614" name="Google Shape;614;p33"/>
          <p:cNvSpPr txBox="1"/>
          <p:nvPr/>
        </p:nvSpPr>
        <p:spPr>
          <a:xfrm>
            <a:off x="5760720" y="3483864"/>
            <a:ext cx="2926080" cy="7498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Rerun the harness</a:t>
            </a:r>
            <a:endParaRPr sz="1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2"/>
              </a:buClr>
              <a:buSzPts val="1200"/>
              <a:buFont typeface="Calibri"/>
              <a:buNone/>
            </a:pPr>
            <a:r>
              <a:rPr lang="en-US" sz="1200" b="0" i="0" u="none" strike="noStrike" cap="none">
                <a:solidFill>
                  <a:schemeClr val="dk2"/>
                </a:solidFill>
                <a:latin typeface="Calibri"/>
                <a:ea typeface="Calibri"/>
                <a:cs typeface="Calibri"/>
                <a:sym typeface="Calibri"/>
              </a:rPr>
              <a:t>Same 20 held-out programs: each variant is an afternoon</a:t>
            </a:r>
            <a:endParaRPr sz="1400" b="0" i="0" u="none" strike="noStrike" cap="none">
              <a:solidFill>
                <a:schemeClr val="dk1"/>
              </a:solidFill>
              <a:latin typeface="Calibri"/>
              <a:ea typeface="Calibri"/>
              <a:cs typeface="Calibri"/>
              <a:sym typeface="Calibri"/>
            </a:endParaRPr>
          </a:p>
        </p:txBody>
      </p:sp>
      <p:sp>
        <p:nvSpPr>
          <p:cNvPr id="615" name="Google Shape;615;p33"/>
          <p:cNvSpPr txBox="1"/>
          <p:nvPr/>
        </p:nvSpPr>
        <p:spPr>
          <a:xfrm>
            <a:off x="457200" y="4498848"/>
            <a:ext cx="768096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900"/>
              <a:buFont typeface="Calibri"/>
              <a:buNone/>
            </a:pPr>
            <a:r>
              <a:rPr lang="en-US" sz="900" b="0" i="1" u="none" strike="noStrike" cap="none">
                <a:solidFill>
                  <a:schemeClr val="accent6"/>
                </a:solidFill>
                <a:latin typeface="Calibri"/>
                <a:ea typeface="Calibri"/>
                <a:cs typeface="Calibri"/>
                <a:sym typeface="Calibri"/>
              </a:rPr>
              <a:t>Parameter names from the Hugging Face peft LoraConfig API; check your installed version.</a:t>
            </a:r>
            <a:endParaRPr sz="900" b="0" i="0" u="none" strike="noStrike" cap="none">
              <a:solidFill>
                <a:schemeClr val="dk1"/>
              </a:solidFill>
              <a:latin typeface="Calibri"/>
              <a:ea typeface="Calibri"/>
              <a:cs typeface="Calibri"/>
              <a:sym typeface="Calibri"/>
            </a:endParaRPr>
          </a:p>
        </p:txBody>
      </p:sp>
      <p:sp>
        <p:nvSpPr>
          <p:cNvPr id="616" name="Google Shape;616;p33"/>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27</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sp>
        <p:nvSpPr>
          <p:cNvPr id="622" name="Google Shape;622;p34"/>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lt1"/>
              </a:buClr>
              <a:buSzPts val="3000"/>
              <a:buFont typeface="Cambria"/>
              <a:buNone/>
            </a:pPr>
            <a:r>
              <a:rPr lang="en-US" sz="3000" b="1">
                <a:solidFill>
                  <a:schemeClr val="lt1"/>
                </a:solidFill>
                <a:latin typeface="Cambria"/>
                <a:ea typeface="Cambria"/>
                <a:cs typeface="Cambria"/>
                <a:sym typeface="Cambria"/>
              </a:rPr>
              <a:t>Takeaways</a:t>
            </a:r>
            <a:endParaRPr sz="3000"/>
          </a:p>
        </p:txBody>
      </p:sp>
      <p:sp>
        <p:nvSpPr>
          <p:cNvPr id="623" name="Google Shape;623;p34"/>
          <p:cNvSpPr/>
          <p:nvPr/>
        </p:nvSpPr>
        <p:spPr>
          <a:xfrm>
            <a:off x="548640" y="1143000"/>
            <a:ext cx="457200" cy="45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4"/>
          <p:cNvSpPr txBox="1"/>
          <p:nvPr/>
        </p:nvSpPr>
        <p:spPr>
          <a:xfrm>
            <a:off x="548640" y="114300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625" name="Google Shape;625;p34"/>
          <p:cNvSpPr txBox="1"/>
          <p:nvPr/>
        </p:nvSpPr>
        <p:spPr>
          <a:xfrm>
            <a:off x="1234440" y="1143000"/>
            <a:ext cx="74066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lt1"/>
              </a:buClr>
              <a:buSzPts val="1700"/>
              <a:buFont typeface="Calibri"/>
              <a:buNone/>
            </a:pPr>
            <a:r>
              <a:rPr lang="en-US" sz="1700" b="0" i="0" u="none" strike="noStrike" cap="none">
                <a:solidFill>
                  <a:schemeClr val="lt1"/>
                </a:solidFill>
                <a:latin typeface="Calibri"/>
                <a:ea typeface="Calibri"/>
                <a:cs typeface="Calibri"/>
                <a:sym typeface="Calibri"/>
              </a:rPr>
              <a:t>Require a source for every field; make UNKNOWN a correct answer</a:t>
            </a:r>
            <a:endParaRPr sz="1700" b="0" i="0" u="none" strike="noStrike" cap="none">
              <a:solidFill>
                <a:schemeClr val="dk1"/>
              </a:solidFill>
              <a:latin typeface="Calibri"/>
              <a:ea typeface="Calibri"/>
              <a:cs typeface="Calibri"/>
              <a:sym typeface="Calibri"/>
            </a:endParaRPr>
          </a:p>
        </p:txBody>
      </p:sp>
      <p:sp>
        <p:nvSpPr>
          <p:cNvPr id="626" name="Google Shape;626;p34"/>
          <p:cNvSpPr/>
          <p:nvPr/>
        </p:nvSpPr>
        <p:spPr>
          <a:xfrm>
            <a:off x="548640" y="1828800"/>
            <a:ext cx="457200" cy="45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4"/>
          <p:cNvSpPr txBox="1"/>
          <p:nvPr/>
        </p:nvSpPr>
        <p:spPr>
          <a:xfrm>
            <a:off x="548640" y="182880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628" name="Google Shape;628;p34"/>
          <p:cNvSpPr txBox="1"/>
          <p:nvPr/>
        </p:nvSpPr>
        <p:spPr>
          <a:xfrm>
            <a:off x="1234440" y="1828800"/>
            <a:ext cx="74066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lt1"/>
              </a:buClr>
              <a:buSzPts val="1700"/>
              <a:buFont typeface="Calibri"/>
              <a:buNone/>
            </a:pPr>
            <a:r>
              <a:rPr lang="en-US" sz="1700" b="0" i="0" u="none" strike="noStrike" cap="none">
                <a:solidFill>
                  <a:schemeClr val="lt1"/>
                </a:solidFill>
                <a:latin typeface="Calibri"/>
                <a:ea typeface="Calibri"/>
                <a:cs typeface="Calibri"/>
                <a:sym typeface="Calibri"/>
              </a:rPr>
              <a:t>Keep SAS as the system of record: model writes JSON, SAS stores it</a:t>
            </a:r>
            <a:endParaRPr sz="1700" b="0" i="0" u="none" strike="noStrike" cap="none">
              <a:solidFill>
                <a:schemeClr val="dk1"/>
              </a:solidFill>
              <a:latin typeface="Calibri"/>
              <a:ea typeface="Calibri"/>
              <a:cs typeface="Calibri"/>
              <a:sym typeface="Calibri"/>
            </a:endParaRPr>
          </a:p>
        </p:txBody>
      </p:sp>
      <p:sp>
        <p:nvSpPr>
          <p:cNvPr id="629" name="Google Shape;629;p34"/>
          <p:cNvSpPr/>
          <p:nvPr/>
        </p:nvSpPr>
        <p:spPr>
          <a:xfrm>
            <a:off x="548640" y="2514600"/>
            <a:ext cx="457200" cy="45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4"/>
          <p:cNvSpPr txBox="1"/>
          <p:nvPr/>
        </p:nvSpPr>
        <p:spPr>
          <a:xfrm>
            <a:off x="548640" y="251460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631" name="Google Shape;631;p34"/>
          <p:cNvSpPr txBox="1"/>
          <p:nvPr/>
        </p:nvSpPr>
        <p:spPr>
          <a:xfrm>
            <a:off x="1234440" y="2514600"/>
            <a:ext cx="74066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lt1"/>
              </a:buClr>
              <a:buSzPts val="1700"/>
              <a:buFont typeface="Calibri"/>
              <a:buNone/>
            </a:pPr>
            <a:r>
              <a:rPr lang="en-US" sz="1700" b="0" i="0" u="none" strike="noStrike" cap="none">
                <a:solidFill>
                  <a:schemeClr val="lt1"/>
                </a:solidFill>
                <a:latin typeface="Calibri"/>
                <a:ea typeface="Calibri"/>
                <a:cs typeface="Calibri"/>
                <a:sym typeface="Calibri"/>
              </a:rPr>
              <a:t>QLoRA on a small open model is a practical, air-gapped option</a:t>
            </a:r>
            <a:endParaRPr sz="1700" b="0" i="0" u="none" strike="noStrike" cap="none">
              <a:solidFill>
                <a:schemeClr val="dk1"/>
              </a:solidFill>
              <a:latin typeface="Calibri"/>
              <a:ea typeface="Calibri"/>
              <a:cs typeface="Calibri"/>
              <a:sym typeface="Calibri"/>
            </a:endParaRPr>
          </a:p>
        </p:txBody>
      </p:sp>
      <p:sp>
        <p:nvSpPr>
          <p:cNvPr id="632" name="Google Shape;632;p34"/>
          <p:cNvSpPr/>
          <p:nvPr/>
        </p:nvSpPr>
        <p:spPr>
          <a:xfrm>
            <a:off x="548640" y="3200400"/>
            <a:ext cx="457200" cy="45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4"/>
          <p:cNvSpPr txBox="1"/>
          <p:nvPr/>
        </p:nvSpPr>
        <p:spPr>
          <a:xfrm>
            <a:off x="548640" y="320040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634" name="Google Shape;634;p34"/>
          <p:cNvSpPr txBox="1"/>
          <p:nvPr/>
        </p:nvSpPr>
        <p:spPr>
          <a:xfrm>
            <a:off x="1234440" y="3200400"/>
            <a:ext cx="74066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lt1"/>
              </a:buClr>
              <a:buSzPts val="1700"/>
              <a:buFont typeface="Calibri"/>
              <a:buNone/>
            </a:pPr>
            <a:r>
              <a:rPr lang="en-US" sz="1700" b="0" i="0" u="none" strike="noStrike" cap="none">
                <a:solidFill>
                  <a:schemeClr val="lt1"/>
                </a:solidFill>
                <a:latin typeface="Calibri"/>
                <a:ea typeface="Calibri"/>
                <a:cs typeface="Calibri"/>
                <a:sym typeface="Calibri"/>
              </a:rPr>
              <a:t>Grounding a frontier model in DICTIONARY tables gave the strongest scores</a:t>
            </a:r>
            <a:endParaRPr sz="1700" b="0" i="0" u="none" strike="noStrike" cap="none">
              <a:solidFill>
                <a:schemeClr val="dk1"/>
              </a:solidFill>
              <a:latin typeface="Calibri"/>
              <a:ea typeface="Calibri"/>
              <a:cs typeface="Calibri"/>
              <a:sym typeface="Calibri"/>
            </a:endParaRPr>
          </a:p>
        </p:txBody>
      </p:sp>
      <p:sp>
        <p:nvSpPr>
          <p:cNvPr id="635" name="Google Shape;635;p34"/>
          <p:cNvSpPr/>
          <p:nvPr/>
        </p:nvSpPr>
        <p:spPr>
          <a:xfrm>
            <a:off x="548640" y="3886200"/>
            <a:ext cx="457200" cy="45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4"/>
          <p:cNvSpPr txBox="1"/>
          <p:nvPr/>
        </p:nvSpPr>
        <p:spPr>
          <a:xfrm>
            <a:off x="548640" y="388620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5</a:t>
            </a:r>
            <a:endParaRPr sz="1400" b="0" i="0" u="none" strike="noStrike" cap="none">
              <a:solidFill>
                <a:schemeClr val="dk1"/>
              </a:solidFill>
              <a:latin typeface="Calibri"/>
              <a:ea typeface="Calibri"/>
              <a:cs typeface="Calibri"/>
              <a:sym typeface="Calibri"/>
            </a:endParaRPr>
          </a:p>
        </p:txBody>
      </p:sp>
      <p:sp>
        <p:nvSpPr>
          <p:cNvPr id="637" name="Google Shape;637;p34"/>
          <p:cNvSpPr txBox="1"/>
          <p:nvPr/>
        </p:nvSpPr>
        <p:spPr>
          <a:xfrm>
            <a:off x="1234440" y="3886200"/>
            <a:ext cx="74066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lt1"/>
              </a:buClr>
              <a:buSzPts val="1700"/>
              <a:buFont typeface="Calibri"/>
              <a:buNone/>
            </a:pPr>
            <a:r>
              <a:rPr lang="en-US" sz="1700" b="0" i="0" u="none" strike="noStrike" cap="none">
                <a:solidFill>
                  <a:schemeClr val="lt1"/>
                </a:solidFill>
                <a:latin typeface="Calibri"/>
                <a:ea typeface="Calibri"/>
                <a:cs typeface="Calibri"/>
                <a:sym typeface="Calibri"/>
              </a:rPr>
              <a:t>Human review stays, but starts from a draft, not a blank page</a:t>
            </a:r>
            <a:endParaRPr sz="1700" b="0" i="0" u="none" strike="noStrike" cap="none">
              <a:solidFill>
                <a:schemeClr val="dk1"/>
              </a:solidFill>
              <a:latin typeface="Calibri"/>
              <a:ea typeface="Calibri"/>
              <a:cs typeface="Calibri"/>
              <a:sym typeface="Calibri"/>
            </a:endParaRPr>
          </a:p>
        </p:txBody>
      </p:sp>
      <p:sp>
        <p:nvSpPr>
          <p:cNvPr id="638" name="Google Shape;638;p34"/>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3"/>
                </a:solidFill>
                <a:latin typeface="Calibri"/>
                <a:ea typeface="Calibri"/>
                <a:cs typeface="Calibri"/>
                <a:sym typeface="Calibri"/>
              </a:rPr>
              <a:t>28</a:t>
            </a:fld>
            <a:endParaRPr sz="900" b="0" i="0" u="none" strike="noStrike" cap="none">
              <a:solidFill>
                <a:schemeClr val="accent3"/>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4" name="Google Shape;644;p35"/>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lt1"/>
              </a:buClr>
              <a:buSzPts val="3000"/>
              <a:buFont typeface="Cambria"/>
              <a:buNone/>
            </a:pPr>
            <a:r>
              <a:rPr lang="en-US" sz="3000" b="1">
                <a:solidFill>
                  <a:schemeClr val="lt1"/>
                </a:solidFill>
                <a:latin typeface="Cambria"/>
                <a:ea typeface="Cambria"/>
                <a:cs typeface="Cambria"/>
                <a:sym typeface="Cambria"/>
              </a:rPr>
              <a:t>Questions?</a:t>
            </a:r>
            <a:endParaRPr sz="3000"/>
          </a:p>
        </p:txBody>
      </p:sp>
      <p:sp>
        <p:nvSpPr>
          <p:cNvPr id="645" name="Google Shape;645;p35"/>
          <p:cNvSpPr/>
          <p:nvPr/>
        </p:nvSpPr>
        <p:spPr>
          <a:xfrm>
            <a:off x="548640" y="1371600"/>
            <a:ext cx="640080" cy="64008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46" name="Google Shape;646;p35" descr="icon"/>
          <p:cNvPicPr preferRelativeResize="0"/>
          <p:nvPr/>
        </p:nvPicPr>
        <p:blipFill rotWithShape="1">
          <a:blip r:embed="rId3">
            <a:alphaModFix/>
          </a:blip>
          <a:srcRect/>
          <a:stretch/>
        </p:blipFill>
        <p:spPr>
          <a:xfrm>
            <a:off x="689458" y="1512418"/>
            <a:ext cx="358445" cy="358445"/>
          </a:xfrm>
          <a:prstGeom prst="rect">
            <a:avLst/>
          </a:prstGeom>
          <a:noFill/>
          <a:ln>
            <a:noFill/>
          </a:ln>
        </p:spPr>
      </p:pic>
      <p:sp>
        <p:nvSpPr>
          <p:cNvPr id="647" name="Google Shape;647;p35"/>
          <p:cNvSpPr txBox="1"/>
          <p:nvPr/>
        </p:nvSpPr>
        <p:spPr>
          <a:xfrm>
            <a:off x="1417320" y="1371600"/>
            <a:ext cx="685800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1"/>
              </a:buClr>
              <a:buSzPts val="1800"/>
              <a:buFont typeface="Calibri"/>
              <a:buNone/>
            </a:pPr>
            <a:r>
              <a:rPr lang="en-US" sz="1800" b="1" i="0" u="none" strike="noStrike" cap="none">
                <a:solidFill>
                  <a:schemeClr val="accent1"/>
                </a:solidFill>
                <a:latin typeface="Calibri"/>
                <a:ea typeface="Calibri"/>
                <a:cs typeface="Calibri"/>
                <a:sym typeface="Calibri"/>
              </a:rPr>
              <a:t>Full source code</a:t>
            </a:r>
            <a:endParaRPr sz="18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1"/>
              </a:buClr>
              <a:buSzPts val="1800"/>
              <a:buFont typeface="Courier New"/>
              <a:buNone/>
            </a:pPr>
            <a:r>
              <a:rPr lang="en-US" sz="1800" b="0" i="0" u="none" strike="noStrike" cap="none">
                <a:solidFill>
                  <a:schemeClr val="lt1"/>
                </a:solidFill>
                <a:latin typeface="Courier New"/>
                <a:ea typeface="Courier New"/>
                <a:cs typeface="Courier New"/>
                <a:sym typeface="Courier New"/>
              </a:rPr>
              <a:t>github.com/patrickjlong1/sas-llm-paper</a:t>
            </a:r>
            <a:endParaRPr sz="1800" b="0" i="0" u="none" strike="noStrike" cap="none">
              <a:solidFill>
                <a:schemeClr val="dk1"/>
              </a:solidFill>
              <a:latin typeface="Calibri"/>
              <a:ea typeface="Calibri"/>
              <a:cs typeface="Calibri"/>
              <a:sym typeface="Calibri"/>
            </a:endParaRPr>
          </a:p>
        </p:txBody>
      </p:sp>
      <p:sp>
        <p:nvSpPr>
          <p:cNvPr id="648" name="Google Shape;648;p35"/>
          <p:cNvSpPr/>
          <p:nvPr/>
        </p:nvSpPr>
        <p:spPr>
          <a:xfrm>
            <a:off x="548640" y="2514600"/>
            <a:ext cx="640080" cy="64008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49" name="Google Shape;649;p35" descr="icon"/>
          <p:cNvPicPr preferRelativeResize="0"/>
          <p:nvPr/>
        </p:nvPicPr>
        <p:blipFill rotWithShape="1">
          <a:blip r:embed="rId4">
            <a:alphaModFix/>
          </a:blip>
          <a:srcRect/>
          <a:stretch/>
        </p:blipFill>
        <p:spPr>
          <a:xfrm>
            <a:off x="689458" y="2655418"/>
            <a:ext cx="358445" cy="358445"/>
          </a:xfrm>
          <a:prstGeom prst="rect">
            <a:avLst/>
          </a:prstGeom>
          <a:noFill/>
          <a:ln>
            <a:noFill/>
          </a:ln>
        </p:spPr>
      </p:pic>
      <p:sp>
        <p:nvSpPr>
          <p:cNvPr id="650" name="Google Shape;650;p35"/>
          <p:cNvSpPr txBox="1"/>
          <p:nvPr/>
        </p:nvSpPr>
        <p:spPr>
          <a:xfrm>
            <a:off x="1417320" y="2514600"/>
            <a:ext cx="685800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lt1"/>
              </a:buClr>
              <a:buSzPts val="1600"/>
              <a:buFont typeface="Calibri"/>
              <a:buNone/>
            </a:pPr>
            <a:r>
              <a:rPr lang="en-US" sz="1600" b="1" i="0" u="none" strike="noStrike" cap="none">
                <a:solidFill>
                  <a:schemeClr val="lt1"/>
                </a:solidFill>
                <a:latin typeface="Calibri"/>
                <a:ea typeface="Calibri"/>
                <a:cs typeface="Calibri"/>
                <a:sym typeface="Calibri"/>
              </a:rPr>
              <a:t>Patrick Long</a:t>
            </a:r>
            <a:r>
              <a:rPr lang="en-US" sz="1600" b="0" i="0" u="none" strike="noStrike" cap="none">
                <a:solidFill>
                  <a:schemeClr val="lt1"/>
                </a:solidFill>
                <a:latin typeface="Calibri"/>
                <a:ea typeface="Calibri"/>
                <a:cs typeface="Calibri"/>
                <a:sym typeface="Calibri"/>
              </a:rPr>
              <a:t>   long.patrick@bls.gov</a:t>
            </a:r>
            <a:endParaRPr sz="16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1"/>
              </a:buClr>
              <a:buSzPts val="1600"/>
              <a:buFont typeface="Calibri"/>
              <a:buNone/>
            </a:pPr>
            <a:r>
              <a:rPr lang="en-US" sz="1600" b="1" i="0" u="none" strike="noStrike" cap="none">
                <a:solidFill>
                  <a:schemeClr val="lt1"/>
                </a:solidFill>
                <a:latin typeface="Calibri"/>
                <a:ea typeface="Calibri"/>
                <a:cs typeface="Calibri"/>
                <a:sym typeface="Calibri"/>
              </a:rPr>
              <a:t>Brandon Harris</a:t>
            </a:r>
            <a:r>
              <a:rPr lang="en-US" sz="1600" b="0" i="0" u="none" strike="noStrike" cap="none">
                <a:solidFill>
                  <a:schemeClr val="lt1"/>
                </a:solidFill>
                <a:latin typeface="Calibri"/>
                <a:ea typeface="Calibri"/>
                <a:cs typeface="Calibri"/>
                <a:sym typeface="Calibri"/>
              </a:rPr>
              <a:t>   harris.brandon@bls.gov</a:t>
            </a:r>
            <a:endParaRPr sz="1600" b="0" i="0" u="none" strike="noStrike" cap="none">
              <a:solidFill>
                <a:schemeClr val="dk1"/>
              </a:solidFill>
              <a:latin typeface="Calibri"/>
              <a:ea typeface="Calibri"/>
              <a:cs typeface="Calibri"/>
              <a:sym typeface="Calibri"/>
            </a:endParaRPr>
          </a:p>
        </p:txBody>
      </p:sp>
      <p:sp>
        <p:nvSpPr>
          <p:cNvPr id="651" name="Google Shape;651;p35"/>
          <p:cNvSpPr txBox="1"/>
          <p:nvPr/>
        </p:nvSpPr>
        <p:spPr>
          <a:xfrm>
            <a:off x="548640" y="3931920"/>
            <a:ext cx="813816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3"/>
              </a:buClr>
              <a:buSzPts val="1200"/>
              <a:buFont typeface="Calibri"/>
              <a:buNone/>
            </a:pPr>
            <a:r>
              <a:rPr lang="en-US" sz="1200" b="0" i="0" u="none" strike="noStrike" cap="none">
                <a:solidFill>
                  <a:schemeClr val="accent3"/>
                </a:solidFill>
                <a:latin typeface="Calibri"/>
                <a:ea typeface="Calibri"/>
                <a:cs typeface="Calibri"/>
                <a:sym typeface="Calibri"/>
              </a:rPr>
              <a:t>U.S. Bureau of Labor Statistics · Office of Employment and Unemployment Statistics</a:t>
            </a:r>
            <a:endParaRPr sz="1200" b="0" i="0" u="none" strike="noStrike" cap="none">
              <a:solidFill>
                <a:schemeClr val="dk1"/>
              </a:solidFill>
              <a:latin typeface="Calibri"/>
              <a:ea typeface="Calibri"/>
              <a:cs typeface="Calibri"/>
              <a:sym typeface="Calibri"/>
            </a:endParaRPr>
          </a:p>
        </p:txBody>
      </p:sp>
      <p:sp>
        <p:nvSpPr>
          <p:cNvPr id="652" name="Google Shape;652;p35"/>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3"/>
                </a:solidFill>
                <a:latin typeface="Calibri"/>
                <a:ea typeface="Calibri"/>
                <a:cs typeface="Calibri"/>
                <a:sym typeface="Calibri"/>
              </a:rPr>
              <a:t>29</a:t>
            </a:fld>
            <a:endParaRPr sz="900" b="0" i="0" u="none" strike="noStrike" cap="none">
              <a:solidFill>
                <a:schemeClr val="accent3"/>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8229600" cy="685800"/>
          </a:xfrm>
        </p:spPr>
        <p:txBody>
          <a:bodyPr/>
          <a:lstStyle/>
          <a:p>
            <a:r>
              <a:t>References</a:t>
            </a:r>
          </a:p>
        </p:txBody>
      </p:sp>
      <p:sp>
        <p:nvSpPr>
          <p:cNvPr id="3" name="TextBox 2"/>
          <p:cNvSpPr txBox="1"/>
          <p:nvPr/>
        </p:nvSpPr>
        <p:spPr>
          <a:xfrm>
            <a:off x="548640" y="1115568"/>
            <a:ext cx="3822191" cy="3328416"/>
          </a:xfrm>
          <a:prstGeom prst="rect">
            <a:avLst/>
          </a:prstGeom>
          <a:noFill/>
        </p:spPr>
        <p:txBody>
          <a:bodyPr wrap="square" lIns="0" tIns="0" rIns="36576" bIns="0" anchor="t">
            <a:noAutofit/>
          </a:bodyPr>
          <a:lstStyle/>
          <a:p>
            <a:pPr>
              <a:spcAft>
                <a:spcPts val="1000"/>
              </a:spcAft>
            </a:pPr>
            <a:r>
              <a:rPr sz="1400" b="0">
                <a:solidFill>
                  <a:schemeClr val="dk2"/>
                </a:solidFill>
                <a:latin typeface="Calibri"/>
              </a:rPr>
              <a:t>Ji, Z., Lee, N., </a:t>
            </a:r>
            <a:r>
              <a:rPr sz="1400" b="0" err="1">
                <a:solidFill>
                  <a:schemeClr val="dk2"/>
                </a:solidFill>
                <a:latin typeface="Calibri"/>
              </a:rPr>
              <a:t>Frieske</a:t>
            </a:r>
            <a:r>
              <a:rPr sz="1400" b="0">
                <a:solidFill>
                  <a:schemeClr val="dk2"/>
                </a:solidFill>
                <a:latin typeface="Calibri"/>
              </a:rPr>
              <a:t>, R., Yu, T., Su, D., Xu, Y., Ishii, E., Bang, Y. J., </a:t>
            </a:r>
            <a:r>
              <a:rPr sz="1400" b="0" err="1">
                <a:solidFill>
                  <a:schemeClr val="dk2"/>
                </a:solidFill>
                <a:latin typeface="Calibri"/>
              </a:rPr>
              <a:t>Madotto</a:t>
            </a:r>
            <a:r>
              <a:rPr sz="1400" b="0">
                <a:solidFill>
                  <a:schemeClr val="dk2"/>
                </a:solidFill>
                <a:latin typeface="Calibri"/>
              </a:rPr>
              <a:t>, A., &amp; Fung, P. (2023). Survey of Hallucination in Natural Language Generation. ACM Computing Surveys, 55(12). </a:t>
            </a:r>
            <a:r>
              <a:rPr lang="en-US">
                <a:solidFill>
                  <a:schemeClr val="dk2"/>
                </a:solidFill>
                <a:latin typeface="Calibri"/>
              </a:rPr>
              <a:t>    arXiv:2202.03629.</a:t>
            </a:r>
            <a:endParaRPr sz="1400" b="0">
              <a:solidFill>
                <a:schemeClr val="dk2"/>
              </a:solidFill>
              <a:latin typeface="Calibri"/>
            </a:endParaRPr>
          </a:p>
          <a:p>
            <a:pPr algn="l">
              <a:lnSpc>
                <a:spcPct val="100000"/>
              </a:lnSpc>
              <a:spcAft>
                <a:spcPts val="1000"/>
              </a:spcAft>
            </a:pPr>
            <a:r>
              <a:rPr sz="1400" b="0">
                <a:solidFill>
                  <a:schemeClr val="dk2"/>
                </a:solidFill>
                <a:latin typeface="Calibri"/>
              </a:rPr>
              <a:t>Hu, E. J., Shen, Y., Wallis, P., Allen-Zhu, Z., Li, Y., Wang, S., Wang, L., &amp; Chen, W. (2021). </a:t>
            </a:r>
            <a:r>
              <a:rPr sz="1400" b="0" err="1">
                <a:solidFill>
                  <a:schemeClr val="dk2"/>
                </a:solidFill>
                <a:latin typeface="Calibri"/>
              </a:rPr>
              <a:t>LoRA</a:t>
            </a:r>
            <a:r>
              <a:rPr sz="1400" b="0">
                <a:solidFill>
                  <a:schemeClr val="dk2"/>
                </a:solidFill>
                <a:latin typeface="Calibri"/>
              </a:rPr>
              <a:t>: Low-Rank Adaptation of Large Language Models. arXiv:2106.09685.</a:t>
            </a:r>
          </a:p>
          <a:p>
            <a:pPr algn="l">
              <a:lnSpc>
                <a:spcPct val="100000"/>
              </a:lnSpc>
              <a:spcAft>
                <a:spcPts val="1000"/>
              </a:spcAft>
            </a:pPr>
            <a:r>
              <a:rPr sz="1400" b="0">
                <a:solidFill>
                  <a:schemeClr val="dk2"/>
                </a:solidFill>
                <a:latin typeface="Calibri"/>
              </a:rPr>
              <a:t>Dettmers, T., Pagnoni, A., Holtzman, A., &amp; Zettlemoyer, L. (2023). </a:t>
            </a:r>
            <a:r>
              <a:rPr sz="1400" b="0" err="1">
                <a:solidFill>
                  <a:schemeClr val="dk2"/>
                </a:solidFill>
                <a:latin typeface="Calibri"/>
              </a:rPr>
              <a:t>QLoRA</a:t>
            </a:r>
            <a:r>
              <a:rPr sz="1400" b="0">
                <a:solidFill>
                  <a:schemeClr val="dk2"/>
                </a:solidFill>
                <a:latin typeface="Calibri"/>
              </a:rPr>
              <a:t>: Efficient Finetuning of Quantized LLMs. arXiv:2305.14314.</a:t>
            </a:r>
          </a:p>
        </p:txBody>
      </p:sp>
      <p:sp>
        <p:nvSpPr>
          <p:cNvPr id="4" name="TextBox 3"/>
          <p:cNvSpPr txBox="1"/>
          <p:nvPr/>
        </p:nvSpPr>
        <p:spPr>
          <a:xfrm>
            <a:off x="4709160" y="1115568"/>
            <a:ext cx="3886200" cy="3328416"/>
          </a:xfrm>
          <a:prstGeom prst="rect">
            <a:avLst/>
          </a:prstGeom>
          <a:noFill/>
        </p:spPr>
        <p:txBody>
          <a:bodyPr wrap="square" lIns="0" tIns="0" rIns="36576" bIns="0" anchor="t">
            <a:noAutofit/>
          </a:bodyPr>
          <a:lstStyle/>
          <a:p>
            <a:pPr algn="l">
              <a:lnSpc>
                <a:spcPct val="100000"/>
              </a:lnSpc>
              <a:spcAft>
                <a:spcPts val="1000"/>
              </a:spcAft>
            </a:pPr>
            <a:r>
              <a:rPr sz="1400" b="0">
                <a:solidFill>
                  <a:schemeClr val="dk2"/>
                </a:solidFill>
                <a:latin typeface="Calibri"/>
              </a:rPr>
              <a:t>He, UNKNOWN, et al. (2026). Unified Study of </a:t>
            </a:r>
            <a:r>
              <a:rPr sz="1400" b="0" err="1">
                <a:solidFill>
                  <a:schemeClr val="dk2"/>
                </a:solidFill>
                <a:latin typeface="Calibri"/>
              </a:rPr>
              <a:t>LoRA</a:t>
            </a:r>
            <a:r>
              <a:rPr sz="1400" b="0">
                <a:solidFill>
                  <a:schemeClr val="dk2"/>
                </a:solidFill>
                <a:latin typeface="Calibri"/>
              </a:rPr>
              <a:t> Variants: Four-Axis Taxonomy and </a:t>
            </a:r>
            <a:r>
              <a:rPr sz="1400" b="0" err="1">
                <a:solidFill>
                  <a:schemeClr val="dk2"/>
                </a:solidFill>
                <a:latin typeface="Calibri"/>
              </a:rPr>
              <a:t>LoRAFactory</a:t>
            </a:r>
            <a:r>
              <a:rPr sz="1400" b="0">
                <a:solidFill>
                  <a:schemeClr val="dk2"/>
                </a:solidFill>
                <a:latin typeface="Calibri"/>
              </a:rPr>
              <a:t> Codebase. arXiv:2601.22708.</a:t>
            </a:r>
            <a:endParaRPr lang="en-US" sz="1400" b="0">
              <a:solidFill>
                <a:schemeClr val="dk2"/>
              </a:solidFill>
              <a:latin typeface="Calibri"/>
            </a:endParaRPr>
          </a:p>
          <a:p>
            <a:pPr>
              <a:spcAft>
                <a:spcPts val="1000"/>
              </a:spcAft>
            </a:pPr>
            <a:r>
              <a:rPr sz="1400" b="0">
                <a:solidFill>
                  <a:schemeClr val="dk2"/>
                </a:solidFill>
                <a:latin typeface="Calibri"/>
              </a:rPr>
              <a:t>Hugging Face. (2026). PEFT v0.19.0 release notes. </a:t>
            </a:r>
            <a:r>
              <a:rPr lang="en-US">
                <a:solidFill>
                  <a:schemeClr val="dk2"/>
                </a:solidFill>
                <a:latin typeface="Calibri"/>
              </a:rPr>
              <a:t>Retrieved from UNKNOWN</a:t>
            </a:r>
            <a:endParaRPr sz="1400" b="0">
              <a:solidFill>
                <a:schemeClr val="dk2"/>
              </a:solidFill>
              <a:latin typeface="Calibri"/>
            </a:endParaRPr>
          </a:p>
          <a:p>
            <a:pPr algn="l">
              <a:lnSpc>
                <a:spcPct val="100000"/>
              </a:lnSpc>
              <a:spcAft>
                <a:spcPts val="1000"/>
              </a:spcAft>
            </a:pPr>
            <a:r>
              <a:rPr sz="1400" b="0">
                <a:solidFill>
                  <a:schemeClr val="dk2"/>
                </a:solidFill>
                <a:latin typeface="Calibri"/>
              </a:rPr>
              <a:t>Hugging Face. (2026). Beyond </a:t>
            </a:r>
            <a:r>
              <a:rPr sz="1400" b="0" err="1">
                <a:solidFill>
                  <a:schemeClr val="dk2"/>
                </a:solidFill>
                <a:latin typeface="Calibri"/>
              </a:rPr>
              <a:t>LoRA</a:t>
            </a:r>
            <a:r>
              <a:rPr sz="1400" b="0">
                <a:solidFill>
                  <a:schemeClr val="dk2"/>
                </a:solidFill>
                <a:latin typeface="Calibri"/>
              </a:rPr>
              <a:t>. Retrieved from UNKNOWN</a:t>
            </a:r>
          </a:p>
          <a:p>
            <a:pPr algn="l">
              <a:lnSpc>
                <a:spcPct val="100000"/>
              </a:lnSpc>
              <a:spcAft>
                <a:spcPts val="1000"/>
              </a:spcAft>
            </a:pPr>
            <a:r>
              <a:rPr sz="1400" b="0">
                <a:solidFill>
                  <a:schemeClr val="dk2"/>
                </a:solidFill>
                <a:latin typeface="Calibri"/>
              </a:rPr>
              <a:t>Hugging Face. (2026). PEFT v0.20.0 release notes. Retrieved from UNKNOWN</a:t>
            </a:r>
          </a:p>
        </p:txBody>
      </p:sp>
    </p:spTree>
  </p:cSld>
  <p:clrMapOvr>
    <a:masterClrMapping/>
  </p:clrMapOvr>
</p:sld>
</file>

<file path=ppt/theme/theme1.xml><?xml version="1.0" encoding="utf-8"?>
<a:theme xmlns:a="http://schemas.openxmlformats.org/drawingml/2006/main" name="Legacy Amber">
  <a:themeElements>
    <a:clrScheme name="Legacy Amber">
      <a:dk1>
        <a:srgbClr val="1B2A2F"/>
      </a:dk1>
      <a:lt1>
        <a:srgbClr val="FFFFFF"/>
      </a:lt1>
      <a:dk2>
        <a:srgbClr val="3E5A62"/>
      </a:dk2>
      <a:lt2>
        <a:srgbClr val="EEF3F2"/>
      </a:lt2>
      <a:accent1>
        <a:srgbClr val="E89B2E"/>
      </a:accent1>
      <a:accent2>
        <a:srgbClr val="2E7D7A"/>
      </a:accent2>
      <a:accent3>
        <a:srgbClr val="9AA5A8"/>
      </a:accent3>
      <a:accent4>
        <a:srgbClr val="C8553D"/>
      </a:accent4>
      <a:accent5>
        <a:srgbClr val="4E8A4C"/>
      </a:accent5>
      <a:accent6>
        <a:srgbClr val="5C6B73"/>
      </a:accent6>
      <a:hlink>
        <a:srgbClr val="2E7D7A"/>
      </a:hlink>
      <a:folHlink>
        <a:srgbClr val="5C6B7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8437</Words>
  <Application>Microsoft Office PowerPoint</Application>
  <PresentationFormat>On-screen Show (16:9)</PresentationFormat>
  <Paragraphs>665</Paragraphs>
  <Slides>30</Slides>
  <Notes>29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Cambria</vt:lpstr>
      <vt:lpstr>Courier New</vt:lpstr>
      <vt:lpstr>Legacy Amber</vt:lpstr>
      <vt:lpstr>Reviving Institutional Knowledge</vt:lpstr>
      <vt:lpstr>Code we run but no longer understand</vt:lpstr>
      <vt:lpstr>Roadmap</vt:lpstr>
      <vt:lpstr>Fluent is not the same as grounded</vt:lpstr>
      <vt:lpstr>Three artifacts, each with a fixed JSON schema</vt:lpstr>
      <vt:lpstr>One rule does most of the work</vt:lpstr>
      <vt:lpstr>Two ways to wire a model into SAS</vt:lpstr>
      <vt:lpstr>SAS stays the system of record</vt:lpstr>
      <vt:lpstr>Three configurations, one schema</vt:lpstr>
      <vt:lpstr>Config 1: zero-shot, plus a guardrail</vt:lpstr>
      <vt:lpstr>Deep dive: QLoRA</vt:lpstr>
      <vt:lpstr>LoRA: freeze W, learn a low-rank update</vt:lpstr>
      <vt:lpstr>What the “Q” adds</vt:lpstr>
      <vt:lpstr>Teaching the format: the training corpus</vt:lpstr>
      <vt:lpstr>Hyperparameters</vt:lpstr>
      <vt:lpstr>The fine-tune in a dozen lines</vt:lpstr>
      <vt:lpstr>Fine-tuning teaches shape, not knowledge</vt:lpstr>
      <vt:lpstr>Practical lessons</vt:lpstr>
      <vt:lpstr>Config 3: a frontier model, grounded</vt:lpstr>
      <vt:lpstr>DICTIONARY tables, not PROC CONTENTS</vt:lpstr>
      <vt:lpstr>Evaluation: 20 held-out synthetic programs</vt:lpstr>
      <vt:lpstr>Fine-tuning closes most of the gap</vt:lpstr>
      <vt:lpstr>The metric that decides: hallucination</vt:lpstr>
      <vt:lpstr>Reading the results</vt:lpstr>
      <vt:lpstr>Limitations</vt:lpstr>
      <vt:lpstr>The LoRA family keeps growing</vt:lpstr>
      <vt:lpstr>Worth exploring for SAS documentation</vt:lpstr>
      <vt:lpstr>Takeaways</vt:lpstr>
      <vt:lpstr>Questions?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Long, Patrick - BLS</dc:creator>
  <cp:lastModifiedBy>Long, Patrick - BLS</cp:lastModifiedBy>
  <cp:revision>5</cp:revision>
  <dcterms:modified xsi:type="dcterms:W3CDTF">2026-10-21T18:14:19Z</dcterms:modified>
</cp:coreProperties>
</file>